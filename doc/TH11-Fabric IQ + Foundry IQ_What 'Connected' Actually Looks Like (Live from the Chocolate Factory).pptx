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0FE23E-C76E-144A-903F-898FF6E5265D}" v="15" dt="2026-08-28T15:28:43.6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8"/>
    <p:restoredTop sz="94658"/>
  </p:normalViewPr>
  <p:slideViewPr>
    <p:cSldViewPr snapToGrid="0">
      <p:cViewPr varScale="1">
        <p:scale>
          <a:sx n="120" d="100"/>
          <a:sy n="120" d="100"/>
        </p:scale>
        <p:origin x="8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FFB27A-B6FB-4289-8080-A80AB9342F41}" type="datetimeFigureOut">
              <a:t>28/08/2026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E6D31C-DBBD-4C78-8020-B4A6FAD29A7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402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Hold on the splash while the room settles. The simulator is already streaming in a terminal on the second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Both speakers introduce themselves. Level 300: we assume Fabric and Foundry fluency. Most of this hour is a live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seed sentence for the whole talk. Say it once, plainly, then move on — Acts 1 to 3 each resolve one piece of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Three acts. Act 3 is roughly half the session and is mostly live demo — set that expectation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Act 1. Learning objective 1: Fabric's role in grounding AI with enterprise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Act 1 · Objective 1. State the shapes plainly; the audience has lived this. Land on the cross-domain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Act 1 · Objective 1. This is Microsoft's number, not ours — say so out loud. Gold caption marks every externally sourced slide in this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Act 1 · Objective 1. Point four is the thread back to Act 3: governance travelling with the data is what makes handing it to an agent tolerable.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Act 1 · Objective 1. Real deployed infrastructure, one terraform apply. The ontology box is deliberately greyed — that is Act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Act 1 · Objective 1. Agents query Gold only — this is why answers later are fast and consistent. Skippable slide if running long.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Act 2. Learning objective 2: Fabric IQ for context-aware data reasoning.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Act 2 · Objective 2. An LLM has it worse than a human here: no column-naming intuition, no tribal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Act 2 · Objective 2. Read the preview caveat out loud — this room designs around current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 2 · Objective 2. Supply Chain and ERP only ever reach Factory &amp; Quality — a real gap in the model, not a simplification. batch_material_usage is new: a junction table on the same shape as order_line, added during rehearsal to close the batch → material/supplier lot-traceability gap. It links Supply Chain to Factory &amp; Quality, not to ERP — the Supply-Chain-to-ERP gap still stands.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Act 2 · Problem. The ontology cannot see any of this — it is not in a table anywhere.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Act 2 · Solution. The split to remember: ontology = what exists and how it relates; knowledge base = what the rules 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Act 3. Learning objectives 3 and 4: orchestration in Foundry, and multi-agent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Act 3 · Objectives 3 and 4. Land the closing line and pause — it is the sentence people will write 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Act 3 · Objective 3. Point 2 is the one that matters: no routing logic was written by hand.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 3 · Objective 3. One agent, three tools. The agent picks per question and cites which one it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Act 3 · Objective 3. Real debugging, confirmed with two independent service-principal tokens before finding the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Act 3 · Objective 4. The strongest evidence in the talk: the second call's argument depends on the first call's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Act 3 · Objectives 1 and 3. Live readings are only meaningful against a threshold defined in a process document — that is where knowledge grounding and telemetry meet.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Act 3 · Demo beat. Switch to the terminal: the simulator has been streaming since before the talk started. Then: let's just ask it things.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Act 3. Last slide before the live demo. Tie each question back to unification or context as you go. Never ask pronoun-referencing questions cold.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Closing. Map what the room just watched back onto the four objectives, in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Closing. Present as engineering rigor. The decisive test in the portal's own chat panel is what rules out a config mistake.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Closing. This is the thesis of the talk. Say it slowly.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Closing. Say these plainly if asked; do not dodge. All are diagnosed, none are mysteries. End on the emerald block: one of these gaps was a real data gap and it is closed — batch_material_usage was diagnosed, built and redeployed during rehearsal. The verified/candidate/known-to-fail tally on the next slide has not been re-run against it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Closing. Every question in the bank is tagged by what actually happened when run live. The four failures have diagnosed reasons.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Closing. The most quotable summary of the talk — pause on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Closing. Public, MIT-licensed, no hardcoded subscription or tenant IDs. Then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Thank you. Questions. Both speakers stay on stage.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915"/>
            <a:ext cx="12192000" cy="6858000"/>
          </a:xfrm>
          <a:prstGeom prst="rect">
            <a:avLst/>
          </a:prstGeom>
          <a:gradFill rotWithShape="1">
            <a:gsLst>
              <a:gs pos="0">
                <a:srgbClr val="016251">
                  <a:alpha val="100000"/>
                </a:srgbClr>
              </a:gs>
              <a:gs pos="55000">
                <a:srgbClr val="013F34">
                  <a:alpha val="100000"/>
                </a:srgbClr>
              </a:gs>
              <a:gs pos="100000">
                <a:srgbClr val="002820">
                  <a:alpha val="100000"/>
                </a:srgbClr>
              </a:gs>
            </a:gsLst>
            <a:lin ang="8100000" scaled="0"/>
          </a:gradFill>
          <a:ln/>
        </p:spPr>
        <p:txBody>
          <a:bodyPr/>
          <a:lstStyle/>
          <a:p>
            <a:endParaRPr lang="en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476250"/>
          </a:xfrm>
          <a:prstGeom prst="rect">
            <a:avLst/>
          </a:prstGeom>
          <a:solidFill>
            <a:srgbClr val="BCA045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4" name="Text 2"/>
          <p:cNvSpPr/>
          <p:nvPr/>
        </p:nvSpPr>
        <p:spPr>
          <a:xfrm>
            <a:off x="-182880" y="0"/>
            <a:ext cx="1255776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>
                <a:solidFill>
                  <a:srgbClr val="013F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record or livestream this session</a:t>
            </a:r>
            <a:endParaRPr lang="en-US" sz="1200"/>
          </a:p>
        </p:txBody>
      </p:sp>
      <p:sp>
        <p:nvSpPr>
          <p:cNvPr id="5" name="Text 3"/>
          <p:cNvSpPr/>
          <p:nvPr/>
        </p:nvSpPr>
        <p:spPr>
          <a:xfrm>
            <a:off x="914400" y="1066800"/>
            <a:ext cx="1139952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b="1" kern="0" spc="86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FOUNDRY REAL-TIME INTELLIGENCE · LEVEL 300</a:t>
            </a:r>
            <a:endParaRPr lang="en-US" sz="1425"/>
          </a:p>
        </p:txBody>
      </p:sp>
      <p:sp>
        <p:nvSpPr>
          <p:cNvPr id="6" name="Text 4"/>
          <p:cNvSpPr/>
          <p:nvPr/>
        </p:nvSpPr>
        <p:spPr>
          <a:xfrm>
            <a:off x="914400" y="1443037"/>
            <a:ext cx="10674096" cy="1587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91103"/>
              </a:lnSpc>
            </a:pPr>
            <a:r>
              <a:rPr lang="en-US" sz="3500" b="1" kern="0" spc="-4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 IQ + FOUNDRY IQ: </a:t>
            </a:r>
            <a:br>
              <a:rPr lang="en-US" sz="3500" b="1" kern="0" spc="-4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3500" b="1" kern="0" spc="-4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'</a:t>
            </a:r>
            <a:r>
              <a:rPr lang="en-US" sz="3500" b="1" i="1" kern="0" spc="-4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</a:t>
            </a:r>
            <a:r>
              <a:rPr lang="en-US" sz="3500" b="1" kern="0" spc="-4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 ACTUALLY LOOKS LIKE ? </a:t>
            </a:r>
            <a:br>
              <a:rPr lang="en-US" sz="3500" b="1" kern="0" spc="-4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3500" b="1" kern="0" spc="-4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(LIVE FROM THE CHOCOLATE FACTORY) 🍫</a:t>
            </a:r>
          </a:p>
        </p:txBody>
      </p:sp>
      <p:sp>
        <p:nvSpPr>
          <p:cNvPr id="7" name="Text 5"/>
          <p:cNvSpPr/>
          <p:nvPr/>
        </p:nvSpPr>
        <p:spPr>
          <a:xfrm>
            <a:off x="914400" y="5258767"/>
            <a:ext cx="4011327" cy="39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897"/>
              </a:lnSpc>
              <a:buNone/>
            </a:pPr>
            <a:r>
              <a:rPr lang="en-US" sz="2550" b="1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CHRISTOPHE CRÉMON</a:t>
            </a:r>
            <a:endParaRPr lang="en-US" sz="2550"/>
          </a:p>
        </p:txBody>
      </p:sp>
      <p:sp>
        <p:nvSpPr>
          <p:cNvPr id="8" name="Text 6"/>
          <p:cNvSpPr/>
          <p:nvPr/>
        </p:nvSpPr>
        <p:spPr>
          <a:xfrm>
            <a:off x="914400" y="5691188"/>
            <a:ext cx="4011327" cy="502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kern="0" spc="36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Deployed Engineer</a:t>
            </a:r>
            <a:br>
              <a:rPr lang="en-US" sz="1200" kern="0" spc="36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200" kern="0" spc="36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ONEPOINT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5170661" y="5258767"/>
            <a:ext cx="2018638" cy="39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897"/>
              </a:lnSpc>
              <a:buNone/>
            </a:pPr>
            <a:r>
              <a:rPr lang="en-US" sz="2550" b="1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DIAN KANG</a:t>
            </a:r>
            <a:endParaRPr lang="en-US" sz="2550"/>
          </a:p>
        </p:txBody>
      </p:sp>
      <p:sp>
        <p:nvSpPr>
          <p:cNvPr id="10" name="Text 8"/>
          <p:cNvSpPr/>
          <p:nvPr/>
        </p:nvSpPr>
        <p:spPr>
          <a:xfrm>
            <a:off x="5170661" y="5691188"/>
            <a:ext cx="2018638" cy="502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kern="0" spc="36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AI Tech Lead</a:t>
            </a:r>
            <a:br>
              <a:rPr lang="en-US" sz="1200" kern="0" spc="36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200" kern="0" spc="36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ONEPOINT</a:t>
            </a:r>
            <a:endParaRPr lang="en-US" sz="1200"/>
          </a:p>
        </p:txBody>
      </p:sp>
      <p:sp>
        <p:nvSpPr>
          <p:cNvPr id="11" name="Text 9"/>
          <p:cNvSpPr/>
          <p:nvPr/>
        </p:nvSpPr>
        <p:spPr>
          <a:xfrm>
            <a:off x="8974336" y="5410200"/>
            <a:ext cx="2303264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32558"/>
              </a:lnSpc>
              <a:buNone/>
            </a:pPr>
            <a:r>
              <a:rPr lang="en-US" sz="1425" b="1" kern="0" spc="86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FABCON EUROPE 2026 BARCELONA, SPAIN</a:t>
            </a:r>
            <a:endParaRPr lang="en-US" sz="1425"/>
          </a:p>
        </p:txBody>
      </p:sp>
      <p:sp>
        <p:nvSpPr>
          <p:cNvPr id="12" name="Shape 10"/>
          <p:cNvSpPr/>
          <p:nvPr/>
        </p:nvSpPr>
        <p:spPr>
          <a:xfrm>
            <a:off x="0" y="6334125"/>
            <a:ext cx="2975595" cy="523875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" y="6407497"/>
            <a:ext cx="391344" cy="377130"/>
          </a:xfrm>
          <a:prstGeom prst="rect">
            <a:avLst/>
          </a:prstGeom>
        </p:spPr>
      </p:pic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44" y="6422529"/>
            <a:ext cx="652537" cy="346993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975595" y="6334125"/>
            <a:ext cx="757535" cy="523875"/>
          </a:xfrm>
          <a:prstGeom prst="rect">
            <a:avLst/>
          </a:prstGeom>
          <a:solidFill>
            <a:srgbClr val="017864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6" name="Text 12"/>
          <p:cNvSpPr/>
          <p:nvPr/>
        </p:nvSpPr>
        <p:spPr>
          <a:xfrm>
            <a:off x="3127995" y="6386066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</a:t>
            </a:r>
            <a:endParaRPr lang="en-US" sz="788"/>
          </a:p>
        </p:txBody>
      </p:sp>
      <p:sp>
        <p:nvSpPr>
          <p:cNvPr id="17" name="Text 13"/>
          <p:cNvSpPr/>
          <p:nvPr/>
        </p:nvSpPr>
        <p:spPr>
          <a:xfrm>
            <a:off x="3127995" y="6526039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</a:t>
            </a:r>
            <a:endParaRPr lang="en-US" sz="788"/>
          </a:p>
        </p:txBody>
      </p:sp>
      <p:sp>
        <p:nvSpPr>
          <p:cNvPr id="18" name="Text 14"/>
          <p:cNvSpPr/>
          <p:nvPr/>
        </p:nvSpPr>
        <p:spPr>
          <a:xfrm>
            <a:off x="3127995" y="6666012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ONA</a:t>
            </a:r>
            <a:endParaRPr lang="en-US" sz="788"/>
          </a:p>
        </p:txBody>
      </p:sp>
      <p:sp>
        <p:nvSpPr>
          <p:cNvPr id="19" name="Text 15"/>
          <p:cNvSpPr/>
          <p:nvPr/>
        </p:nvSpPr>
        <p:spPr>
          <a:xfrm>
            <a:off x="3461445" y="6406083"/>
            <a:ext cx="195486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3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788"/>
          </a:p>
        </p:txBody>
      </p:sp>
      <p:sp>
        <p:nvSpPr>
          <p:cNvPr id="20" name="Shape 16"/>
          <p:cNvSpPr/>
          <p:nvPr/>
        </p:nvSpPr>
        <p:spPr>
          <a:xfrm>
            <a:off x="3461445" y="6562725"/>
            <a:ext cx="104775" cy="66675"/>
          </a:xfrm>
          <a:prstGeom prst="rect">
            <a:avLst/>
          </a:prstGeom>
          <a:gradFill rotWithShape="1">
            <a:gsLst>
              <a:gs pos="25000">
                <a:srgbClr val="BCA045">
                  <a:alpha val="100000"/>
                </a:srgbClr>
              </a:gs>
              <a:gs pos="25000">
                <a:srgbClr val="017864">
                  <a:alpha val="100000"/>
                </a:srgbClr>
              </a:gs>
            </a:gsLst>
            <a:lin ang="18900000" scaled="0"/>
          </a:gradFill>
          <a:ln/>
        </p:spPr>
        <p:txBody>
          <a:bodyPr/>
          <a:lstStyle/>
          <a:p>
            <a:endParaRPr lang="en-FR"/>
          </a:p>
        </p:txBody>
      </p:sp>
      <p:sp>
        <p:nvSpPr>
          <p:cNvPr id="21" name="Text 17"/>
          <p:cNvSpPr/>
          <p:nvPr/>
        </p:nvSpPr>
        <p:spPr>
          <a:xfrm>
            <a:off x="3461445" y="6646069"/>
            <a:ext cx="195486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3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788"/>
          </a:p>
        </p:txBody>
      </p:sp>
      <p:sp>
        <p:nvSpPr>
          <p:cNvPr id="22" name="Shape 18"/>
          <p:cNvSpPr/>
          <p:nvPr/>
        </p:nvSpPr>
        <p:spPr>
          <a:xfrm>
            <a:off x="3733130" y="6334125"/>
            <a:ext cx="324743" cy="523875"/>
          </a:xfrm>
          <a:prstGeom prst="rect">
            <a:avLst/>
          </a:prstGeom>
          <a:gradFill rotWithShape="1">
            <a:gsLst>
              <a:gs pos="25000">
                <a:srgbClr val="017864">
                  <a:alpha val="100000"/>
                </a:srgbClr>
              </a:gs>
              <a:gs pos="25000">
                <a:srgbClr val="013F34">
                  <a:alpha val="100000"/>
                </a:srgbClr>
              </a:gs>
            </a:gsLst>
            <a:lin ang="18900000" scaled="0"/>
          </a:gradFill>
          <a:ln/>
        </p:spPr>
        <p:txBody>
          <a:bodyPr/>
          <a:lstStyle/>
          <a:p>
            <a:endParaRPr lang="en-FR"/>
          </a:p>
        </p:txBody>
      </p:sp>
      <p:sp>
        <p:nvSpPr>
          <p:cNvPr id="23" name="Shape 19"/>
          <p:cNvSpPr/>
          <p:nvPr/>
        </p:nvSpPr>
        <p:spPr>
          <a:xfrm>
            <a:off x="4057873" y="6334125"/>
            <a:ext cx="8134127" cy="523875"/>
          </a:xfrm>
          <a:prstGeom prst="rect">
            <a:avLst/>
          </a:prstGeom>
          <a:solidFill>
            <a:srgbClr val="013F34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24" name="Text 20"/>
          <p:cNvSpPr/>
          <p:nvPr/>
        </p:nvSpPr>
        <p:spPr>
          <a:xfrm>
            <a:off x="7262515" y="6488906"/>
            <a:ext cx="80010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07143"/>
              </a:lnSpc>
              <a:buNone/>
            </a:pPr>
            <a:r>
              <a:rPr lang="en-US" sz="675" kern="0" spc="41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THE CONVERSATION</a:t>
            </a:r>
            <a:endParaRPr lang="en-US" sz="675"/>
          </a:p>
        </p:txBody>
      </p:sp>
      <p:sp>
        <p:nvSpPr>
          <p:cNvPr id="25" name="Text 21"/>
          <p:cNvSpPr/>
          <p:nvPr/>
        </p:nvSpPr>
        <p:spPr>
          <a:xfrm>
            <a:off x="8310265" y="6496050"/>
            <a:ext cx="187301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08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#FABCONEUROPE</a:t>
            </a:r>
            <a:endParaRPr lang="en-US" sz="1350"/>
          </a:p>
        </p:txBody>
      </p:sp>
      <p:sp>
        <p:nvSpPr>
          <p:cNvPr id="26" name="Text 22"/>
          <p:cNvSpPr/>
          <p:nvPr/>
        </p:nvSpPr>
        <p:spPr>
          <a:xfrm>
            <a:off x="10260657" y="6496050"/>
            <a:ext cx="189397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08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#SQLCONEUROPE</a:t>
            </a:r>
            <a:endParaRPr lang="en-US" sz="1350"/>
          </a:p>
        </p:txBody>
      </p:sp>
      <p:pic>
        <p:nvPicPr>
          <p:cNvPr id="27" name="Picture 26" descr="Dian Kang">
            <a:extLst>
              <a:ext uri="{FF2B5EF4-FFF2-40B4-BE49-F238E27FC236}">
                <a16:creationId xmlns:a16="http://schemas.microsoft.com/office/drawing/2014/main" id="{5BD12F87-E88E-4634-70B8-F52F89B36A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0661" y="3287279"/>
            <a:ext cx="1800000" cy="1800000"/>
          </a:xfrm>
          <a:prstGeom prst="rect">
            <a:avLst/>
          </a:prstGeom>
        </p:spPr>
      </p:pic>
      <p:pic>
        <p:nvPicPr>
          <p:cNvPr id="28" name="Picture 27" descr="Christophe Crémon">
            <a:extLst>
              <a:ext uri="{FF2B5EF4-FFF2-40B4-BE49-F238E27FC236}">
                <a16:creationId xmlns:a16="http://schemas.microsoft.com/office/drawing/2014/main" id="{7B3FB4B9-C1EC-28DE-1D8A-D385762FF97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640"/>
          <a:stretch>
            <a:fillRect/>
          </a:stretch>
        </p:blipFill>
        <p:spPr>
          <a:xfrm>
            <a:off x="946212" y="3287279"/>
            <a:ext cx="1770481" cy="180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39820" y="247650"/>
            <a:ext cx="3121558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72">
                <a:solidFill>
                  <a:srgbClr val="4B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RECORD OR LIVESTREAM</a:t>
            </a:r>
            <a:endParaRPr lang="en-US" sz="12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838200" cy="6858000"/>
          </a:xfrm>
          <a:prstGeom prst="rect">
            <a:avLst/>
          </a:prstGeom>
          <a:gradFill rotWithShape="1">
            <a:gsLst>
              <a:gs pos="25000">
                <a:srgbClr val="017864">
                  <a:alpha val="100000"/>
                </a:srgbClr>
              </a:gs>
              <a:gs pos="25000">
                <a:srgbClr val="CFE9E1">
                  <a:alpha val="100000"/>
                </a:srgbClr>
              </a:gs>
            </a:gsLst>
            <a:lin ang="18900000" scaled="0"/>
          </a:gradFill>
          <a:ln/>
        </p:spPr>
        <p:txBody>
          <a:bodyPr/>
          <a:lstStyle/>
          <a:p>
            <a:endParaRPr lang="en-FR"/>
          </a:p>
        </p:txBody>
      </p:sp>
      <p:sp>
        <p:nvSpPr>
          <p:cNvPr id="4" name="Text 2"/>
          <p:cNvSpPr/>
          <p:nvPr/>
        </p:nvSpPr>
        <p:spPr>
          <a:xfrm>
            <a:off x="1752600" y="1782589"/>
            <a:ext cx="1047750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b="1" kern="0" spc="86">
                <a:solidFill>
                  <a:srgbClr val="017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PROBLEM, IN ONE SENTENCE</a:t>
            </a:r>
            <a:endParaRPr lang="en-US" sz="1425"/>
          </a:p>
        </p:txBody>
      </p:sp>
      <p:sp>
        <p:nvSpPr>
          <p:cNvPr id="5" name="Text 3"/>
          <p:cNvSpPr/>
          <p:nvPr/>
        </p:nvSpPr>
        <p:spPr>
          <a:xfrm>
            <a:off x="1752600" y="2330276"/>
            <a:ext cx="9810750" cy="186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348"/>
              </a:lnSpc>
              <a:buNone/>
            </a:pPr>
            <a:r>
              <a:rPr lang="en-US" sz="3000" b="1" kern="0" spc="-3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chocolate factory produces a constant stream of sensor and quality telemetry from the production line, and a constant stream of orders, stock movements and invoices in the ERP.</a:t>
            </a:r>
            <a:endParaRPr lang="en-US" sz="3000"/>
          </a:p>
        </p:txBody>
      </p:sp>
      <p:sp>
        <p:nvSpPr>
          <p:cNvPr id="6" name="Text 4"/>
          <p:cNvSpPr/>
          <p:nvPr/>
        </p:nvSpPr>
        <p:spPr>
          <a:xfrm>
            <a:off x="1752600" y="4501976"/>
            <a:ext cx="10477500" cy="449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6757"/>
              </a:lnSpc>
              <a:buNone/>
            </a:pPr>
            <a:r>
              <a:rPr lang="en-US" sz="2400">
                <a:solidFill>
                  <a:srgbClr val="4B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those two worlds don't talk to each other.</a:t>
            </a:r>
            <a:endParaRPr lang="en-US" sz="2400"/>
          </a:p>
        </p:txBody>
      </p:sp>
      <p:sp>
        <p:nvSpPr>
          <p:cNvPr id="7" name="Shape 5"/>
          <p:cNvSpPr/>
          <p:nvPr/>
        </p:nvSpPr>
        <p:spPr>
          <a:xfrm>
            <a:off x="0" y="6334125"/>
            <a:ext cx="2975595" cy="523875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" y="6407497"/>
            <a:ext cx="391344" cy="377130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44" y="6422529"/>
            <a:ext cx="652537" cy="346993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975595" y="6334125"/>
            <a:ext cx="757535" cy="523875"/>
          </a:xfrm>
          <a:prstGeom prst="rect">
            <a:avLst/>
          </a:prstGeom>
          <a:solidFill>
            <a:srgbClr val="017864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1" name="Text 7"/>
          <p:cNvSpPr/>
          <p:nvPr/>
        </p:nvSpPr>
        <p:spPr>
          <a:xfrm>
            <a:off x="3127995" y="6386066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</a:t>
            </a:r>
            <a:endParaRPr lang="en-US" sz="788"/>
          </a:p>
        </p:txBody>
      </p:sp>
      <p:sp>
        <p:nvSpPr>
          <p:cNvPr id="12" name="Text 8"/>
          <p:cNvSpPr/>
          <p:nvPr/>
        </p:nvSpPr>
        <p:spPr>
          <a:xfrm>
            <a:off x="3127995" y="6526039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</a:t>
            </a:r>
            <a:endParaRPr lang="en-US" sz="788"/>
          </a:p>
        </p:txBody>
      </p:sp>
      <p:sp>
        <p:nvSpPr>
          <p:cNvPr id="13" name="Text 9"/>
          <p:cNvSpPr/>
          <p:nvPr/>
        </p:nvSpPr>
        <p:spPr>
          <a:xfrm>
            <a:off x="3127995" y="6666012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ONA</a:t>
            </a:r>
            <a:endParaRPr lang="en-US" sz="788"/>
          </a:p>
        </p:txBody>
      </p:sp>
      <p:sp>
        <p:nvSpPr>
          <p:cNvPr id="14" name="Text 10"/>
          <p:cNvSpPr/>
          <p:nvPr/>
        </p:nvSpPr>
        <p:spPr>
          <a:xfrm>
            <a:off x="3461445" y="6406083"/>
            <a:ext cx="195486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3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788"/>
          </a:p>
        </p:txBody>
      </p:sp>
      <p:sp>
        <p:nvSpPr>
          <p:cNvPr id="15" name="Shape 11"/>
          <p:cNvSpPr/>
          <p:nvPr/>
        </p:nvSpPr>
        <p:spPr>
          <a:xfrm>
            <a:off x="3461445" y="6562725"/>
            <a:ext cx="104775" cy="66675"/>
          </a:xfrm>
          <a:prstGeom prst="rect">
            <a:avLst/>
          </a:prstGeom>
          <a:gradFill rotWithShape="1">
            <a:gsLst>
              <a:gs pos="25000">
                <a:srgbClr val="BCA045">
                  <a:alpha val="100000"/>
                </a:srgbClr>
              </a:gs>
              <a:gs pos="25000">
                <a:srgbClr val="017864">
                  <a:alpha val="100000"/>
                </a:srgbClr>
              </a:gs>
            </a:gsLst>
            <a:lin ang="18900000" scaled="0"/>
          </a:gradFill>
          <a:ln/>
        </p:spPr>
        <p:txBody>
          <a:bodyPr/>
          <a:lstStyle/>
          <a:p>
            <a:endParaRPr lang="en-FR"/>
          </a:p>
        </p:txBody>
      </p:sp>
      <p:sp>
        <p:nvSpPr>
          <p:cNvPr id="16" name="Text 12"/>
          <p:cNvSpPr/>
          <p:nvPr/>
        </p:nvSpPr>
        <p:spPr>
          <a:xfrm>
            <a:off x="3461445" y="6646069"/>
            <a:ext cx="195486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3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788"/>
          </a:p>
        </p:txBody>
      </p:sp>
      <p:sp>
        <p:nvSpPr>
          <p:cNvPr id="17" name="Shape 13"/>
          <p:cNvSpPr/>
          <p:nvPr/>
        </p:nvSpPr>
        <p:spPr>
          <a:xfrm>
            <a:off x="3733130" y="6334125"/>
            <a:ext cx="324743" cy="523875"/>
          </a:xfrm>
          <a:prstGeom prst="rect">
            <a:avLst/>
          </a:prstGeom>
          <a:gradFill rotWithShape="1">
            <a:gsLst>
              <a:gs pos="25000">
                <a:srgbClr val="017864">
                  <a:alpha val="100000"/>
                </a:srgbClr>
              </a:gs>
              <a:gs pos="25000">
                <a:srgbClr val="013F34">
                  <a:alpha val="100000"/>
                </a:srgbClr>
              </a:gs>
            </a:gsLst>
            <a:lin ang="18900000" scaled="0"/>
          </a:gradFill>
          <a:ln/>
        </p:spPr>
        <p:txBody>
          <a:bodyPr/>
          <a:lstStyle/>
          <a:p>
            <a:endParaRPr lang="en-FR"/>
          </a:p>
        </p:txBody>
      </p:sp>
      <p:sp>
        <p:nvSpPr>
          <p:cNvPr id="18" name="Shape 14"/>
          <p:cNvSpPr/>
          <p:nvPr/>
        </p:nvSpPr>
        <p:spPr>
          <a:xfrm>
            <a:off x="4057873" y="6334125"/>
            <a:ext cx="8134127" cy="523875"/>
          </a:xfrm>
          <a:prstGeom prst="rect">
            <a:avLst/>
          </a:prstGeom>
          <a:solidFill>
            <a:srgbClr val="013F34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5"/>
          <p:cNvSpPr/>
          <p:nvPr/>
        </p:nvSpPr>
        <p:spPr>
          <a:xfrm>
            <a:off x="7262515" y="6488906"/>
            <a:ext cx="80010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07143"/>
              </a:lnSpc>
              <a:buNone/>
            </a:pPr>
            <a:r>
              <a:rPr lang="en-US" sz="675" kern="0" spc="41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THE CONVERSATION</a:t>
            </a:r>
            <a:endParaRPr lang="en-US" sz="675"/>
          </a:p>
        </p:txBody>
      </p:sp>
      <p:sp>
        <p:nvSpPr>
          <p:cNvPr id="20" name="Text 16"/>
          <p:cNvSpPr/>
          <p:nvPr/>
        </p:nvSpPr>
        <p:spPr>
          <a:xfrm>
            <a:off x="8310265" y="6496050"/>
            <a:ext cx="187301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08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#FABCONEUROPE</a:t>
            </a:r>
            <a:endParaRPr lang="en-US" sz="1350"/>
          </a:p>
        </p:txBody>
      </p:sp>
      <p:sp>
        <p:nvSpPr>
          <p:cNvPr id="21" name="Text 17"/>
          <p:cNvSpPr/>
          <p:nvPr/>
        </p:nvSpPr>
        <p:spPr>
          <a:xfrm>
            <a:off x="10260657" y="6496050"/>
            <a:ext cx="189397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08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#SQLCONEUROPE</a:t>
            </a:r>
            <a:endParaRPr lang="en-US" sz="13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39820" y="247650"/>
            <a:ext cx="3121558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72">
                <a:solidFill>
                  <a:srgbClr val="4B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RECORD OR LIVESTREAM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914400" y="742950"/>
            <a:ext cx="11399520" cy="488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556"/>
              </a:lnSpc>
              <a:buNone/>
            </a:pPr>
            <a:r>
              <a:rPr lang="en-US" sz="3225" b="1" kern="0" spc="-32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3225"/>
          </a:p>
        </p:txBody>
      </p:sp>
      <p:sp>
        <p:nvSpPr>
          <p:cNvPr id="4" name="Shape 2"/>
          <p:cNvSpPr/>
          <p:nvPr/>
        </p:nvSpPr>
        <p:spPr>
          <a:xfrm>
            <a:off x="914400" y="1612553"/>
            <a:ext cx="3251150" cy="43405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5" name="Text 3"/>
          <p:cNvSpPr/>
          <p:nvPr/>
        </p:nvSpPr>
        <p:spPr>
          <a:xfrm>
            <a:off x="1181100" y="1917353"/>
            <a:ext cx="29895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b="1" kern="0" spc="86">
                <a:solidFill>
                  <a:srgbClr val="017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1 · 8 MIN</a:t>
            </a:r>
            <a:endParaRPr lang="en-US" sz="1425"/>
          </a:p>
        </p:txBody>
      </p:sp>
      <p:sp>
        <p:nvSpPr>
          <p:cNvPr id="6" name="Text 4"/>
          <p:cNvSpPr/>
          <p:nvPr/>
        </p:nvSpPr>
        <p:spPr>
          <a:xfrm>
            <a:off x="1181100" y="2274540"/>
            <a:ext cx="2799283" cy="73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9459"/>
              </a:lnSpc>
              <a:buNone/>
            </a:pPr>
            <a:r>
              <a:rPr lang="en-US" sz="2400" b="1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Unification Challenge</a:t>
            </a:r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1181100" y="3127921"/>
            <a:ext cx="2799283" cy="96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818"/>
              </a:lnSpc>
              <a:buNone/>
            </a:pPr>
            <a:r>
              <a:rPr lang="en-US" sz="1800">
                <a:solidFill>
                  <a:srgbClr val="4B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data, transactional data, and how Fabric puts them in one lake.</a:t>
            </a:r>
            <a:endParaRPr lang="en-US" sz="1800"/>
          </a:p>
        </p:txBody>
      </p:sp>
      <p:sp>
        <p:nvSpPr>
          <p:cNvPr id="8" name="Shape 6"/>
          <p:cNvSpPr/>
          <p:nvPr/>
        </p:nvSpPr>
        <p:spPr>
          <a:xfrm>
            <a:off x="4470350" y="1612553"/>
            <a:ext cx="3251225" cy="43405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9" name="Text 7"/>
          <p:cNvSpPr/>
          <p:nvPr/>
        </p:nvSpPr>
        <p:spPr>
          <a:xfrm>
            <a:off x="4737050" y="1917353"/>
            <a:ext cx="2989607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b="1" kern="0" spc="86">
                <a:solidFill>
                  <a:srgbClr val="017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2 · 10 MIN</a:t>
            </a:r>
            <a:endParaRPr lang="en-US" sz="1425"/>
          </a:p>
        </p:txBody>
      </p:sp>
      <p:sp>
        <p:nvSpPr>
          <p:cNvPr id="10" name="Text 8"/>
          <p:cNvSpPr/>
          <p:nvPr/>
        </p:nvSpPr>
        <p:spPr>
          <a:xfrm>
            <a:off x="4737050" y="2274540"/>
            <a:ext cx="2799360" cy="73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9459"/>
              </a:lnSpc>
              <a:buNone/>
            </a:pPr>
            <a:r>
              <a:rPr lang="en-US" sz="2400" b="1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Context Challenge</a:t>
            </a:r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4737050" y="3127921"/>
            <a:ext cx="2799360" cy="96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818"/>
              </a:lnSpc>
              <a:buNone/>
            </a:pPr>
            <a:r>
              <a:rPr lang="en-US" sz="1800">
                <a:solidFill>
                  <a:srgbClr val="4B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ontology as a semantic layer, and where the written rules live.</a:t>
            </a:r>
            <a:endParaRPr lang="en-US" sz="1800"/>
          </a:p>
        </p:txBody>
      </p:sp>
      <p:sp>
        <p:nvSpPr>
          <p:cNvPr id="12" name="Shape 10"/>
          <p:cNvSpPr/>
          <p:nvPr/>
        </p:nvSpPr>
        <p:spPr>
          <a:xfrm>
            <a:off x="8026375" y="1612553"/>
            <a:ext cx="3251225" cy="4340572"/>
          </a:xfrm>
          <a:prstGeom prst="rect">
            <a:avLst/>
          </a:prstGeom>
          <a:solidFill>
            <a:srgbClr val="013F34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3" name="Text 11"/>
          <p:cNvSpPr/>
          <p:nvPr/>
        </p:nvSpPr>
        <p:spPr>
          <a:xfrm>
            <a:off x="8293075" y="1917353"/>
            <a:ext cx="2989607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b="1" kern="0" spc="86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3 · 30 MIN</a:t>
            </a:r>
            <a:endParaRPr lang="en-US" sz="1425"/>
          </a:p>
        </p:txBody>
      </p:sp>
      <p:sp>
        <p:nvSpPr>
          <p:cNvPr id="14" name="Text 12"/>
          <p:cNvSpPr/>
          <p:nvPr/>
        </p:nvSpPr>
        <p:spPr>
          <a:xfrm>
            <a:off x="8293075" y="2274540"/>
            <a:ext cx="2989607" cy="388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9459"/>
              </a:lnSpc>
              <a:buNone/>
            </a:pPr>
            <a:r>
              <a:rPr lang="en-US" sz="2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Putting It Together</a:t>
            </a:r>
            <a:endParaRPr lang="en-US" sz="2400"/>
          </a:p>
        </p:txBody>
      </p:sp>
      <p:sp>
        <p:nvSpPr>
          <p:cNvPr id="15" name="Text 13"/>
          <p:cNvSpPr/>
          <p:nvPr/>
        </p:nvSpPr>
        <p:spPr>
          <a:xfrm>
            <a:off x="8293075" y="2777430"/>
            <a:ext cx="2799360" cy="96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818"/>
              </a:lnSpc>
              <a:buNone/>
            </a:pPr>
            <a:r>
              <a:rPr lang="en-US" sz="180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agent, three tools, four live factories. Mostly live demo.</a:t>
            </a:r>
            <a:endParaRPr lang="en-US" sz="1800"/>
          </a:p>
        </p:txBody>
      </p:sp>
      <p:sp>
        <p:nvSpPr>
          <p:cNvPr id="16" name="Shape 14"/>
          <p:cNvSpPr/>
          <p:nvPr/>
        </p:nvSpPr>
        <p:spPr>
          <a:xfrm>
            <a:off x="0" y="6334125"/>
            <a:ext cx="2975595" cy="523875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" y="6407497"/>
            <a:ext cx="391344" cy="377130"/>
          </a:xfrm>
          <a:prstGeom prst="rect">
            <a:avLst/>
          </a:prstGeom>
        </p:spPr>
      </p:pic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44" y="6422529"/>
            <a:ext cx="652537" cy="346993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2975595" y="6334125"/>
            <a:ext cx="757535" cy="523875"/>
          </a:xfrm>
          <a:prstGeom prst="rect">
            <a:avLst/>
          </a:prstGeom>
          <a:solidFill>
            <a:srgbClr val="017864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20" name="Text 16"/>
          <p:cNvSpPr/>
          <p:nvPr/>
        </p:nvSpPr>
        <p:spPr>
          <a:xfrm>
            <a:off x="3127995" y="6386066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</a:t>
            </a:r>
            <a:endParaRPr lang="en-US" sz="788"/>
          </a:p>
        </p:txBody>
      </p:sp>
      <p:sp>
        <p:nvSpPr>
          <p:cNvPr id="21" name="Text 17"/>
          <p:cNvSpPr/>
          <p:nvPr/>
        </p:nvSpPr>
        <p:spPr>
          <a:xfrm>
            <a:off x="3127995" y="6526039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</a:t>
            </a:r>
            <a:endParaRPr lang="en-US" sz="788"/>
          </a:p>
        </p:txBody>
      </p:sp>
      <p:sp>
        <p:nvSpPr>
          <p:cNvPr id="22" name="Text 18"/>
          <p:cNvSpPr/>
          <p:nvPr/>
        </p:nvSpPr>
        <p:spPr>
          <a:xfrm>
            <a:off x="3127995" y="6666012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ONA</a:t>
            </a:r>
            <a:endParaRPr lang="en-US" sz="788"/>
          </a:p>
        </p:txBody>
      </p:sp>
      <p:sp>
        <p:nvSpPr>
          <p:cNvPr id="23" name="Text 19"/>
          <p:cNvSpPr/>
          <p:nvPr/>
        </p:nvSpPr>
        <p:spPr>
          <a:xfrm>
            <a:off x="3461445" y="6406083"/>
            <a:ext cx="195486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3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788"/>
          </a:p>
        </p:txBody>
      </p:sp>
      <p:sp>
        <p:nvSpPr>
          <p:cNvPr id="24" name="Shape 20"/>
          <p:cNvSpPr/>
          <p:nvPr/>
        </p:nvSpPr>
        <p:spPr>
          <a:xfrm>
            <a:off x="3461445" y="6562725"/>
            <a:ext cx="104775" cy="66675"/>
          </a:xfrm>
          <a:prstGeom prst="rect">
            <a:avLst/>
          </a:prstGeom>
          <a:gradFill rotWithShape="1">
            <a:gsLst>
              <a:gs pos="25000">
                <a:srgbClr val="BCA045">
                  <a:alpha val="100000"/>
                </a:srgbClr>
              </a:gs>
              <a:gs pos="25000">
                <a:srgbClr val="017864">
                  <a:alpha val="100000"/>
                </a:srgbClr>
              </a:gs>
            </a:gsLst>
            <a:lin ang="18900000" scaled="0"/>
          </a:gradFill>
          <a:ln/>
        </p:spPr>
        <p:txBody>
          <a:bodyPr/>
          <a:lstStyle/>
          <a:p>
            <a:endParaRPr lang="en-FR"/>
          </a:p>
        </p:txBody>
      </p:sp>
      <p:sp>
        <p:nvSpPr>
          <p:cNvPr id="25" name="Text 21"/>
          <p:cNvSpPr/>
          <p:nvPr/>
        </p:nvSpPr>
        <p:spPr>
          <a:xfrm>
            <a:off x="3461445" y="6646069"/>
            <a:ext cx="195486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3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788"/>
          </a:p>
        </p:txBody>
      </p:sp>
      <p:sp>
        <p:nvSpPr>
          <p:cNvPr id="26" name="Shape 22"/>
          <p:cNvSpPr/>
          <p:nvPr/>
        </p:nvSpPr>
        <p:spPr>
          <a:xfrm>
            <a:off x="3733130" y="6334125"/>
            <a:ext cx="324743" cy="523875"/>
          </a:xfrm>
          <a:prstGeom prst="rect">
            <a:avLst/>
          </a:prstGeom>
          <a:gradFill rotWithShape="1">
            <a:gsLst>
              <a:gs pos="25000">
                <a:srgbClr val="017864">
                  <a:alpha val="100000"/>
                </a:srgbClr>
              </a:gs>
              <a:gs pos="25000">
                <a:srgbClr val="013F34">
                  <a:alpha val="100000"/>
                </a:srgbClr>
              </a:gs>
            </a:gsLst>
            <a:lin ang="18900000" scaled="0"/>
          </a:gradFill>
          <a:ln/>
        </p:spPr>
        <p:txBody>
          <a:bodyPr/>
          <a:lstStyle/>
          <a:p>
            <a:endParaRPr lang="en-FR"/>
          </a:p>
        </p:txBody>
      </p:sp>
      <p:sp>
        <p:nvSpPr>
          <p:cNvPr id="27" name="Shape 23"/>
          <p:cNvSpPr/>
          <p:nvPr/>
        </p:nvSpPr>
        <p:spPr>
          <a:xfrm>
            <a:off x="4057873" y="6334125"/>
            <a:ext cx="8134127" cy="523875"/>
          </a:xfrm>
          <a:prstGeom prst="rect">
            <a:avLst/>
          </a:prstGeom>
          <a:solidFill>
            <a:srgbClr val="013F34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28" name="Text 24"/>
          <p:cNvSpPr/>
          <p:nvPr/>
        </p:nvSpPr>
        <p:spPr>
          <a:xfrm>
            <a:off x="7262515" y="6488906"/>
            <a:ext cx="80010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07143"/>
              </a:lnSpc>
              <a:buNone/>
            </a:pPr>
            <a:r>
              <a:rPr lang="en-US" sz="675" kern="0" spc="41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THE CONVERSATION</a:t>
            </a:r>
            <a:endParaRPr lang="en-US" sz="675"/>
          </a:p>
        </p:txBody>
      </p:sp>
      <p:sp>
        <p:nvSpPr>
          <p:cNvPr id="29" name="Text 25"/>
          <p:cNvSpPr/>
          <p:nvPr/>
        </p:nvSpPr>
        <p:spPr>
          <a:xfrm>
            <a:off x="8310265" y="6496050"/>
            <a:ext cx="187301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08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#FABCONEUROPE</a:t>
            </a:r>
            <a:endParaRPr lang="en-US" sz="1350"/>
          </a:p>
        </p:txBody>
      </p:sp>
      <p:sp>
        <p:nvSpPr>
          <p:cNvPr id="30" name="Text 26"/>
          <p:cNvSpPr/>
          <p:nvPr/>
        </p:nvSpPr>
        <p:spPr>
          <a:xfrm>
            <a:off x="10260657" y="6496050"/>
            <a:ext cx="189397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08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#SQLCONEUROPE</a:t>
            </a:r>
            <a:endParaRPr lang="en-US" sz="13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A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16251">
                  <a:alpha val="100000"/>
                </a:srgbClr>
              </a:gs>
              <a:gs pos="55000">
                <a:srgbClr val="013F34">
                  <a:alpha val="100000"/>
                </a:srgbClr>
              </a:gs>
              <a:gs pos="100000">
                <a:srgbClr val="002820">
                  <a:alpha val="100000"/>
                </a:srgbClr>
              </a:gs>
            </a:gsLst>
            <a:lin ang="8100000" scaled="0"/>
          </a:gradFill>
          <a:ln/>
        </p:spPr>
        <p:txBody>
          <a:bodyPr/>
          <a:lstStyle/>
          <a:p>
            <a:endParaRPr lang="en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838200" cy="6334125"/>
          </a:xfrm>
          <a:prstGeom prst="rect">
            <a:avLst/>
          </a:prstGeom>
          <a:gradFill rotWithShape="1">
            <a:gsLst>
              <a:gs pos="25000">
                <a:srgbClr val="017864">
                  <a:alpha val="100000"/>
                </a:srgbClr>
              </a:gs>
              <a:gs pos="25000">
                <a:srgbClr val="017864">
                  <a:alpha val="0"/>
                </a:srgbClr>
              </a:gs>
            </a:gsLst>
            <a:lin ang="18900000" scaled="0"/>
          </a:gradFill>
          <a:ln/>
        </p:spPr>
        <p:txBody>
          <a:bodyPr/>
          <a:lstStyle/>
          <a:p>
            <a:endParaRPr lang="en-FR"/>
          </a:p>
        </p:txBody>
      </p:sp>
      <p:sp>
        <p:nvSpPr>
          <p:cNvPr id="4" name="Text 2"/>
          <p:cNvSpPr/>
          <p:nvPr/>
        </p:nvSpPr>
        <p:spPr>
          <a:xfrm>
            <a:off x="1752600" y="2330276"/>
            <a:ext cx="1047750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b="1" kern="0" spc="86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01</a:t>
            </a:r>
            <a:endParaRPr lang="en-US" sz="1425"/>
          </a:p>
        </p:txBody>
      </p:sp>
      <p:sp>
        <p:nvSpPr>
          <p:cNvPr id="5" name="Text 3"/>
          <p:cNvSpPr/>
          <p:nvPr/>
        </p:nvSpPr>
        <p:spPr>
          <a:xfrm>
            <a:off x="1752600" y="2725564"/>
            <a:ext cx="10477500" cy="792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422"/>
              </a:lnSpc>
              <a:buNone/>
            </a:pPr>
            <a:r>
              <a:rPr lang="en-US" sz="5400" b="1" kern="0" spc="-54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Unification Challenge</a:t>
            </a:r>
            <a:endParaRPr lang="en-US" sz="5400"/>
          </a:p>
        </p:txBody>
      </p:sp>
      <p:sp>
        <p:nvSpPr>
          <p:cNvPr id="6" name="Shape 4"/>
          <p:cNvSpPr/>
          <p:nvPr/>
        </p:nvSpPr>
        <p:spPr>
          <a:xfrm>
            <a:off x="0" y="6334125"/>
            <a:ext cx="2975595" cy="523875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" y="6407497"/>
            <a:ext cx="391344" cy="377130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44" y="6422529"/>
            <a:ext cx="652537" cy="346993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975595" y="6334125"/>
            <a:ext cx="757535" cy="523875"/>
          </a:xfrm>
          <a:prstGeom prst="rect">
            <a:avLst/>
          </a:prstGeom>
          <a:solidFill>
            <a:srgbClr val="017864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0" name="Text 6"/>
          <p:cNvSpPr/>
          <p:nvPr/>
        </p:nvSpPr>
        <p:spPr>
          <a:xfrm>
            <a:off x="3127995" y="6386066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</a:t>
            </a:r>
            <a:endParaRPr lang="en-US" sz="788"/>
          </a:p>
        </p:txBody>
      </p:sp>
      <p:sp>
        <p:nvSpPr>
          <p:cNvPr id="11" name="Text 7"/>
          <p:cNvSpPr/>
          <p:nvPr/>
        </p:nvSpPr>
        <p:spPr>
          <a:xfrm>
            <a:off x="3127995" y="6526039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</a:t>
            </a:r>
            <a:endParaRPr lang="en-US" sz="788"/>
          </a:p>
        </p:txBody>
      </p:sp>
      <p:sp>
        <p:nvSpPr>
          <p:cNvPr id="12" name="Text 8"/>
          <p:cNvSpPr/>
          <p:nvPr/>
        </p:nvSpPr>
        <p:spPr>
          <a:xfrm>
            <a:off x="3127995" y="6666012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ONA</a:t>
            </a:r>
            <a:endParaRPr lang="en-US" sz="788"/>
          </a:p>
        </p:txBody>
      </p:sp>
      <p:sp>
        <p:nvSpPr>
          <p:cNvPr id="13" name="Text 9"/>
          <p:cNvSpPr/>
          <p:nvPr/>
        </p:nvSpPr>
        <p:spPr>
          <a:xfrm>
            <a:off x="3461445" y="6406083"/>
            <a:ext cx="195486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3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788"/>
          </a:p>
        </p:txBody>
      </p:sp>
      <p:sp>
        <p:nvSpPr>
          <p:cNvPr id="14" name="Shape 10"/>
          <p:cNvSpPr/>
          <p:nvPr/>
        </p:nvSpPr>
        <p:spPr>
          <a:xfrm>
            <a:off x="3461445" y="6562725"/>
            <a:ext cx="104775" cy="66675"/>
          </a:xfrm>
          <a:prstGeom prst="rect">
            <a:avLst/>
          </a:prstGeom>
          <a:gradFill rotWithShape="1">
            <a:gsLst>
              <a:gs pos="25000">
                <a:srgbClr val="BCA045">
                  <a:alpha val="100000"/>
                </a:srgbClr>
              </a:gs>
              <a:gs pos="25000">
                <a:srgbClr val="017864">
                  <a:alpha val="100000"/>
                </a:srgbClr>
              </a:gs>
            </a:gsLst>
            <a:lin ang="18900000" scaled="0"/>
          </a:gradFill>
          <a:ln/>
        </p:spPr>
        <p:txBody>
          <a:bodyPr/>
          <a:lstStyle/>
          <a:p>
            <a:endParaRPr lang="en-FR"/>
          </a:p>
        </p:txBody>
      </p:sp>
      <p:sp>
        <p:nvSpPr>
          <p:cNvPr id="15" name="Text 11"/>
          <p:cNvSpPr/>
          <p:nvPr/>
        </p:nvSpPr>
        <p:spPr>
          <a:xfrm>
            <a:off x="3461445" y="6646069"/>
            <a:ext cx="195486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3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788"/>
          </a:p>
        </p:txBody>
      </p:sp>
      <p:sp>
        <p:nvSpPr>
          <p:cNvPr id="16" name="Shape 12"/>
          <p:cNvSpPr/>
          <p:nvPr/>
        </p:nvSpPr>
        <p:spPr>
          <a:xfrm>
            <a:off x="3733130" y="6334125"/>
            <a:ext cx="324743" cy="523875"/>
          </a:xfrm>
          <a:prstGeom prst="rect">
            <a:avLst/>
          </a:prstGeom>
          <a:gradFill rotWithShape="1">
            <a:gsLst>
              <a:gs pos="25000">
                <a:srgbClr val="017864">
                  <a:alpha val="100000"/>
                </a:srgbClr>
              </a:gs>
              <a:gs pos="25000">
                <a:srgbClr val="013F34">
                  <a:alpha val="100000"/>
                </a:srgbClr>
              </a:gs>
            </a:gsLst>
            <a:lin ang="18900000" scaled="0"/>
          </a:gradFill>
          <a:ln/>
        </p:spPr>
        <p:txBody>
          <a:bodyPr/>
          <a:lstStyle/>
          <a:p>
            <a:endParaRPr lang="en-FR"/>
          </a:p>
        </p:txBody>
      </p:sp>
      <p:sp>
        <p:nvSpPr>
          <p:cNvPr id="17" name="Shape 13"/>
          <p:cNvSpPr/>
          <p:nvPr/>
        </p:nvSpPr>
        <p:spPr>
          <a:xfrm>
            <a:off x="4057873" y="6334125"/>
            <a:ext cx="8134127" cy="523875"/>
          </a:xfrm>
          <a:prstGeom prst="rect">
            <a:avLst/>
          </a:prstGeom>
          <a:solidFill>
            <a:srgbClr val="013F34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8" name="Text 14"/>
          <p:cNvSpPr/>
          <p:nvPr/>
        </p:nvSpPr>
        <p:spPr>
          <a:xfrm>
            <a:off x="7262515" y="6488906"/>
            <a:ext cx="80010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07143"/>
              </a:lnSpc>
              <a:buNone/>
            </a:pPr>
            <a:r>
              <a:rPr lang="en-US" sz="675" kern="0" spc="41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THE CONVERSATION</a:t>
            </a:r>
            <a:endParaRPr lang="en-US" sz="675"/>
          </a:p>
        </p:txBody>
      </p:sp>
      <p:sp>
        <p:nvSpPr>
          <p:cNvPr id="19" name="Text 15"/>
          <p:cNvSpPr/>
          <p:nvPr/>
        </p:nvSpPr>
        <p:spPr>
          <a:xfrm>
            <a:off x="8310265" y="6496050"/>
            <a:ext cx="187301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08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#FABCONEUROPE</a:t>
            </a:r>
            <a:endParaRPr lang="en-US" sz="1350"/>
          </a:p>
        </p:txBody>
      </p:sp>
      <p:sp>
        <p:nvSpPr>
          <p:cNvPr id="20" name="Text 16"/>
          <p:cNvSpPr/>
          <p:nvPr/>
        </p:nvSpPr>
        <p:spPr>
          <a:xfrm>
            <a:off x="10260657" y="6496050"/>
            <a:ext cx="189397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08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#SQLCONEUROPE</a:t>
            </a:r>
            <a:endParaRPr lang="en-US" sz="13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39820" y="247650"/>
            <a:ext cx="3121558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72">
                <a:solidFill>
                  <a:srgbClr val="4B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RECORD OR LIVESTREAM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914400" y="742950"/>
            <a:ext cx="1139952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b="1" kern="0" spc="86">
                <a:solidFill>
                  <a:srgbClr val="017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1 · PROBLEM</a:t>
            </a:r>
            <a:endParaRPr lang="en-US" sz="1425"/>
          </a:p>
        </p:txBody>
      </p:sp>
      <p:sp>
        <p:nvSpPr>
          <p:cNvPr id="4" name="Text 2"/>
          <p:cNvSpPr/>
          <p:nvPr/>
        </p:nvSpPr>
        <p:spPr>
          <a:xfrm>
            <a:off x="914400" y="1100138"/>
            <a:ext cx="11399520" cy="488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556"/>
              </a:lnSpc>
              <a:buNone/>
            </a:pPr>
            <a:r>
              <a:rPr lang="en-US" sz="3225" b="1" kern="0" spc="-32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data and transactional data</a:t>
            </a:r>
            <a:endParaRPr lang="en-US" sz="3225"/>
          </a:p>
        </p:txBody>
      </p:sp>
      <p:sp>
        <p:nvSpPr>
          <p:cNvPr id="5" name="Text 3"/>
          <p:cNvSpPr/>
          <p:nvPr/>
        </p:nvSpPr>
        <p:spPr>
          <a:xfrm>
            <a:off x="914400" y="1893540"/>
            <a:ext cx="540639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b="1" kern="0" spc="86">
                <a:solidFill>
                  <a:srgbClr val="017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DATA</a:t>
            </a:r>
            <a:endParaRPr lang="en-US" sz="1425"/>
          </a:p>
        </p:txBody>
      </p:sp>
      <p:sp>
        <p:nvSpPr>
          <p:cNvPr id="6" name="Text 4"/>
          <p:cNvSpPr/>
          <p:nvPr/>
        </p:nvSpPr>
        <p:spPr>
          <a:xfrm>
            <a:off x="914400" y="2231678"/>
            <a:ext cx="5062347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7692"/>
              </a:lnSpc>
              <a:buNone/>
            </a:pPr>
            <a:r>
              <a:rPr lang="en-US" sz="2100" b="1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High-volume, append-only, time-ordered</a:t>
            </a:r>
            <a:endParaRPr lang="en-US" sz="2100"/>
          </a:p>
        </p:txBody>
      </p:sp>
      <p:sp>
        <p:nvSpPr>
          <p:cNvPr id="7" name="Text 5"/>
          <p:cNvSpPr/>
          <p:nvPr/>
        </p:nvSpPr>
        <p:spPr>
          <a:xfrm>
            <a:off x="914400" y="3031778"/>
            <a:ext cx="5062347" cy="107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333"/>
              </a:lnSpc>
              <a:buNone/>
            </a:pPr>
            <a:r>
              <a:rPr lang="en-US" sz="1950">
                <a:solidFill>
                  <a:srgbClr val="4B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readings, quality checks, line-status changes. Produced by operational and IoT systems.</a:t>
            </a:r>
            <a:endParaRPr lang="en-US" sz="1950"/>
          </a:p>
        </p:txBody>
      </p:sp>
      <p:sp>
        <p:nvSpPr>
          <p:cNvPr id="8" name="Text 6"/>
          <p:cNvSpPr/>
          <p:nvPr/>
        </p:nvSpPr>
        <p:spPr>
          <a:xfrm>
            <a:off x="6362700" y="1893540"/>
            <a:ext cx="540639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b="1" kern="0" spc="86">
                <a:solidFill>
                  <a:srgbClr val="017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TRANSACTIONAL DATA</a:t>
            </a:r>
            <a:endParaRPr lang="en-US" sz="1425"/>
          </a:p>
        </p:txBody>
      </p:sp>
      <p:sp>
        <p:nvSpPr>
          <p:cNvPr id="9" name="Text 7"/>
          <p:cNvSpPr/>
          <p:nvPr/>
        </p:nvSpPr>
        <p:spPr>
          <a:xfrm>
            <a:off x="6362700" y="2231678"/>
            <a:ext cx="540639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7692"/>
              </a:lnSpc>
              <a:buNone/>
            </a:pPr>
            <a:r>
              <a:rPr lang="en-US" sz="2100" b="1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Low-volume, mutable, relational</a:t>
            </a:r>
            <a:endParaRPr lang="en-US" sz="2100"/>
          </a:p>
        </p:txBody>
      </p:sp>
      <p:sp>
        <p:nvSpPr>
          <p:cNvPr id="10" name="Text 8"/>
          <p:cNvSpPr/>
          <p:nvPr/>
        </p:nvSpPr>
        <p:spPr>
          <a:xfrm>
            <a:off x="6362700" y="2698403"/>
            <a:ext cx="5062347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333"/>
              </a:lnSpc>
              <a:buNone/>
            </a:pPr>
            <a:r>
              <a:rPr lang="en-US" sz="1950">
                <a:solidFill>
                  <a:srgbClr val="4B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Orders, stock movements, invoices. Produced by business systems.</a:t>
            </a:r>
            <a:endParaRPr lang="en-US" sz="1950"/>
          </a:p>
        </p:txBody>
      </p:sp>
      <p:sp>
        <p:nvSpPr>
          <p:cNvPr id="11" name="Shape 9"/>
          <p:cNvSpPr/>
          <p:nvPr/>
        </p:nvSpPr>
        <p:spPr>
          <a:xfrm>
            <a:off x="914400" y="4489252"/>
            <a:ext cx="10363200" cy="1463873"/>
          </a:xfrm>
          <a:prstGeom prst="rect">
            <a:avLst/>
          </a:prstGeom>
          <a:solidFill>
            <a:srgbClr val="013F34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2" name="Text 10"/>
          <p:cNvSpPr/>
          <p:nvPr/>
        </p:nvSpPr>
        <p:spPr>
          <a:xfrm>
            <a:off x="1181100" y="4736902"/>
            <a:ext cx="1081278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b="1" kern="0" spc="86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VOLUMES, LATENCIES, SHAPES, PLATFORMS AND OWNING TEAMS</a:t>
            </a:r>
            <a:endParaRPr lang="en-US" sz="1425"/>
          </a:p>
        </p:txBody>
      </p:sp>
      <p:sp>
        <p:nvSpPr>
          <p:cNvPr id="13" name="Text 11"/>
          <p:cNvSpPr/>
          <p:nvPr/>
        </p:nvSpPr>
        <p:spPr>
          <a:xfrm>
            <a:off x="1181100" y="5036939"/>
            <a:ext cx="10124694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"Is this batch's quality drop related to a late shipment of a raw material?" — the questions that matter span both.</a:t>
            </a:r>
            <a:endParaRPr lang="en-US" sz="1950"/>
          </a:p>
        </p:txBody>
      </p:sp>
      <p:sp>
        <p:nvSpPr>
          <p:cNvPr id="14" name="Shape 12"/>
          <p:cNvSpPr/>
          <p:nvPr/>
        </p:nvSpPr>
        <p:spPr>
          <a:xfrm>
            <a:off x="0" y="6334125"/>
            <a:ext cx="2975595" cy="523875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" y="6407497"/>
            <a:ext cx="391344" cy="377130"/>
          </a:xfrm>
          <a:prstGeom prst="rect">
            <a:avLst/>
          </a:prstGeom>
        </p:spPr>
      </p:pic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44" y="6422529"/>
            <a:ext cx="652537" cy="346993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2975595" y="6334125"/>
            <a:ext cx="757535" cy="523875"/>
          </a:xfrm>
          <a:prstGeom prst="rect">
            <a:avLst/>
          </a:prstGeom>
          <a:solidFill>
            <a:srgbClr val="017864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8" name="Text 14"/>
          <p:cNvSpPr/>
          <p:nvPr/>
        </p:nvSpPr>
        <p:spPr>
          <a:xfrm>
            <a:off x="3127995" y="6386066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</a:t>
            </a:r>
            <a:endParaRPr lang="en-US" sz="788"/>
          </a:p>
        </p:txBody>
      </p:sp>
      <p:sp>
        <p:nvSpPr>
          <p:cNvPr id="19" name="Text 15"/>
          <p:cNvSpPr/>
          <p:nvPr/>
        </p:nvSpPr>
        <p:spPr>
          <a:xfrm>
            <a:off x="3127995" y="6526039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</a:t>
            </a:r>
            <a:endParaRPr lang="en-US" sz="788"/>
          </a:p>
        </p:txBody>
      </p:sp>
      <p:sp>
        <p:nvSpPr>
          <p:cNvPr id="20" name="Text 16"/>
          <p:cNvSpPr/>
          <p:nvPr/>
        </p:nvSpPr>
        <p:spPr>
          <a:xfrm>
            <a:off x="3127995" y="6666012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ONA</a:t>
            </a:r>
            <a:endParaRPr lang="en-US" sz="788"/>
          </a:p>
        </p:txBody>
      </p:sp>
      <p:sp>
        <p:nvSpPr>
          <p:cNvPr id="21" name="Text 17"/>
          <p:cNvSpPr/>
          <p:nvPr/>
        </p:nvSpPr>
        <p:spPr>
          <a:xfrm>
            <a:off x="3461445" y="6406083"/>
            <a:ext cx="195486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3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788"/>
          </a:p>
        </p:txBody>
      </p:sp>
      <p:sp>
        <p:nvSpPr>
          <p:cNvPr id="22" name="Shape 18"/>
          <p:cNvSpPr/>
          <p:nvPr/>
        </p:nvSpPr>
        <p:spPr>
          <a:xfrm>
            <a:off x="3461445" y="6562725"/>
            <a:ext cx="104775" cy="66675"/>
          </a:xfrm>
          <a:prstGeom prst="rect">
            <a:avLst/>
          </a:prstGeom>
          <a:gradFill rotWithShape="1">
            <a:gsLst>
              <a:gs pos="25000">
                <a:srgbClr val="BCA045">
                  <a:alpha val="100000"/>
                </a:srgbClr>
              </a:gs>
              <a:gs pos="25000">
                <a:srgbClr val="017864">
                  <a:alpha val="100000"/>
                </a:srgbClr>
              </a:gs>
            </a:gsLst>
            <a:lin ang="18900000" scaled="0"/>
          </a:gradFill>
          <a:ln/>
        </p:spPr>
        <p:txBody>
          <a:bodyPr/>
          <a:lstStyle/>
          <a:p>
            <a:endParaRPr lang="en-FR"/>
          </a:p>
        </p:txBody>
      </p:sp>
      <p:sp>
        <p:nvSpPr>
          <p:cNvPr id="23" name="Text 19"/>
          <p:cNvSpPr/>
          <p:nvPr/>
        </p:nvSpPr>
        <p:spPr>
          <a:xfrm>
            <a:off x="3461445" y="6646069"/>
            <a:ext cx="195486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3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788"/>
          </a:p>
        </p:txBody>
      </p:sp>
      <p:sp>
        <p:nvSpPr>
          <p:cNvPr id="24" name="Shape 20"/>
          <p:cNvSpPr/>
          <p:nvPr/>
        </p:nvSpPr>
        <p:spPr>
          <a:xfrm>
            <a:off x="3733130" y="6334125"/>
            <a:ext cx="324743" cy="523875"/>
          </a:xfrm>
          <a:prstGeom prst="rect">
            <a:avLst/>
          </a:prstGeom>
          <a:gradFill rotWithShape="1">
            <a:gsLst>
              <a:gs pos="25000">
                <a:srgbClr val="017864">
                  <a:alpha val="100000"/>
                </a:srgbClr>
              </a:gs>
              <a:gs pos="25000">
                <a:srgbClr val="013F34">
                  <a:alpha val="100000"/>
                </a:srgbClr>
              </a:gs>
            </a:gsLst>
            <a:lin ang="18900000" scaled="0"/>
          </a:gradFill>
          <a:ln/>
        </p:spPr>
        <p:txBody>
          <a:bodyPr/>
          <a:lstStyle/>
          <a:p>
            <a:endParaRPr lang="en-FR"/>
          </a:p>
        </p:txBody>
      </p:sp>
      <p:sp>
        <p:nvSpPr>
          <p:cNvPr id="25" name="Shape 21"/>
          <p:cNvSpPr/>
          <p:nvPr/>
        </p:nvSpPr>
        <p:spPr>
          <a:xfrm>
            <a:off x="4057873" y="6334125"/>
            <a:ext cx="8134127" cy="523875"/>
          </a:xfrm>
          <a:prstGeom prst="rect">
            <a:avLst/>
          </a:prstGeom>
          <a:solidFill>
            <a:srgbClr val="013F34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26" name="Text 22"/>
          <p:cNvSpPr/>
          <p:nvPr/>
        </p:nvSpPr>
        <p:spPr>
          <a:xfrm>
            <a:off x="7262515" y="6488906"/>
            <a:ext cx="80010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07143"/>
              </a:lnSpc>
              <a:buNone/>
            </a:pPr>
            <a:r>
              <a:rPr lang="en-US" sz="675" kern="0" spc="41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THE CONVERSATION</a:t>
            </a:r>
            <a:endParaRPr lang="en-US" sz="675"/>
          </a:p>
        </p:txBody>
      </p:sp>
      <p:sp>
        <p:nvSpPr>
          <p:cNvPr id="27" name="Text 23"/>
          <p:cNvSpPr/>
          <p:nvPr/>
        </p:nvSpPr>
        <p:spPr>
          <a:xfrm>
            <a:off x="8310265" y="6496050"/>
            <a:ext cx="187301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08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#FABCONEUROPE</a:t>
            </a:r>
            <a:endParaRPr lang="en-US" sz="1350"/>
          </a:p>
        </p:txBody>
      </p:sp>
      <p:sp>
        <p:nvSpPr>
          <p:cNvPr id="28" name="Text 24"/>
          <p:cNvSpPr/>
          <p:nvPr/>
        </p:nvSpPr>
        <p:spPr>
          <a:xfrm>
            <a:off x="10260657" y="6496050"/>
            <a:ext cx="189397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08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#SQLCONEUROPE</a:t>
            </a:r>
            <a:endParaRPr lang="en-US" sz="13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16251">
                  <a:alpha val="100000"/>
                </a:srgbClr>
              </a:gs>
              <a:gs pos="55000">
                <a:srgbClr val="013F34">
                  <a:alpha val="100000"/>
                </a:srgbClr>
              </a:gs>
              <a:gs pos="100000">
                <a:srgbClr val="002820">
                  <a:alpha val="100000"/>
                </a:srgbClr>
              </a:gs>
            </a:gsLst>
            <a:lin ang="8100000" scaled="0"/>
          </a:gradFill>
          <a:ln/>
        </p:spPr>
        <p:txBody>
          <a:bodyPr/>
          <a:lstStyle/>
          <a:p>
            <a:endParaRPr lang="en-FR"/>
          </a:p>
        </p:txBody>
      </p:sp>
      <p:sp>
        <p:nvSpPr>
          <p:cNvPr id="3" name="Text 1"/>
          <p:cNvSpPr/>
          <p:nvPr/>
        </p:nvSpPr>
        <p:spPr>
          <a:xfrm>
            <a:off x="8439820" y="247650"/>
            <a:ext cx="3121558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72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RECORD OR LIVESTREAM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914400" y="742950"/>
            <a:ext cx="1139952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b="1" kern="0" spc="86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1 · PLATFORM CONTEXT</a:t>
            </a:r>
            <a:endParaRPr lang="en-US" sz="1425"/>
          </a:p>
        </p:txBody>
      </p:sp>
      <p:sp>
        <p:nvSpPr>
          <p:cNvPr id="5" name="Text 3"/>
          <p:cNvSpPr/>
          <p:nvPr/>
        </p:nvSpPr>
        <p:spPr>
          <a:xfrm>
            <a:off x="914400" y="2073101"/>
            <a:ext cx="4865735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035"/>
              </a:lnSpc>
              <a:buNone/>
            </a:pPr>
            <a:r>
              <a:rPr lang="en-US" sz="11250" b="1" kern="0" spc="-225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11250"/>
          </a:p>
        </p:txBody>
      </p:sp>
      <p:sp>
        <p:nvSpPr>
          <p:cNvPr id="6" name="Text 4"/>
          <p:cNvSpPr/>
          <p:nvPr/>
        </p:nvSpPr>
        <p:spPr>
          <a:xfrm>
            <a:off x="914400" y="3473276"/>
            <a:ext cx="4556097" cy="1135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3784"/>
              </a:lnSpc>
              <a:buNone/>
            </a:pPr>
            <a:r>
              <a:rPr lang="en-US" sz="2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"Organizations lack end-to-end visibility into granular signals across services"</a:t>
            </a:r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5871195" y="2053679"/>
            <a:ext cx="594704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b="1" kern="0" spc="86">
                <a:solidFill>
                  <a:srgbClr val="7FD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GETS IN THE WAY TODAY</a:t>
            </a:r>
            <a:endParaRPr lang="en-US" sz="1425"/>
          </a:p>
        </p:txBody>
      </p:sp>
      <p:sp>
        <p:nvSpPr>
          <p:cNvPr id="8" name="Text 6"/>
          <p:cNvSpPr/>
          <p:nvPr/>
        </p:nvSpPr>
        <p:spPr>
          <a:xfrm>
            <a:off x="5871195" y="2468017"/>
            <a:ext cx="5947045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15"/>
              </a:lnSpc>
              <a:buNone/>
            </a:pPr>
            <a:r>
              <a:rPr lang="en-US" sz="21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siloes between batch and real-time data</a:t>
            </a:r>
            <a:endParaRPr lang="en-US" sz="2100"/>
          </a:p>
        </p:txBody>
      </p:sp>
      <p:sp>
        <p:nvSpPr>
          <p:cNvPr id="9" name="Text 7"/>
          <p:cNvSpPr/>
          <p:nvPr/>
        </p:nvSpPr>
        <p:spPr>
          <a:xfrm>
            <a:off x="5871195" y="3050902"/>
            <a:ext cx="5947045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15"/>
              </a:lnSpc>
              <a:buNone/>
            </a:pPr>
            <a:r>
              <a:rPr lang="en-US" sz="21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arrives too late to make a difference</a:t>
            </a:r>
            <a:endParaRPr lang="en-US" sz="2100"/>
          </a:p>
        </p:txBody>
      </p:sp>
      <p:sp>
        <p:nvSpPr>
          <p:cNvPr id="10" name="Text 8"/>
          <p:cNvSpPr/>
          <p:nvPr/>
        </p:nvSpPr>
        <p:spPr>
          <a:xfrm>
            <a:off x="5871195" y="3633788"/>
            <a:ext cx="5947045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15"/>
              </a:lnSpc>
              <a:buNone/>
            </a:pPr>
            <a:r>
              <a:rPr lang="en-US" sz="21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to find the high-value signals in time</a:t>
            </a:r>
            <a:endParaRPr lang="en-US" sz="2100"/>
          </a:p>
        </p:txBody>
      </p:sp>
      <p:sp>
        <p:nvSpPr>
          <p:cNvPr id="11" name="Text 9"/>
          <p:cNvSpPr/>
          <p:nvPr/>
        </p:nvSpPr>
        <p:spPr>
          <a:xfrm>
            <a:off x="5871195" y="4216673"/>
            <a:ext cx="5947045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15"/>
              </a:lnSpc>
              <a:buNone/>
            </a:pPr>
            <a:r>
              <a:rPr lang="en-US" sz="21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are too slow to change outcomes</a:t>
            </a:r>
            <a:endParaRPr lang="en-US" sz="2100"/>
          </a:p>
        </p:txBody>
      </p:sp>
      <p:sp>
        <p:nvSpPr>
          <p:cNvPr id="12" name="Text 10"/>
          <p:cNvSpPr/>
          <p:nvPr/>
        </p:nvSpPr>
        <p:spPr>
          <a:xfrm>
            <a:off x="914400" y="5543550"/>
            <a:ext cx="10674096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86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MICROSOFT, IGNITE 2025 (BRK226)</a:t>
            </a:r>
            <a:endParaRPr lang="en-US" sz="1425"/>
          </a:p>
        </p:txBody>
      </p:sp>
      <p:sp>
        <p:nvSpPr>
          <p:cNvPr id="13" name="Shape 11"/>
          <p:cNvSpPr/>
          <p:nvPr/>
        </p:nvSpPr>
        <p:spPr>
          <a:xfrm>
            <a:off x="0" y="6334125"/>
            <a:ext cx="2975595" cy="523875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" y="6407497"/>
            <a:ext cx="391344" cy="377130"/>
          </a:xfrm>
          <a:prstGeom prst="rect">
            <a:avLst/>
          </a:prstGeom>
        </p:spPr>
      </p:pic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44" y="6422529"/>
            <a:ext cx="652537" cy="346993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2975595" y="6334125"/>
            <a:ext cx="757535" cy="523875"/>
          </a:xfrm>
          <a:prstGeom prst="rect">
            <a:avLst/>
          </a:prstGeom>
          <a:solidFill>
            <a:srgbClr val="017864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7" name="Text 13"/>
          <p:cNvSpPr/>
          <p:nvPr/>
        </p:nvSpPr>
        <p:spPr>
          <a:xfrm>
            <a:off x="3127995" y="6386066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</a:t>
            </a:r>
            <a:endParaRPr lang="en-US" sz="788"/>
          </a:p>
        </p:txBody>
      </p:sp>
      <p:sp>
        <p:nvSpPr>
          <p:cNvPr id="18" name="Text 14"/>
          <p:cNvSpPr/>
          <p:nvPr/>
        </p:nvSpPr>
        <p:spPr>
          <a:xfrm>
            <a:off x="3127995" y="6526039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</a:t>
            </a:r>
            <a:endParaRPr lang="en-US" sz="788"/>
          </a:p>
        </p:txBody>
      </p:sp>
      <p:sp>
        <p:nvSpPr>
          <p:cNvPr id="19" name="Text 15"/>
          <p:cNvSpPr/>
          <p:nvPr/>
        </p:nvSpPr>
        <p:spPr>
          <a:xfrm>
            <a:off x="3127995" y="6666012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ONA</a:t>
            </a:r>
            <a:endParaRPr lang="en-US" sz="788"/>
          </a:p>
        </p:txBody>
      </p:sp>
      <p:sp>
        <p:nvSpPr>
          <p:cNvPr id="20" name="Text 16"/>
          <p:cNvSpPr/>
          <p:nvPr/>
        </p:nvSpPr>
        <p:spPr>
          <a:xfrm>
            <a:off x="3461445" y="6406083"/>
            <a:ext cx="195486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3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788"/>
          </a:p>
        </p:txBody>
      </p:sp>
      <p:sp>
        <p:nvSpPr>
          <p:cNvPr id="21" name="Shape 17"/>
          <p:cNvSpPr/>
          <p:nvPr/>
        </p:nvSpPr>
        <p:spPr>
          <a:xfrm>
            <a:off x="3461445" y="6562725"/>
            <a:ext cx="104775" cy="66675"/>
          </a:xfrm>
          <a:prstGeom prst="rect">
            <a:avLst/>
          </a:prstGeom>
          <a:gradFill rotWithShape="1">
            <a:gsLst>
              <a:gs pos="25000">
                <a:srgbClr val="BCA045">
                  <a:alpha val="100000"/>
                </a:srgbClr>
              </a:gs>
              <a:gs pos="25000">
                <a:srgbClr val="017864">
                  <a:alpha val="100000"/>
                </a:srgbClr>
              </a:gs>
            </a:gsLst>
            <a:lin ang="18900000" scaled="0"/>
          </a:gradFill>
          <a:ln/>
        </p:spPr>
        <p:txBody>
          <a:bodyPr/>
          <a:lstStyle/>
          <a:p>
            <a:endParaRPr lang="en-FR"/>
          </a:p>
        </p:txBody>
      </p:sp>
      <p:sp>
        <p:nvSpPr>
          <p:cNvPr id="22" name="Text 18"/>
          <p:cNvSpPr/>
          <p:nvPr/>
        </p:nvSpPr>
        <p:spPr>
          <a:xfrm>
            <a:off x="3461445" y="6646069"/>
            <a:ext cx="195486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3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788"/>
          </a:p>
        </p:txBody>
      </p:sp>
      <p:sp>
        <p:nvSpPr>
          <p:cNvPr id="23" name="Shape 19"/>
          <p:cNvSpPr/>
          <p:nvPr/>
        </p:nvSpPr>
        <p:spPr>
          <a:xfrm>
            <a:off x="3733130" y="6334125"/>
            <a:ext cx="324743" cy="523875"/>
          </a:xfrm>
          <a:prstGeom prst="rect">
            <a:avLst/>
          </a:prstGeom>
          <a:gradFill rotWithShape="1">
            <a:gsLst>
              <a:gs pos="25000">
                <a:srgbClr val="017864">
                  <a:alpha val="100000"/>
                </a:srgbClr>
              </a:gs>
              <a:gs pos="25000">
                <a:srgbClr val="013F34">
                  <a:alpha val="100000"/>
                </a:srgbClr>
              </a:gs>
            </a:gsLst>
            <a:lin ang="18900000" scaled="0"/>
          </a:gradFill>
          <a:ln/>
        </p:spPr>
        <p:txBody>
          <a:bodyPr/>
          <a:lstStyle/>
          <a:p>
            <a:endParaRPr lang="en-FR"/>
          </a:p>
        </p:txBody>
      </p:sp>
      <p:sp>
        <p:nvSpPr>
          <p:cNvPr id="24" name="Shape 20"/>
          <p:cNvSpPr/>
          <p:nvPr/>
        </p:nvSpPr>
        <p:spPr>
          <a:xfrm>
            <a:off x="4057873" y="6334125"/>
            <a:ext cx="8134127" cy="523875"/>
          </a:xfrm>
          <a:prstGeom prst="rect">
            <a:avLst/>
          </a:prstGeom>
          <a:solidFill>
            <a:srgbClr val="013F34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25" name="Text 21"/>
          <p:cNvSpPr/>
          <p:nvPr/>
        </p:nvSpPr>
        <p:spPr>
          <a:xfrm>
            <a:off x="7262515" y="6488906"/>
            <a:ext cx="80010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07143"/>
              </a:lnSpc>
              <a:buNone/>
            </a:pPr>
            <a:r>
              <a:rPr lang="en-US" sz="675" kern="0" spc="41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THE CONVERSATION</a:t>
            </a:r>
            <a:endParaRPr lang="en-US" sz="675"/>
          </a:p>
        </p:txBody>
      </p:sp>
      <p:sp>
        <p:nvSpPr>
          <p:cNvPr id="26" name="Text 22"/>
          <p:cNvSpPr/>
          <p:nvPr/>
        </p:nvSpPr>
        <p:spPr>
          <a:xfrm>
            <a:off x="8310265" y="6496050"/>
            <a:ext cx="187301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08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#FABCONEUROPE</a:t>
            </a:r>
            <a:endParaRPr lang="en-US" sz="1350"/>
          </a:p>
        </p:txBody>
      </p:sp>
      <p:sp>
        <p:nvSpPr>
          <p:cNvPr id="27" name="Text 23"/>
          <p:cNvSpPr/>
          <p:nvPr/>
        </p:nvSpPr>
        <p:spPr>
          <a:xfrm>
            <a:off x="10260657" y="6496050"/>
            <a:ext cx="189397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08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#SQLCONEUROPE</a:t>
            </a:r>
            <a:endParaRPr lang="en-US" sz="13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39820" y="247650"/>
            <a:ext cx="3121558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72">
                <a:solidFill>
                  <a:srgbClr val="4B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RECORD OR LIVESTREAM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914400" y="742950"/>
            <a:ext cx="1139952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b="1" kern="0" spc="86">
                <a:solidFill>
                  <a:srgbClr val="017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1 · SOLUTION</a:t>
            </a:r>
            <a:endParaRPr lang="en-US" sz="1425"/>
          </a:p>
        </p:txBody>
      </p:sp>
      <p:sp>
        <p:nvSpPr>
          <p:cNvPr id="4" name="Text 2"/>
          <p:cNvSpPr/>
          <p:nvPr/>
        </p:nvSpPr>
        <p:spPr>
          <a:xfrm>
            <a:off x="914400" y="1100138"/>
            <a:ext cx="11399520" cy="488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556"/>
              </a:lnSpc>
              <a:buNone/>
            </a:pPr>
            <a:r>
              <a:rPr lang="en-US" sz="3225" b="1" kern="0" spc="-32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OneLake: one copy of the data, many engines</a:t>
            </a:r>
            <a:endParaRPr lang="en-US" sz="3225"/>
          </a:p>
        </p:txBody>
      </p:sp>
      <p:sp>
        <p:nvSpPr>
          <p:cNvPr id="5" name="Text 3"/>
          <p:cNvSpPr/>
          <p:nvPr/>
        </p:nvSpPr>
        <p:spPr>
          <a:xfrm>
            <a:off x="914400" y="2285777"/>
            <a:ext cx="499988" cy="1709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957"/>
              </a:lnSpc>
              <a:buNone/>
            </a:pPr>
            <a:r>
              <a:rPr lang="en-US" sz="3000" b="1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/>
          </a:p>
        </p:txBody>
      </p:sp>
      <p:sp>
        <p:nvSpPr>
          <p:cNvPr id="6" name="Text 4"/>
          <p:cNvSpPr/>
          <p:nvPr/>
        </p:nvSpPr>
        <p:spPr>
          <a:xfrm>
            <a:off x="1528688" y="2285777"/>
            <a:ext cx="4468873" cy="1709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5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logical lake per tenant on ADLS. Tables in open Delta Parquet and Iceberg — every Fabric engine works on the same copy, no export/import between workloads.</a:t>
            </a:r>
            <a:endParaRPr lang="en-US" sz="1950"/>
          </a:p>
        </p:txBody>
      </p:sp>
      <p:sp>
        <p:nvSpPr>
          <p:cNvPr id="7" name="Text 5"/>
          <p:cNvSpPr/>
          <p:nvPr/>
        </p:nvSpPr>
        <p:spPr>
          <a:xfrm>
            <a:off x="6324600" y="2285777"/>
            <a:ext cx="499988" cy="1709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957"/>
              </a:lnSpc>
              <a:buNone/>
            </a:pPr>
            <a:r>
              <a:rPr lang="en-US" sz="3000" b="1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/>
          </a:p>
        </p:txBody>
      </p:sp>
      <p:sp>
        <p:nvSpPr>
          <p:cNvPr id="8" name="Text 6"/>
          <p:cNvSpPr/>
          <p:nvPr/>
        </p:nvSpPr>
        <p:spPr>
          <a:xfrm>
            <a:off x="6938888" y="2285777"/>
            <a:ext cx="4468873" cy="1709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5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Shortcuts and mirroring point at data where it already lives. Here, the SQL Database and the Eventhouse land in the same lake with no copy job between them.</a:t>
            </a:r>
            <a:endParaRPr lang="en-US" sz="1950"/>
          </a:p>
        </p:txBody>
      </p:sp>
      <p:sp>
        <p:nvSpPr>
          <p:cNvPr id="9" name="Text 7"/>
          <p:cNvSpPr/>
          <p:nvPr/>
        </p:nvSpPr>
        <p:spPr>
          <a:xfrm>
            <a:off x="914400" y="4223817"/>
            <a:ext cx="499988" cy="1375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957"/>
              </a:lnSpc>
              <a:buNone/>
            </a:pPr>
            <a:r>
              <a:rPr lang="en-US" sz="3000" b="1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/>
          </a:p>
        </p:txBody>
      </p:sp>
      <p:sp>
        <p:nvSpPr>
          <p:cNvPr id="10" name="Text 8"/>
          <p:cNvSpPr/>
          <p:nvPr/>
        </p:nvSpPr>
        <p:spPr>
          <a:xfrm>
            <a:off x="1528688" y="4223817"/>
            <a:ext cx="4468873" cy="1375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5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Intelligence — Eventstream plus Eventhouse/KQL — is where the ten production lines actually arrive.</a:t>
            </a:r>
            <a:endParaRPr lang="en-US" sz="1950"/>
          </a:p>
        </p:txBody>
      </p:sp>
      <p:sp>
        <p:nvSpPr>
          <p:cNvPr id="11" name="Text 9"/>
          <p:cNvSpPr/>
          <p:nvPr/>
        </p:nvSpPr>
        <p:spPr>
          <a:xfrm>
            <a:off x="6324600" y="4223817"/>
            <a:ext cx="499988" cy="1375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957"/>
              </a:lnSpc>
              <a:buNone/>
            </a:pPr>
            <a:r>
              <a:rPr lang="en-US" sz="3000" b="1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/>
          </a:p>
        </p:txBody>
      </p:sp>
      <p:sp>
        <p:nvSpPr>
          <p:cNvPr id="12" name="Text 10"/>
          <p:cNvSpPr/>
          <p:nvPr/>
        </p:nvSpPr>
        <p:spPr>
          <a:xfrm>
            <a:off x="6938888" y="4223817"/>
            <a:ext cx="4468873" cy="1375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5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travels with the data itself — tenant, workspace, item — not per consumer. That is what makes handing it to an agent tolerable.</a:t>
            </a:r>
            <a:endParaRPr lang="en-US" sz="1950"/>
          </a:p>
        </p:txBody>
      </p:sp>
      <p:sp>
        <p:nvSpPr>
          <p:cNvPr id="13" name="Shape 11"/>
          <p:cNvSpPr/>
          <p:nvPr/>
        </p:nvSpPr>
        <p:spPr>
          <a:xfrm>
            <a:off x="0" y="6334125"/>
            <a:ext cx="2975595" cy="523875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" y="6407497"/>
            <a:ext cx="391344" cy="377130"/>
          </a:xfrm>
          <a:prstGeom prst="rect">
            <a:avLst/>
          </a:prstGeom>
        </p:spPr>
      </p:pic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44" y="6422529"/>
            <a:ext cx="652537" cy="346993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2975595" y="6334125"/>
            <a:ext cx="757535" cy="523875"/>
          </a:xfrm>
          <a:prstGeom prst="rect">
            <a:avLst/>
          </a:prstGeom>
          <a:solidFill>
            <a:srgbClr val="017864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7" name="Text 13"/>
          <p:cNvSpPr/>
          <p:nvPr/>
        </p:nvSpPr>
        <p:spPr>
          <a:xfrm>
            <a:off x="3127995" y="6386066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</a:t>
            </a:r>
            <a:endParaRPr lang="en-US" sz="788"/>
          </a:p>
        </p:txBody>
      </p:sp>
      <p:sp>
        <p:nvSpPr>
          <p:cNvPr id="18" name="Text 14"/>
          <p:cNvSpPr/>
          <p:nvPr/>
        </p:nvSpPr>
        <p:spPr>
          <a:xfrm>
            <a:off x="3127995" y="6526039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</a:t>
            </a:r>
            <a:endParaRPr lang="en-US" sz="788"/>
          </a:p>
        </p:txBody>
      </p:sp>
      <p:sp>
        <p:nvSpPr>
          <p:cNvPr id="19" name="Text 15"/>
          <p:cNvSpPr/>
          <p:nvPr/>
        </p:nvSpPr>
        <p:spPr>
          <a:xfrm>
            <a:off x="3127995" y="6666012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ONA</a:t>
            </a:r>
            <a:endParaRPr lang="en-US" sz="788"/>
          </a:p>
        </p:txBody>
      </p:sp>
      <p:sp>
        <p:nvSpPr>
          <p:cNvPr id="20" name="Text 16"/>
          <p:cNvSpPr/>
          <p:nvPr/>
        </p:nvSpPr>
        <p:spPr>
          <a:xfrm>
            <a:off x="3461445" y="6406083"/>
            <a:ext cx="195486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3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788"/>
          </a:p>
        </p:txBody>
      </p:sp>
      <p:sp>
        <p:nvSpPr>
          <p:cNvPr id="21" name="Shape 17"/>
          <p:cNvSpPr/>
          <p:nvPr/>
        </p:nvSpPr>
        <p:spPr>
          <a:xfrm>
            <a:off x="3461445" y="6562725"/>
            <a:ext cx="104775" cy="66675"/>
          </a:xfrm>
          <a:prstGeom prst="rect">
            <a:avLst/>
          </a:prstGeom>
          <a:gradFill rotWithShape="1">
            <a:gsLst>
              <a:gs pos="25000">
                <a:srgbClr val="BCA045">
                  <a:alpha val="100000"/>
                </a:srgbClr>
              </a:gs>
              <a:gs pos="25000">
                <a:srgbClr val="017864">
                  <a:alpha val="100000"/>
                </a:srgbClr>
              </a:gs>
            </a:gsLst>
            <a:lin ang="18900000" scaled="0"/>
          </a:gradFill>
          <a:ln/>
        </p:spPr>
        <p:txBody>
          <a:bodyPr/>
          <a:lstStyle/>
          <a:p>
            <a:endParaRPr lang="en-FR"/>
          </a:p>
        </p:txBody>
      </p:sp>
      <p:sp>
        <p:nvSpPr>
          <p:cNvPr id="22" name="Text 18"/>
          <p:cNvSpPr/>
          <p:nvPr/>
        </p:nvSpPr>
        <p:spPr>
          <a:xfrm>
            <a:off x="3461445" y="6646069"/>
            <a:ext cx="195486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3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788"/>
          </a:p>
        </p:txBody>
      </p:sp>
      <p:sp>
        <p:nvSpPr>
          <p:cNvPr id="23" name="Shape 19"/>
          <p:cNvSpPr/>
          <p:nvPr/>
        </p:nvSpPr>
        <p:spPr>
          <a:xfrm>
            <a:off x="3733130" y="6334125"/>
            <a:ext cx="324743" cy="523875"/>
          </a:xfrm>
          <a:prstGeom prst="rect">
            <a:avLst/>
          </a:prstGeom>
          <a:gradFill rotWithShape="1">
            <a:gsLst>
              <a:gs pos="25000">
                <a:srgbClr val="017864">
                  <a:alpha val="100000"/>
                </a:srgbClr>
              </a:gs>
              <a:gs pos="25000">
                <a:srgbClr val="013F34">
                  <a:alpha val="100000"/>
                </a:srgbClr>
              </a:gs>
            </a:gsLst>
            <a:lin ang="18900000" scaled="0"/>
          </a:gradFill>
          <a:ln/>
        </p:spPr>
        <p:txBody>
          <a:bodyPr/>
          <a:lstStyle/>
          <a:p>
            <a:endParaRPr lang="en-FR"/>
          </a:p>
        </p:txBody>
      </p:sp>
      <p:sp>
        <p:nvSpPr>
          <p:cNvPr id="24" name="Shape 20"/>
          <p:cNvSpPr/>
          <p:nvPr/>
        </p:nvSpPr>
        <p:spPr>
          <a:xfrm>
            <a:off x="4057873" y="6334125"/>
            <a:ext cx="8134127" cy="523875"/>
          </a:xfrm>
          <a:prstGeom prst="rect">
            <a:avLst/>
          </a:prstGeom>
          <a:solidFill>
            <a:srgbClr val="013F34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25" name="Text 21"/>
          <p:cNvSpPr/>
          <p:nvPr/>
        </p:nvSpPr>
        <p:spPr>
          <a:xfrm>
            <a:off x="7262515" y="6488906"/>
            <a:ext cx="80010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07143"/>
              </a:lnSpc>
              <a:buNone/>
            </a:pPr>
            <a:r>
              <a:rPr lang="en-US" sz="675" kern="0" spc="41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THE CONVERSATION</a:t>
            </a:r>
            <a:endParaRPr lang="en-US" sz="675"/>
          </a:p>
        </p:txBody>
      </p:sp>
      <p:sp>
        <p:nvSpPr>
          <p:cNvPr id="26" name="Text 22"/>
          <p:cNvSpPr/>
          <p:nvPr/>
        </p:nvSpPr>
        <p:spPr>
          <a:xfrm>
            <a:off x="8310265" y="6496050"/>
            <a:ext cx="187301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08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#FABCONEUROPE</a:t>
            </a:r>
            <a:endParaRPr lang="en-US" sz="1350"/>
          </a:p>
        </p:txBody>
      </p:sp>
      <p:sp>
        <p:nvSpPr>
          <p:cNvPr id="27" name="Text 23"/>
          <p:cNvSpPr/>
          <p:nvPr/>
        </p:nvSpPr>
        <p:spPr>
          <a:xfrm>
            <a:off x="10260657" y="6496050"/>
            <a:ext cx="189397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08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#SQLCONEUROPE</a:t>
            </a:r>
            <a:endParaRPr lang="en-US" sz="13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39820" y="247650"/>
            <a:ext cx="3121558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72">
                <a:solidFill>
                  <a:srgbClr val="4B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RECORD OR LIVESTREAM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914400" y="742950"/>
            <a:ext cx="1139952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b="1" kern="0" spc="86">
                <a:solidFill>
                  <a:srgbClr val="017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1 · SOLUTION</a:t>
            </a:r>
            <a:endParaRPr lang="en-US" sz="1425"/>
          </a:p>
        </p:txBody>
      </p:sp>
      <p:sp>
        <p:nvSpPr>
          <p:cNvPr id="4" name="Text 2"/>
          <p:cNvSpPr/>
          <p:nvPr/>
        </p:nvSpPr>
        <p:spPr>
          <a:xfrm>
            <a:off x="914400" y="1100138"/>
            <a:ext cx="11399520" cy="488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556"/>
              </a:lnSpc>
              <a:buNone/>
            </a:pPr>
            <a:r>
              <a:rPr lang="en-US" sz="3225" b="1" kern="0" spc="-32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Ingestion, as deployed</a:t>
            </a:r>
            <a:endParaRPr lang="en-US" sz="3225"/>
          </a:p>
        </p:txBody>
      </p:sp>
      <p:sp>
        <p:nvSpPr>
          <p:cNvPr id="5" name="Shape 3"/>
          <p:cNvSpPr/>
          <p:nvPr/>
        </p:nvSpPr>
        <p:spPr>
          <a:xfrm>
            <a:off x="914400" y="2557090"/>
            <a:ext cx="1981200" cy="1159073"/>
          </a:xfrm>
          <a:prstGeom prst="rect">
            <a:avLst/>
          </a:prstGeom>
          <a:solidFill>
            <a:srgbClr val="CFE9E1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6" name="Text 4"/>
          <p:cNvSpPr/>
          <p:nvPr/>
        </p:nvSpPr>
        <p:spPr>
          <a:xfrm>
            <a:off x="1104900" y="2888531"/>
            <a:ext cx="176022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72">
                <a:solidFill>
                  <a:srgbClr val="017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1104900" y="3121893"/>
            <a:ext cx="1760220" cy="300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364"/>
              </a:lnSpc>
              <a:buNone/>
            </a:pPr>
            <a:r>
              <a:rPr lang="en-US" sz="1800" b="1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simulator</a:t>
            </a:r>
            <a:endParaRPr lang="en-US" sz="1800"/>
          </a:p>
        </p:txBody>
      </p:sp>
      <p:sp>
        <p:nvSpPr>
          <p:cNvPr id="8" name="Text 6"/>
          <p:cNvSpPr/>
          <p:nvPr/>
        </p:nvSpPr>
        <p:spPr>
          <a:xfrm>
            <a:off x="2890391" y="2997547"/>
            <a:ext cx="1039118" cy="220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lnSpc>
                <a:spcPct val="103784"/>
              </a:lnSpc>
              <a:buNone/>
            </a:pPr>
            <a:r>
              <a:rPr lang="en-US" sz="1200" b="1" kern="0" spc="72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HUB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2895600" y="3256583"/>
            <a:ext cx="1028700" cy="19050"/>
          </a:xfrm>
          <a:prstGeom prst="rect">
            <a:avLst/>
          </a:prstGeom>
          <a:solidFill>
            <a:srgbClr val="017864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0" name="Shape 8"/>
          <p:cNvSpPr/>
          <p:nvPr/>
        </p:nvSpPr>
        <p:spPr>
          <a:xfrm>
            <a:off x="3924300" y="2557090"/>
            <a:ext cx="2190750" cy="1159073"/>
          </a:xfrm>
          <a:prstGeom prst="rect">
            <a:avLst/>
          </a:prstGeom>
          <a:solidFill>
            <a:srgbClr val="017864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1" name="Text 9"/>
          <p:cNvSpPr/>
          <p:nvPr/>
        </p:nvSpPr>
        <p:spPr>
          <a:xfrm>
            <a:off x="4114800" y="2888531"/>
            <a:ext cx="1990725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72">
                <a:solidFill>
                  <a:srgbClr val="7FD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 RTI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4114800" y="3121893"/>
            <a:ext cx="1990725" cy="300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364"/>
              </a:lnSpc>
              <a:buNone/>
            </a:pPr>
            <a:r>
              <a:rPr lang="en-US" sz="1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Eventstream</a:t>
            </a:r>
            <a:endParaRPr lang="en-US" sz="1800"/>
          </a:p>
        </p:txBody>
      </p:sp>
      <p:sp>
        <p:nvSpPr>
          <p:cNvPr id="13" name="Shape 11"/>
          <p:cNvSpPr/>
          <p:nvPr/>
        </p:nvSpPr>
        <p:spPr>
          <a:xfrm>
            <a:off x="6115050" y="3127102"/>
            <a:ext cx="647700" cy="19050"/>
          </a:xfrm>
          <a:prstGeom prst="rect">
            <a:avLst/>
          </a:prstGeom>
          <a:solidFill>
            <a:srgbClr val="017864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4" name="Shape 12"/>
          <p:cNvSpPr/>
          <p:nvPr/>
        </p:nvSpPr>
        <p:spPr>
          <a:xfrm>
            <a:off x="6762750" y="2557090"/>
            <a:ext cx="4514850" cy="1159073"/>
          </a:xfrm>
          <a:prstGeom prst="rect">
            <a:avLst/>
          </a:prstGeom>
          <a:solidFill>
            <a:srgbClr val="013F34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5" name="Text 13"/>
          <p:cNvSpPr/>
          <p:nvPr/>
        </p:nvSpPr>
        <p:spPr>
          <a:xfrm>
            <a:off x="6991350" y="2747590"/>
            <a:ext cx="4463415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72">
                <a:solidFill>
                  <a:srgbClr val="7FD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 RTI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6991350" y="3000003"/>
            <a:ext cx="4179379" cy="563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364"/>
              </a:lnSpc>
              <a:buNone/>
            </a:pPr>
            <a:r>
              <a:rPr lang="en-US" sz="1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Eventhouse — Bronze / Silver / Gold KQL</a:t>
            </a:r>
            <a:endParaRPr lang="en-US" sz="1800"/>
          </a:p>
        </p:txBody>
      </p:sp>
      <p:sp>
        <p:nvSpPr>
          <p:cNvPr id="17" name="Shape 15"/>
          <p:cNvSpPr/>
          <p:nvPr/>
        </p:nvSpPr>
        <p:spPr>
          <a:xfrm>
            <a:off x="914400" y="3963814"/>
            <a:ext cx="4914900" cy="1159073"/>
          </a:xfrm>
          <a:prstGeom prst="rect">
            <a:avLst/>
          </a:prstGeom>
          <a:solidFill>
            <a:srgbClr val="FFFFFF"/>
          </a:solidFill>
          <a:ln w="9525">
            <a:solidFill>
              <a:srgbClr val="013F34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Text 16"/>
          <p:cNvSpPr/>
          <p:nvPr/>
        </p:nvSpPr>
        <p:spPr>
          <a:xfrm>
            <a:off x="1152525" y="4163839"/>
            <a:ext cx="4882515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72">
                <a:solidFill>
                  <a:srgbClr val="017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SEEDED RELATIONAL DATA</a:t>
            </a:r>
            <a:endParaRPr lang="en-US" sz="1200"/>
          </a:p>
        </p:txBody>
      </p:sp>
      <p:sp>
        <p:nvSpPr>
          <p:cNvPr id="19" name="Text 17"/>
          <p:cNvSpPr/>
          <p:nvPr/>
        </p:nvSpPr>
        <p:spPr>
          <a:xfrm>
            <a:off x="1152525" y="4397201"/>
            <a:ext cx="4571810" cy="563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364"/>
              </a:lnSpc>
              <a:buNone/>
            </a:pPr>
            <a:r>
              <a:rPr lang="en-US" sz="1800" b="1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 SQL Database — Supply Chain / ERP</a:t>
            </a:r>
            <a:endParaRPr lang="en-US" sz="1800"/>
          </a:p>
        </p:txBody>
      </p:sp>
      <p:sp>
        <p:nvSpPr>
          <p:cNvPr id="20" name="Shape 18"/>
          <p:cNvSpPr/>
          <p:nvPr/>
        </p:nvSpPr>
        <p:spPr>
          <a:xfrm>
            <a:off x="5829300" y="4533826"/>
            <a:ext cx="647700" cy="19050"/>
          </a:xfrm>
          <a:prstGeom prst="rect">
            <a:avLst/>
          </a:prstGeom>
          <a:solidFill>
            <a:srgbClr val="017864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21" name="Shape 19"/>
          <p:cNvSpPr/>
          <p:nvPr/>
        </p:nvSpPr>
        <p:spPr>
          <a:xfrm>
            <a:off x="6477000" y="3963814"/>
            <a:ext cx="4800600" cy="1159073"/>
          </a:xfrm>
          <a:prstGeom prst="rect">
            <a:avLst/>
          </a:prstGeom>
          <a:ln w="9525">
            <a:solidFill>
              <a:srgbClr val="013F34">
                <a:alpha val="12000"/>
              </a:srgbClr>
            </a:solidFill>
            <a:prstDash val="dash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20"/>
          <p:cNvSpPr/>
          <p:nvPr/>
        </p:nvSpPr>
        <p:spPr>
          <a:xfrm>
            <a:off x="6715125" y="4295254"/>
            <a:ext cx="4756785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72">
                <a:solidFill>
                  <a:srgbClr val="4B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ONELAKE MIRRORING · ACT 2</a:t>
            </a:r>
            <a:endParaRPr lang="en-US" sz="1200"/>
          </a:p>
        </p:txBody>
      </p:sp>
      <p:sp>
        <p:nvSpPr>
          <p:cNvPr id="23" name="Text 21"/>
          <p:cNvSpPr/>
          <p:nvPr/>
        </p:nvSpPr>
        <p:spPr>
          <a:xfrm>
            <a:off x="6715125" y="4528617"/>
            <a:ext cx="4756785" cy="300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364"/>
              </a:lnSpc>
              <a:buNone/>
            </a:pPr>
            <a:r>
              <a:rPr lang="en-US" sz="1800" b="1">
                <a:solidFill>
                  <a:srgbClr val="4B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 IQ Ontology</a:t>
            </a:r>
            <a:endParaRPr lang="en-US" sz="1800"/>
          </a:p>
        </p:txBody>
      </p:sp>
      <p:sp>
        <p:nvSpPr>
          <p:cNvPr id="24" name="Text 22"/>
          <p:cNvSpPr/>
          <p:nvPr/>
        </p:nvSpPr>
        <p:spPr>
          <a:xfrm>
            <a:off x="914400" y="5748338"/>
            <a:ext cx="1139952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b="1" kern="0" spc="86">
                <a:solidFill>
                  <a:srgbClr val="017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— DEPLOYED STACK, 24 AUG 2026 · ONE TERRAFORM APPLY PROVISIONS EVERY BOX</a:t>
            </a:r>
            <a:endParaRPr lang="en-US" sz="1425"/>
          </a:p>
        </p:txBody>
      </p:sp>
      <p:sp>
        <p:nvSpPr>
          <p:cNvPr id="25" name="Shape 23"/>
          <p:cNvSpPr/>
          <p:nvPr/>
        </p:nvSpPr>
        <p:spPr>
          <a:xfrm>
            <a:off x="0" y="6334125"/>
            <a:ext cx="2975595" cy="523875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" y="6407497"/>
            <a:ext cx="391344" cy="377130"/>
          </a:xfrm>
          <a:prstGeom prst="rect">
            <a:avLst/>
          </a:prstGeom>
        </p:spPr>
      </p:pic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44" y="6422529"/>
            <a:ext cx="652537" cy="346993"/>
          </a:xfrm>
          <a:prstGeom prst="rect">
            <a:avLst/>
          </a:prstGeom>
        </p:spPr>
      </p:pic>
      <p:sp>
        <p:nvSpPr>
          <p:cNvPr id="28" name="Shape 24"/>
          <p:cNvSpPr/>
          <p:nvPr/>
        </p:nvSpPr>
        <p:spPr>
          <a:xfrm>
            <a:off x="2975595" y="6334125"/>
            <a:ext cx="757535" cy="523875"/>
          </a:xfrm>
          <a:prstGeom prst="rect">
            <a:avLst/>
          </a:prstGeom>
          <a:solidFill>
            <a:srgbClr val="017864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29" name="Text 25"/>
          <p:cNvSpPr/>
          <p:nvPr/>
        </p:nvSpPr>
        <p:spPr>
          <a:xfrm>
            <a:off x="3127995" y="6386066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</a:t>
            </a:r>
            <a:endParaRPr lang="en-US" sz="788"/>
          </a:p>
        </p:txBody>
      </p:sp>
      <p:sp>
        <p:nvSpPr>
          <p:cNvPr id="30" name="Text 26"/>
          <p:cNvSpPr/>
          <p:nvPr/>
        </p:nvSpPr>
        <p:spPr>
          <a:xfrm>
            <a:off x="3127995" y="6526039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</a:t>
            </a:r>
            <a:endParaRPr lang="en-US" sz="788"/>
          </a:p>
        </p:txBody>
      </p:sp>
      <p:sp>
        <p:nvSpPr>
          <p:cNvPr id="31" name="Text 27"/>
          <p:cNvSpPr/>
          <p:nvPr/>
        </p:nvSpPr>
        <p:spPr>
          <a:xfrm>
            <a:off x="3127995" y="6666012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ONA</a:t>
            </a:r>
            <a:endParaRPr lang="en-US" sz="788"/>
          </a:p>
        </p:txBody>
      </p:sp>
      <p:sp>
        <p:nvSpPr>
          <p:cNvPr id="32" name="Text 28"/>
          <p:cNvSpPr/>
          <p:nvPr/>
        </p:nvSpPr>
        <p:spPr>
          <a:xfrm>
            <a:off x="3461445" y="6406083"/>
            <a:ext cx="195486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3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788"/>
          </a:p>
        </p:txBody>
      </p:sp>
      <p:sp>
        <p:nvSpPr>
          <p:cNvPr id="33" name="Shape 29"/>
          <p:cNvSpPr/>
          <p:nvPr/>
        </p:nvSpPr>
        <p:spPr>
          <a:xfrm>
            <a:off x="3461445" y="6562725"/>
            <a:ext cx="104775" cy="66675"/>
          </a:xfrm>
          <a:prstGeom prst="rect">
            <a:avLst/>
          </a:prstGeom>
          <a:gradFill rotWithShape="1">
            <a:gsLst>
              <a:gs pos="25000">
                <a:srgbClr val="BCA045">
                  <a:alpha val="100000"/>
                </a:srgbClr>
              </a:gs>
              <a:gs pos="25000">
                <a:srgbClr val="017864">
                  <a:alpha val="100000"/>
                </a:srgbClr>
              </a:gs>
            </a:gsLst>
            <a:lin ang="18900000" scaled="0"/>
          </a:gradFill>
          <a:ln/>
        </p:spPr>
        <p:txBody>
          <a:bodyPr/>
          <a:lstStyle/>
          <a:p>
            <a:endParaRPr lang="en-FR"/>
          </a:p>
        </p:txBody>
      </p:sp>
      <p:sp>
        <p:nvSpPr>
          <p:cNvPr id="34" name="Text 30"/>
          <p:cNvSpPr/>
          <p:nvPr/>
        </p:nvSpPr>
        <p:spPr>
          <a:xfrm>
            <a:off x="3461445" y="6646069"/>
            <a:ext cx="195486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3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788"/>
          </a:p>
        </p:txBody>
      </p:sp>
      <p:sp>
        <p:nvSpPr>
          <p:cNvPr id="35" name="Shape 31"/>
          <p:cNvSpPr/>
          <p:nvPr/>
        </p:nvSpPr>
        <p:spPr>
          <a:xfrm>
            <a:off x="3733130" y="6334125"/>
            <a:ext cx="324743" cy="523875"/>
          </a:xfrm>
          <a:prstGeom prst="rect">
            <a:avLst/>
          </a:prstGeom>
          <a:gradFill rotWithShape="1">
            <a:gsLst>
              <a:gs pos="25000">
                <a:srgbClr val="017864">
                  <a:alpha val="100000"/>
                </a:srgbClr>
              </a:gs>
              <a:gs pos="25000">
                <a:srgbClr val="013F34">
                  <a:alpha val="100000"/>
                </a:srgbClr>
              </a:gs>
            </a:gsLst>
            <a:lin ang="18900000" scaled="0"/>
          </a:gradFill>
          <a:ln/>
        </p:spPr>
        <p:txBody>
          <a:bodyPr/>
          <a:lstStyle/>
          <a:p>
            <a:endParaRPr lang="en-FR"/>
          </a:p>
        </p:txBody>
      </p:sp>
      <p:sp>
        <p:nvSpPr>
          <p:cNvPr id="36" name="Shape 32"/>
          <p:cNvSpPr/>
          <p:nvPr/>
        </p:nvSpPr>
        <p:spPr>
          <a:xfrm>
            <a:off x="4057873" y="6334125"/>
            <a:ext cx="8134127" cy="523875"/>
          </a:xfrm>
          <a:prstGeom prst="rect">
            <a:avLst/>
          </a:prstGeom>
          <a:solidFill>
            <a:srgbClr val="013F34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37" name="Text 33"/>
          <p:cNvSpPr/>
          <p:nvPr/>
        </p:nvSpPr>
        <p:spPr>
          <a:xfrm>
            <a:off x="7262515" y="6488906"/>
            <a:ext cx="80010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07143"/>
              </a:lnSpc>
              <a:buNone/>
            </a:pPr>
            <a:r>
              <a:rPr lang="en-US" sz="675" kern="0" spc="41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THE CONVERSATION</a:t>
            </a:r>
            <a:endParaRPr lang="en-US" sz="675"/>
          </a:p>
        </p:txBody>
      </p:sp>
      <p:sp>
        <p:nvSpPr>
          <p:cNvPr id="38" name="Text 34"/>
          <p:cNvSpPr/>
          <p:nvPr/>
        </p:nvSpPr>
        <p:spPr>
          <a:xfrm>
            <a:off x="8310265" y="6496050"/>
            <a:ext cx="187301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08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#FABCONEUROPE</a:t>
            </a:r>
            <a:endParaRPr lang="en-US" sz="1350"/>
          </a:p>
        </p:txBody>
      </p:sp>
      <p:sp>
        <p:nvSpPr>
          <p:cNvPr id="39" name="Text 35"/>
          <p:cNvSpPr/>
          <p:nvPr/>
        </p:nvSpPr>
        <p:spPr>
          <a:xfrm>
            <a:off x="10260657" y="6496050"/>
            <a:ext cx="189397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08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#SQLCONEUROPE</a:t>
            </a:r>
            <a:endParaRPr lang="en-US" sz="13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39820" y="247650"/>
            <a:ext cx="3121558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72">
                <a:solidFill>
                  <a:srgbClr val="4B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RECORD OR LIVESTREAM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914400" y="742950"/>
            <a:ext cx="1139952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b="1" kern="0" spc="86">
                <a:solidFill>
                  <a:srgbClr val="017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1 · SOLUTION</a:t>
            </a:r>
            <a:endParaRPr lang="en-US" sz="1425"/>
          </a:p>
        </p:txBody>
      </p:sp>
      <p:sp>
        <p:nvSpPr>
          <p:cNvPr id="4" name="Text 2"/>
          <p:cNvSpPr/>
          <p:nvPr/>
        </p:nvSpPr>
        <p:spPr>
          <a:xfrm>
            <a:off x="914400" y="1100138"/>
            <a:ext cx="11399520" cy="488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556"/>
              </a:lnSpc>
              <a:buNone/>
            </a:pPr>
            <a:r>
              <a:rPr lang="en-US" sz="3225" b="1" kern="0" spc="-32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Medallion layers in the Eventhouse</a:t>
            </a:r>
            <a:endParaRPr lang="en-US" sz="3225"/>
          </a:p>
        </p:txBody>
      </p:sp>
      <p:sp>
        <p:nvSpPr>
          <p:cNvPr id="5" name="Shape 3"/>
          <p:cNvSpPr/>
          <p:nvPr/>
        </p:nvSpPr>
        <p:spPr>
          <a:xfrm>
            <a:off x="914400" y="1893540"/>
            <a:ext cx="3276600" cy="385479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6" name="Text 4"/>
          <p:cNvSpPr/>
          <p:nvPr/>
        </p:nvSpPr>
        <p:spPr>
          <a:xfrm>
            <a:off x="1143000" y="2160240"/>
            <a:ext cx="310134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b="1" kern="0" spc="86">
                <a:solidFill>
                  <a:srgbClr val="017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</a:t>
            </a:r>
            <a:endParaRPr lang="en-US" sz="1425"/>
          </a:p>
        </p:txBody>
      </p:sp>
      <p:sp>
        <p:nvSpPr>
          <p:cNvPr id="7" name="Text 5"/>
          <p:cNvSpPr/>
          <p:nvPr/>
        </p:nvSpPr>
        <p:spPr>
          <a:xfrm>
            <a:off x="1143000" y="2498378"/>
            <a:ext cx="2903982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3385"/>
              </a:lnSpc>
              <a:buNone/>
            </a:pPr>
            <a:r>
              <a:rPr lang="en-US" sz="2100" b="1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ingest, unmodified</a:t>
            </a:r>
            <a:endParaRPr lang="en-US" sz="2100"/>
          </a:p>
        </p:txBody>
      </p:sp>
      <p:sp>
        <p:nvSpPr>
          <p:cNvPr id="8" name="Text 6"/>
          <p:cNvSpPr/>
          <p:nvPr/>
        </p:nvSpPr>
        <p:spPr>
          <a:xfrm>
            <a:off x="1143000" y="3271689"/>
            <a:ext cx="2903982" cy="1272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818"/>
              </a:lnSpc>
              <a:buNone/>
            </a:pPr>
            <a:r>
              <a:rPr lang="en-US" sz="1800">
                <a:solidFill>
                  <a:srgbClr val="4B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Eventstream tables plus 4 reference tables loaded natively from seeded CSVs.</a:t>
            </a:r>
            <a:endParaRPr lang="en-US" sz="1800"/>
          </a:p>
        </p:txBody>
      </p:sp>
      <p:sp>
        <p:nvSpPr>
          <p:cNvPr id="9" name="Shape 7"/>
          <p:cNvSpPr/>
          <p:nvPr/>
        </p:nvSpPr>
        <p:spPr>
          <a:xfrm>
            <a:off x="4457700" y="1893540"/>
            <a:ext cx="3276600" cy="385479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0" name="Text 8"/>
          <p:cNvSpPr/>
          <p:nvPr/>
        </p:nvSpPr>
        <p:spPr>
          <a:xfrm>
            <a:off x="4686300" y="2160240"/>
            <a:ext cx="310134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b="1" kern="0" spc="86">
                <a:solidFill>
                  <a:srgbClr val="017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</a:t>
            </a:r>
            <a:endParaRPr lang="en-US" sz="1425"/>
          </a:p>
        </p:txBody>
      </p:sp>
      <p:sp>
        <p:nvSpPr>
          <p:cNvPr id="11" name="Text 9"/>
          <p:cNvSpPr/>
          <p:nvPr/>
        </p:nvSpPr>
        <p:spPr>
          <a:xfrm>
            <a:off x="4686300" y="2498378"/>
            <a:ext cx="2903982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3385"/>
              </a:lnSpc>
              <a:buNone/>
            </a:pPr>
            <a:r>
              <a:rPr lang="en-US" sz="2100" b="1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Pivoted per stage, dimensions joined</a:t>
            </a:r>
            <a:endParaRPr lang="en-US" sz="2100"/>
          </a:p>
        </p:txBody>
      </p:sp>
      <p:sp>
        <p:nvSpPr>
          <p:cNvPr id="12" name="Text 10"/>
          <p:cNvSpPr/>
          <p:nvPr/>
        </p:nvSpPr>
        <p:spPr>
          <a:xfrm>
            <a:off x="4686300" y="3271689"/>
            <a:ext cx="2903982" cy="1581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818"/>
              </a:lnSpc>
              <a:buNone/>
            </a:pPr>
            <a:r>
              <a:rPr lang="en-US" sz="1800">
                <a:solidFill>
                  <a:srgbClr val="4B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policies pivot EAV readings into wide per-stage tables. silver_batch is a materialized view over explicit lifecycle events.</a:t>
            </a:r>
            <a:endParaRPr lang="en-US" sz="1800"/>
          </a:p>
        </p:txBody>
      </p:sp>
      <p:sp>
        <p:nvSpPr>
          <p:cNvPr id="13" name="Shape 11"/>
          <p:cNvSpPr/>
          <p:nvPr/>
        </p:nvSpPr>
        <p:spPr>
          <a:xfrm>
            <a:off x="8001000" y="1893540"/>
            <a:ext cx="3276600" cy="3854797"/>
          </a:xfrm>
          <a:prstGeom prst="rect">
            <a:avLst/>
          </a:prstGeom>
          <a:solidFill>
            <a:srgbClr val="013F34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4" name="Text 12"/>
          <p:cNvSpPr/>
          <p:nvPr/>
        </p:nvSpPr>
        <p:spPr>
          <a:xfrm>
            <a:off x="8229600" y="2160240"/>
            <a:ext cx="310134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b="1" kern="0" spc="86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</a:t>
            </a:r>
            <a:endParaRPr lang="en-US" sz="1425"/>
          </a:p>
        </p:txBody>
      </p:sp>
      <p:sp>
        <p:nvSpPr>
          <p:cNvPr id="15" name="Text 13"/>
          <p:cNvSpPr/>
          <p:nvPr/>
        </p:nvSpPr>
        <p:spPr>
          <a:xfrm>
            <a:off x="8229600" y="2498378"/>
            <a:ext cx="2903982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3385"/>
              </a:lnSpc>
              <a:buNone/>
            </a:pPr>
            <a:r>
              <a:rPr lang="en-US" sz="21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Pre-aggregated, semantically named</a:t>
            </a:r>
            <a:endParaRPr lang="en-US" sz="2100"/>
          </a:p>
        </p:txBody>
      </p:sp>
      <p:sp>
        <p:nvSpPr>
          <p:cNvPr id="16" name="Text 14"/>
          <p:cNvSpPr/>
          <p:nvPr/>
        </p:nvSpPr>
        <p:spPr>
          <a:xfrm>
            <a:off x="8229600" y="3271689"/>
            <a:ext cx="2903982" cy="1272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818"/>
              </a:lnSpc>
              <a:buNone/>
            </a:pPr>
            <a:r>
              <a:rPr lang="en-US" sz="180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true materialized view plus three stored functions where a rollup needs more than one source table.</a:t>
            </a:r>
            <a:endParaRPr lang="en-US" sz="1800"/>
          </a:p>
        </p:txBody>
      </p:sp>
      <p:sp>
        <p:nvSpPr>
          <p:cNvPr id="17" name="Text 15"/>
          <p:cNvSpPr/>
          <p:nvPr/>
        </p:nvSpPr>
        <p:spPr>
          <a:xfrm>
            <a:off x="914400" y="5748338"/>
            <a:ext cx="1139952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b="1" kern="0" spc="86">
                <a:solidFill>
                  <a:srgbClr val="017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QUERY GOLD ONLY — NEVER BRONZE OR SILVER DIRECTLY</a:t>
            </a:r>
            <a:endParaRPr lang="en-US" sz="1425"/>
          </a:p>
        </p:txBody>
      </p:sp>
      <p:sp>
        <p:nvSpPr>
          <p:cNvPr id="18" name="Shape 16"/>
          <p:cNvSpPr/>
          <p:nvPr/>
        </p:nvSpPr>
        <p:spPr>
          <a:xfrm>
            <a:off x="0" y="6334125"/>
            <a:ext cx="2975595" cy="523875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" y="6407497"/>
            <a:ext cx="391344" cy="377130"/>
          </a:xfrm>
          <a:prstGeom prst="rect">
            <a:avLst/>
          </a:prstGeom>
        </p:spPr>
      </p:pic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44" y="6422529"/>
            <a:ext cx="652537" cy="346993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2975595" y="6334125"/>
            <a:ext cx="757535" cy="523875"/>
          </a:xfrm>
          <a:prstGeom prst="rect">
            <a:avLst/>
          </a:prstGeom>
          <a:solidFill>
            <a:srgbClr val="017864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22" name="Text 18"/>
          <p:cNvSpPr/>
          <p:nvPr/>
        </p:nvSpPr>
        <p:spPr>
          <a:xfrm>
            <a:off x="3127995" y="6386066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</a:t>
            </a:r>
            <a:endParaRPr lang="en-US" sz="788"/>
          </a:p>
        </p:txBody>
      </p:sp>
      <p:sp>
        <p:nvSpPr>
          <p:cNvPr id="23" name="Text 19"/>
          <p:cNvSpPr/>
          <p:nvPr/>
        </p:nvSpPr>
        <p:spPr>
          <a:xfrm>
            <a:off x="3127995" y="6526039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</a:t>
            </a:r>
            <a:endParaRPr lang="en-US" sz="788"/>
          </a:p>
        </p:txBody>
      </p:sp>
      <p:sp>
        <p:nvSpPr>
          <p:cNvPr id="24" name="Text 20"/>
          <p:cNvSpPr/>
          <p:nvPr/>
        </p:nvSpPr>
        <p:spPr>
          <a:xfrm>
            <a:off x="3127995" y="6666012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ONA</a:t>
            </a:r>
            <a:endParaRPr lang="en-US" sz="788"/>
          </a:p>
        </p:txBody>
      </p:sp>
      <p:sp>
        <p:nvSpPr>
          <p:cNvPr id="25" name="Text 21"/>
          <p:cNvSpPr/>
          <p:nvPr/>
        </p:nvSpPr>
        <p:spPr>
          <a:xfrm>
            <a:off x="3461445" y="6406083"/>
            <a:ext cx="195486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3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788"/>
          </a:p>
        </p:txBody>
      </p:sp>
      <p:sp>
        <p:nvSpPr>
          <p:cNvPr id="26" name="Shape 22"/>
          <p:cNvSpPr/>
          <p:nvPr/>
        </p:nvSpPr>
        <p:spPr>
          <a:xfrm>
            <a:off x="3461445" y="6562725"/>
            <a:ext cx="104775" cy="66675"/>
          </a:xfrm>
          <a:prstGeom prst="rect">
            <a:avLst/>
          </a:prstGeom>
          <a:gradFill rotWithShape="1">
            <a:gsLst>
              <a:gs pos="25000">
                <a:srgbClr val="BCA045">
                  <a:alpha val="100000"/>
                </a:srgbClr>
              </a:gs>
              <a:gs pos="25000">
                <a:srgbClr val="017864">
                  <a:alpha val="100000"/>
                </a:srgbClr>
              </a:gs>
            </a:gsLst>
            <a:lin ang="18900000" scaled="0"/>
          </a:gradFill>
          <a:ln/>
        </p:spPr>
        <p:txBody>
          <a:bodyPr/>
          <a:lstStyle/>
          <a:p>
            <a:endParaRPr lang="en-FR"/>
          </a:p>
        </p:txBody>
      </p:sp>
      <p:sp>
        <p:nvSpPr>
          <p:cNvPr id="27" name="Text 23"/>
          <p:cNvSpPr/>
          <p:nvPr/>
        </p:nvSpPr>
        <p:spPr>
          <a:xfrm>
            <a:off x="3461445" y="6646069"/>
            <a:ext cx="195486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3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788"/>
          </a:p>
        </p:txBody>
      </p:sp>
      <p:sp>
        <p:nvSpPr>
          <p:cNvPr id="28" name="Shape 24"/>
          <p:cNvSpPr/>
          <p:nvPr/>
        </p:nvSpPr>
        <p:spPr>
          <a:xfrm>
            <a:off x="3733130" y="6334125"/>
            <a:ext cx="324743" cy="523875"/>
          </a:xfrm>
          <a:prstGeom prst="rect">
            <a:avLst/>
          </a:prstGeom>
          <a:gradFill rotWithShape="1">
            <a:gsLst>
              <a:gs pos="25000">
                <a:srgbClr val="017864">
                  <a:alpha val="100000"/>
                </a:srgbClr>
              </a:gs>
              <a:gs pos="25000">
                <a:srgbClr val="013F34">
                  <a:alpha val="100000"/>
                </a:srgbClr>
              </a:gs>
            </a:gsLst>
            <a:lin ang="18900000" scaled="0"/>
          </a:gradFill>
          <a:ln/>
        </p:spPr>
        <p:txBody>
          <a:bodyPr/>
          <a:lstStyle/>
          <a:p>
            <a:endParaRPr lang="en-FR"/>
          </a:p>
        </p:txBody>
      </p:sp>
      <p:sp>
        <p:nvSpPr>
          <p:cNvPr id="29" name="Shape 25"/>
          <p:cNvSpPr/>
          <p:nvPr/>
        </p:nvSpPr>
        <p:spPr>
          <a:xfrm>
            <a:off x="4057873" y="6334125"/>
            <a:ext cx="8134127" cy="523875"/>
          </a:xfrm>
          <a:prstGeom prst="rect">
            <a:avLst/>
          </a:prstGeom>
          <a:solidFill>
            <a:srgbClr val="013F34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30" name="Text 26"/>
          <p:cNvSpPr/>
          <p:nvPr/>
        </p:nvSpPr>
        <p:spPr>
          <a:xfrm>
            <a:off x="7262515" y="6488906"/>
            <a:ext cx="80010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07143"/>
              </a:lnSpc>
              <a:buNone/>
            </a:pPr>
            <a:r>
              <a:rPr lang="en-US" sz="675" kern="0" spc="41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THE CONVERSATION</a:t>
            </a:r>
            <a:endParaRPr lang="en-US" sz="675"/>
          </a:p>
        </p:txBody>
      </p:sp>
      <p:sp>
        <p:nvSpPr>
          <p:cNvPr id="31" name="Text 27"/>
          <p:cNvSpPr/>
          <p:nvPr/>
        </p:nvSpPr>
        <p:spPr>
          <a:xfrm>
            <a:off x="8310265" y="6496050"/>
            <a:ext cx="187301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08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#FABCONEUROPE</a:t>
            </a:r>
            <a:endParaRPr lang="en-US" sz="1350"/>
          </a:p>
        </p:txBody>
      </p:sp>
      <p:sp>
        <p:nvSpPr>
          <p:cNvPr id="32" name="Text 28"/>
          <p:cNvSpPr/>
          <p:nvPr/>
        </p:nvSpPr>
        <p:spPr>
          <a:xfrm>
            <a:off x="10260657" y="6496050"/>
            <a:ext cx="189397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08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#SQLCONEUROPE</a:t>
            </a:r>
            <a:endParaRPr lang="en-US" sz="13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A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16251">
                  <a:alpha val="100000"/>
                </a:srgbClr>
              </a:gs>
              <a:gs pos="55000">
                <a:srgbClr val="013F34">
                  <a:alpha val="100000"/>
                </a:srgbClr>
              </a:gs>
              <a:gs pos="100000">
                <a:srgbClr val="002820">
                  <a:alpha val="100000"/>
                </a:srgbClr>
              </a:gs>
            </a:gsLst>
            <a:lin ang="8100000" scaled="0"/>
          </a:gradFill>
          <a:ln/>
        </p:spPr>
        <p:txBody>
          <a:bodyPr/>
          <a:lstStyle/>
          <a:p>
            <a:endParaRPr lang="en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838200" cy="6334125"/>
          </a:xfrm>
          <a:prstGeom prst="rect">
            <a:avLst/>
          </a:prstGeom>
          <a:gradFill rotWithShape="1">
            <a:gsLst>
              <a:gs pos="25000">
                <a:srgbClr val="017864">
                  <a:alpha val="100000"/>
                </a:srgbClr>
              </a:gs>
              <a:gs pos="25000">
                <a:srgbClr val="017864">
                  <a:alpha val="0"/>
                </a:srgbClr>
              </a:gs>
            </a:gsLst>
            <a:lin ang="18900000" scaled="0"/>
          </a:gradFill>
          <a:ln/>
        </p:spPr>
        <p:txBody>
          <a:bodyPr/>
          <a:lstStyle/>
          <a:p>
            <a:endParaRPr lang="en-FR"/>
          </a:p>
        </p:txBody>
      </p:sp>
      <p:sp>
        <p:nvSpPr>
          <p:cNvPr id="4" name="Text 2"/>
          <p:cNvSpPr/>
          <p:nvPr/>
        </p:nvSpPr>
        <p:spPr>
          <a:xfrm>
            <a:off x="1752600" y="2330276"/>
            <a:ext cx="1047750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b="1" kern="0" spc="86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02</a:t>
            </a:r>
            <a:endParaRPr lang="en-US" sz="1425"/>
          </a:p>
        </p:txBody>
      </p:sp>
      <p:sp>
        <p:nvSpPr>
          <p:cNvPr id="5" name="Text 3"/>
          <p:cNvSpPr/>
          <p:nvPr/>
        </p:nvSpPr>
        <p:spPr>
          <a:xfrm>
            <a:off x="1752600" y="2725564"/>
            <a:ext cx="10477500" cy="792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422"/>
              </a:lnSpc>
              <a:buNone/>
            </a:pPr>
            <a:r>
              <a:rPr lang="en-US" sz="5400" b="1" kern="0" spc="-54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Context Challenge</a:t>
            </a:r>
            <a:endParaRPr lang="en-US" sz="5400"/>
          </a:p>
        </p:txBody>
      </p:sp>
      <p:sp>
        <p:nvSpPr>
          <p:cNvPr id="6" name="Shape 4"/>
          <p:cNvSpPr/>
          <p:nvPr/>
        </p:nvSpPr>
        <p:spPr>
          <a:xfrm>
            <a:off x="0" y="6334125"/>
            <a:ext cx="2975595" cy="523875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" y="6407497"/>
            <a:ext cx="391344" cy="377130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44" y="6422529"/>
            <a:ext cx="652537" cy="346993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975595" y="6334125"/>
            <a:ext cx="757535" cy="523875"/>
          </a:xfrm>
          <a:prstGeom prst="rect">
            <a:avLst/>
          </a:prstGeom>
          <a:solidFill>
            <a:srgbClr val="017864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0" name="Text 6"/>
          <p:cNvSpPr/>
          <p:nvPr/>
        </p:nvSpPr>
        <p:spPr>
          <a:xfrm>
            <a:off x="3127995" y="6386066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</a:t>
            </a:r>
            <a:endParaRPr lang="en-US" sz="788"/>
          </a:p>
        </p:txBody>
      </p:sp>
      <p:sp>
        <p:nvSpPr>
          <p:cNvPr id="11" name="Text 7"/>
          <p:cNvSpPr/>
          <p:nvPr/>
        </p:nvSpPr>
        <p:spPr>
          <a:xfrm>
            <a:off x="3127995" y="6526039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</a:t>
            </a:r>
            <a:endParaRPr lang="en-US" sz="788"/>
          </a:p>
        </p:txBody>
      </p:sp>
      <p:sp>
        <p:nvSpPr>
          <p:cNvPr id="12" name="Text 8"/>
          <p:cNvSpPr/>
          <p:nvPr/>
        </p:nvSpPr>
        <p:spPr>
          <a:xfrm>
            <a:off x="3127995" y="6666012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ONA</a:t>
            </a:r>
            <a:endParaRPr lang="en-US" sz="788"/>
          </a:p>
        </p:txBody>
      </p:sp>
      <p:sp>
        <p:nvSpPr>
          <p:cNvPr id="13" name="Text 9"/>
          <p:cNvSpPr/>
          <p:nvPr/>
        </p:nvSpPr>
        <p:spPr>
          <a:xfrm>
            <a:off x="3461445" y="6406083"/>
            <a:ext cx="195486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3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788"/>
          </a:p>
        </p:txBody>
      </p:sp>
      <p:sp>
        <p:nvSpPr>
          <p:cNvPr id="14" name="Shape 10"/>
          <p:cNvSpPr/>
          <p:nvPr/>
        </p:nvSpPr>
        <p:spPr>
          <a:xfrm>
            <a:off x="3461445" y="6562725"/>
            <a:ext cx="104775" cy="66675"/>
          </a:xfrm>
          <a:prstGeom prst="rect">
            <a:avLst/>
          </a:prstGeom>
          <a:gradFill rotWithShape="1">
            <a:gsLst>
              <a:gs pos="25000">
                <a:srgbClr val="BCA045">
                  <a:alpha val="100000"/>
                </a:srgbClr>
              </a:gs>
              <a:gs pos="25000">
                <a:srgbClr val="017864">
                  <a:alpha val="100000"/>
                </a:srgbClr>
              </a:gs>
            </a:gsLst>
            <a:lin ang="18900000" scaled="0"/>
          </a:gradFill>
          <a:ln/>
        </p:spPr>
        <p:txBody>
          <a:bodyPr/>
          <a:lstStyle/>
          <a:p>
            <a:endParaRPr lang="en-FR"/>
          </a:p>
        </p:txBody>
      </p:sp>
      <p:sp>
        <p:nvSpPr>
          <p:cNvPr id="15" name="Text 11"/>
          <p:cNvSpPr/>
          <p:nvPr/>
        </p:nvSpPr>
        <p:spPr>
          <a:xfrm>
            <a:off x="3461445" y="6646069"/>
            <a:ext cx="195486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3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788"/>
          </a:p>
        </p:txBody>
      </p:sp>
      <p:sp>
        <p:nvSpPr>
          <p:cNvPr id="16" name="Shape 12"/>
          <p:cNvSpPr/>
          <p:nvPr/>
        </p:nvSpPr>
        <p:spPr>
          <a:xfrm>
            <a:off x="3733130" y="6334125"/>
            <a:ext cx="324743" cy="523875"/>
          </a:xfrm>
          <a:prstGeom prst="rect">
            <a:avLst/>
          </a:prstGeom>
          <a:gradFill rotWithShape="1">
            <a:gsLst>
              <a:gs pos="25000">
                <a:srgbClr val="017864">
                  <a:alpha val="100000"/>
                </a:srgbClr>
              </a:gs>
              <a:gs pos="25000">
                <a:srgbClr val="013F34">
                  <a:alpha val="100000"/>
                </a:srgbClr>
              </a:gs>
            </a:gsLst>
            <a:lin ang="18900000" scaled="0"/>
          </a:gradFill>
          <a:ln/>
        </p:spPr>
        <p:txBody>
          <a:bodyPr/>
          <a:lstStyle/>
          <a:p>
            <a:endParaRPr lang="en-FR"/>
          </a:p>
        </p:txBody>
      </p:sp>
      <p:sp>
        <p:nvSpPr>
          <p:cNvPr id="17" name="Shape 13"/>
          <p:cNvSpPr/>
          <p:nvPr/>
        </p:nvSpPr>
        <p:spPr>
          <a:xfrm>
            <a:off x="4057873" y="6334125"/>
            <a:ext cx="8134127" cy="523875"/>
          </a:xfrm>
          <a:prstGeom prst="rect">
            <a:avLst/>
          </a:prstGeom>
          <a:solidFill>
            <a:srgbClr val="013F34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8" name="Text 14"/>
          <p:cNvSpPr/>
          <p:nvPr/>
        </p:nvSpPr>
        <p:spPr>
          <a:xfrm>
            <a:off x="7262515" y="6488906"/>
            <a:ext cx="80010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07143"/>
              </a:lnSpc>
              <a:buNone/>
            </a:pPr>
            <a:r>
              <a:rPr lang="en-US" sz="675" kern="0" spc="41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THE CONVERSATION</a:t>
            </a:r>
            <a:endParaRPr lang="en-US" sz="675"/>
          </a:p>
        </p:txBody>
      </p:sp>
      <p:sp>
        <p:nvSpPr>
          <p:cNvPr id="19" name="Text 15"/>
          <p:cNvSpPr/>
          <p:nvPr/>
        </p:nvSpPr>
        <p:spPr>
          <a:xfrm>
            <a:off x="8310265" y="6496050"/>
            <a:ext cx="187301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08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#FABCONEUROPE</a:t>
            </a:r>
            <a:endParaRPr lang="en-US" sz="1350"/>
          </a:p>
        </p:txBody>
      </p:sp>
      <p:sp>
        <p:nvSpPr>
          <p:cNvPr id="20" name="Text 16"/>
          <p:cNvSpPr/>
          <p:nvPr/>
        </p:nvSpPr>
        <p:spPr>
          <a:xfrm>
            <a:off x="10260657" y="6496050"/>
            <a:ext cx="189397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08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#SQLCONEUROPE</a:t>
            </a:r>
            <a:endParaRPr lang="en-US" sz="13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39820" y="247650"/>
            <a:ext cx="3121558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72">
                <a:solidFill>
                  <a:srgbClr val="4B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RECORD OR LIVESTREAM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914400" y="742950"/>
            <a:ext cx="1139952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b="1" kern="0" spc="86">
                <a:solidFill>
                  <a:srgbClr val="017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2 · PROBLEM</a:t>
            </a:r>
            <a:endParaRPr lang="en-US" sz="1425"/>
          </a:p>
        </p:txBody>
      </p:sp>
      <p:sp>
        <p:nvSpPr>
          <p:cNvPr id="4" name="Text 2"/>
          <p:cNvSpPr/>
          <p:nvPr/>
        </p:nvSpPr>
        <p:spPr>
          <a:xfrm>
            <a:off x="914400" y="1100138"/>
            <a:ext cx="11399520" cy="488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556"/>
              </a:lnSpc>
              <a:buNone/>
            </a:pPr>
            <a:r>
              <a:rPr lang="en-US" sz="3225" b="1" kern="0" spc="-32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storage, unresolved meaning</a:t>
            </a:r>
            <a:endParaRPr lang="en-US" sz="3225"/>
          </a:p>
        </p:txBody>
      </p:sp>
      <p:sp>
        <p:nvSpPr>
          <p:cNvPr id="5" name="Text 3"/>
          <p:cNvSpPr/>
          <p:nvPr/>
        </p:nvSpPr>
        <p:spPr>
          <a:xfrm>
            <a:off x="914400" y="2161208"/>
            <a:ext cx="5315434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391"/>
              </a:lnSpc>
              <a:buNone/>
            </a:pPr>
            <a:r>
              <a:rPr lang="en-US" sz="225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Telemetry and ERP data now sit in the same lake. What you have is still raw tables and columns with no business semantics.</a:t>
            </a:r>
            <a:endParaRPr lang="en-US" sz="2250"/>
          </a:p>
        </p:txBody>
      </p:sp>
      <p:sp>
        <p:nvSpPr>
          <p:cNvPr id="6" name="Text 4"/>
          <p:cNvSpPr/>
          <p:nvPr/>
        </p:nvSpPr>
        <p:spPr>
          <a:xfrm>
            <a:off x="914400" y="3951908"/>
            <a:ext cx="5315434" cy="1771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333"/>
              </a:lnSpc>
              <a:buNone/>
            </a:pPr>
            <a:r>
              <a:rPr lang="en-US" sz="1950">
                <a:solidFill>
                  <a:srgbClr val="4B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in the physical schema says that line_id in one table and production_line in another are the same concept — or that a quality check belongs to a batch, which belongs to a sales order.</a:t>
            </a:r>
            <a:endParaRPr lang="en-US" sz="1950"/>
          </a:p>
        </p:txBody>
      </p:sp>
      <p:sp>
        <p:nvSpPr>
          <p:cNvPr id="7" name="Shape 5"/>
          <p:cNvSpPr/>
          <p:nvPr/>
        </p:nvSpPr>
        <p:spPr>
          <a:xfrm>
            <a:off x="6608415" y="2830339"/>
            <a:ext cx="4669110" cy="2185988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8" name="Text 6"/>
          <p:cNvSpPr/>
          <p:nvPr/>
        </p:nvSpPr>
        <p:spPr>
          <a:xfrm>
            <a:off x="6875115" y="3135139"/>
            <a:ext cx="4549281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b="1" kern="0" spc="86">
                <a:solidFill>
                  <a:srgbClr val="017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CONCEPT, THREE NAMES</a:t>
            </a:r>
            <a:endParaRPr lang="en-US" sz="1425"/>
          </a:p>
        </p:txBody>
      </p:sp>
      <p:sp>
        <p:nvSpPr>
          <p:cNvPr id="9" name="Text 7"/>
          <p:cNvSpPr/>
          <p:nvPr/>
        </p:nvSpPr>
        <p:spPr>
          <a:xfrm>
            <a:off x="6875115" y="3511376"/>
            <a:ext cx="454928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silver_quality_check.line_id</a:t>
            </a:r>
            <a:endParaRPr lang="en-US" sz="1950"/>
          </a:p>
        </p:txBody>
      </p:sp>
      <p:sp>
        <p:nvSpPr>
          <p:cNvPr id="10" name="Text 8"/>
          <p:cNvSpPr/>
          <p:nvPr/>
        </p:nvSpPr>
        <p:spPr>
          <a:xfrm>
            <a:off x="6875115" y="3968576"/>
            <a:ext cx="454928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dim_line.production_line</a:t>
            </a:r>
            <a:endParaRPr lang="en-US" sz="1950"/>
          </a:p>
        </p:txBody>
      </p:sp>
      <p:sp>
        <p:nvSpPr>
          <p:cNvPr id="11" name="Text 9"/>
          <p:cNvSpPr/>
          <p:nvPr/>
        </p:nvSpPr>
        <p:spPr>
          <a:xfrm>
            <a:off x="6875115" y="4425776"/>
            <a:ext cx="454928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erp_orders.line_ref</a:t>
            </a:r>
            <a:endParaRPr lang="en-US" sz="1950"/>
          </a:p>
        </p:txBody>
      </p:sp>
      <p:sp>
        <p:nvSpPr>
          <p:cNvPr id="12" name="Shape 10"/>
          <p:cNvSpPr/>
          <p:nvPr/>
        </p:nvSpPr>
        <p:spPr>
          <a:xfrm>
            <a:off x="0" y="6334125"/>
            <a:ext cx="2975595" cy="523875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" y="6407497"/>
            <a:ext cx="391344" cy="377130"/>
          </a:xfrm>
          <a:prstGeom prst="rect">
            <a:avLst/>
          </a:prstGeom>
        </p:spPr>
      </p:pic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44" y="6422529"/>
            <a:ext cx="652537" cy="346993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975595" y="6334125"/>
            <a:ext cx="757535" cy="523875"/>
          </a:xfrm>
          <a:prstGeom prst="rect">
            <a:avLst/>
          </a:prstGeom>
          <a:solidFill>
            <a:srgbClr val="017864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6" name="Text 12"/>
          <p:cNvSpPr/>
          <p:nvPr/>
        </p:nvSpPr>
        <p:spPr>
          <a:xfrm>
            <a:off x="3127995" y="6386066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</a:t>
            </a:r>
            <a:endParaRPr lang="en-US" sz="788"/>
          </a:p>
        </p:txBody>
      </p:sp>
      <p:sp>
        <p:nvSpPr>
          <p:cNvPr id="17" name="Text 13"/>
          <p:cNvSpPr/>
          <p:nvPr/>
        </p:nvSpPr>
        <p:spPr>
          <a:xfrm>
            <a:off x="3127995" y="6526039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</a:t>
            </a:r>
            <a:endParaRPr lang="en-US" sz="788"/>
          </a:p>
        </p:txBody>
      </p:sp>
      <p:sp>
        <p:nvSpPr>
          <p:cNvPr id="18" name="Text 14"/>
          <p:cNvSpPr/>
          <p:nvPr/>
        </p:nvSpPr>
        <p:spPr>
          <a:xfrm>
            <a:off x="3127995" y="6666012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ONA</a:t>
            </a:r>
            <a:endParaRPr lang="en-US" sz="788"/>
          </a:p>
        </p:txBody>
      </p:sp>
      <p:sp>
        <p:nvSpPr>
          <p:cNvPr id="19" name="Text 15"/>
          <p:cNvSpPr/>
          <p:nvPr/>
        </p:nvSpPr>
        <p:spPr>
          <a:xfrm>
            <a:off x="3461445" y="6406083"/>
            <a:ext cx="195486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3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788"/>
          </a:p>
        </p:txBody>
      </p:sp>
      <p:sp>
        <p:nvSpPr>
          <p:cNvPr id="20" name="Shape 16"/>
          <p:cNvSpPr/>
          <p:nvPr/>
        </p:nvSpPr>
        <p:spPr>
          <a:xfrm>
            <a:off x="3461445" y="6562725"/>
            <a:ext cx="104775" cy="66675"/>
          </a:xfrm>
          <a:prstGeom prst="rect">
            <a:avLst/>
          </a:prstGeom>
          <a:gradFill rotWithShape="1">
            <a:gsLst>
              <a:gs pos="25000">
                <a:srgbClr val="BCA045">
                  <a:alpha val="100000"/>
                </a:srgbClr>
              </a:gs>
              <a:gs pos="25000">
                <a:srgbClr val="017864">
                  <a:alpha val="100000"/>
                </a:srgbClr>
              </a:gs>
            </a:gsLst>
            <a:lin ang="18900000" scaled="0"/>
          </a:gradFill>
          <a:ln/>
        </p:spPr>
        <p:txBody>
          <a:bodyPr/>
          <a:lstStyle/>
          <a:p>
            <a:endParaRPr lang="en-FR"/>
          </a:p>
        </p:txBody>
      </p:sp>
      <p:sp>
        <p:nvSpPr>
          <p:cNvPr id="21" name="Text 17"/>
          <p:cNvSpPr/>
          <p:nvPr/>
        </p:nvSpPr>
        <p:spPr>
          <a:xfrm>
            <a:off x="3461445" y="6646069"/>
            <a:ext cx="195486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3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788"/>
          </a:p>
        </p:txBody>
      </p:sp>
      <p:sp>
        <p:nvSpPr>
          <p:cNvPr id="22" name="Shape 18"/>
          <p:cNvSpPr/>
          <p:nvPr/>
        </p:nvSpPr>
        <p:spPr>
          <a:xfrm>
            <a:off x="3733130" y="6334125"/>
            <a:ext cx="324743" cy="523875"/>
          </a:xfrm>
          <a:prstGeom prst="rect">
            <a:avLst/>
          </a:prstGeom>
          <a:gradFill rotWithShape="1">
            <a:gsLst>
              <a:gs pos="25000">
                <a:srgbClr val="017864">
                  <a:alpha val="100000"/>
                </a:srgbClr>
              </a:gs>
              <a:gs pos="25000">
                <a:srgbClr val="013F34">
                  <a:alpha val="100000"/>
                </a:srgbClr>
              </a:gs>
            </a:gsLst>
            <a:lin ang="18900000" scaled="0"/>
          </a:gradFill>
          <a:ln/>
        </p:spPr>
        <p:txBody>
          <a:bodyPr/>
          <a:lstStyle/>
          <a:p>
            <a:endParaRPr lang="en-FR"/>
          </a:p>
        </p:txBody>
      </p:sp>
      <p:sp>
        <p:nvSpPr>
          <p:cNvPr id="23" name="Shape 19"/>
          <p:cNvSpPr/>
          <p:nvPr/>
        </p:nvSpPr>
        <p:spPr>
          <a:xfrm>
            <a:off x="4057873" y="6334125"/>
            <a:ext cx="8134127" cy="523875"/>
          </a:xfrm>
          <a:prstGeom prst="rect">
            <a:avLst/>
          </a:prstGeom>
          <a:solidFill>
            <a:srgbClr val="013F34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24" name="Text 20"/>
          <p:cNvSpPr/>
          <p:nvPr/>
        </p:nvSpPr>
        <p:spPr>
          <a:xfrm>
            <a:off x="7262515" y="6488906"/>
            <a:ext cx="80010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07143"/>
              </a:lnSpc>
              <a:buNone/>
            </a:pPr>
            <a:r>
              <a:rPr lang="en-US" sz="675" kern="0" spc="41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THE CONVERSATION</a:t>
            </a:r>
            <a:endParaRPr lang="en-US" sz="675"/>
          </a:p>
        </p:txBody>
      </p:sp>
      <p:sp>
        <p:nvSpPr>
          <p:cNvPr id="25" name="Text 21"/>
          <p:cNvSpPr/>
          <p:nvPr/>
        </p:nvSpPr>
        <p:spPr>
          <a:xfrm>
            <a:off x="8310265" y="6496050"/>
            <a:ext cx="187301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08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#FABCONEUROPE</a:t>
            </a:r>
            <a:endParaRPr lang="en-US" sz="1350"/>
          </a:p>
        </p:txBody>
      </p:sp>
      <p:sp>
        <p:nvSpPr>
          <p:cNvPr id="26" name="Text 22"/>
          <p:cNvSpPr/>
          <p:nvPr/>
        </p:nvSpPr>
        <p:spPr>
          <a:xfrm>
            <a:off x="10260657" y="6496050"/>
            <a:ext cx="189397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08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#SQLCONEUROPE</a:t>
            </a:r>
            <a:endParaRPr lang="en-US" sz="13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39820" y="247650"/>
            <a:ext cx="3121558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72">
                <a:solidFill>
                  <a:srgbClr val="4B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RECORD OR LIVESTREAM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914400" y="742950"/>
            <a:ext cx="1139952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b="1" kern="0" spc="86">
                <a:solidFill>
                  <a:srgbClr val="017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2 · SOLUTION</a:t>
            </a:r>
            <a:endParaRPr lang="en-US" sz="1425"/>
          </a:p>
        </p:txBody>
      </p:sp>
      <p:sp>
        <p:nvSpPr>
          <p:cNvPr id="4" name="Text 2"/>
          <p:cNvSpPr/>
          <p:nvPr/>
        </p:nvSpPr>
        <p:spPr>
          <a:xfrm>
            <a:off x="914400" y="1100138"/>
            <a:ext cx="11399520" cy="488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556"/>
              </a:lnSpc>
              <a:buNone/>
            </a:pPr>
            <a:r>
              <a:rPr lang="en-US" sz="3225" b="1" kern="0" spc="-32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Entities and relationships, not tables</a:t>
            </a:r>
            <a:endParaRPr lang="en-US" sz="3225"/>
          </a:p>
        </p:txBody>
      </p:sp>
      <p:sp>
        <p:nvSpPr>
          <p:cNvPr id="5" name="Text 3"/>
          <p:cNvSpPr/>
          <p:nvPr/>
        </p:nvSpPr>
        <p:spPr>
          <a:xfrm>
            <a:off x="914400" y="1893540"/>
            <a:ext cx="360426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b="1" kern="0" spc="86">
                <a:solidFill>
                  <a:srgbClr val="017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LAYER IN ONELAKE</a:t>
            </a:r>
            <a:endParaRPr lang="en-US" sz="1425"/>
          </a:p>
        </p:txBody>
      </p:sp>
      <p:sp>
        <p:nvSpPr>
          <p:cNvPr id="6" name="Text 4"/>
          <p:cNvSpPr/>
          <p:nvPr/>
        </p:nvSpPr>
        <p:spPr>
          <a:xfrm>
            <a:off x="914400" y="2231678"/>
            <a:ext cx="3374898" cy="2377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5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types, properties, relationships, and bindings to lakehouses, eventhouses and semantic models. One entity can stand for several tables across several sources.</a:t>
            </a:r>
            <a:endParaRPr lang="en-US" sz="1950"/>
          </a:p>
        </p:txBody>
      </p:sp>
      <p:sp>
        <p:nvSpPr>
          <p:cNvPr id="7" name="Text 5"/>
          <p:cNvSpPr/>
          <p:nvPr/>
        </p:nvSpPr>
        <p:spPr>
          <a:xfrm>
            <a:off x="4457700" y="1893540"/>
            <a:ext cx="360426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b="1" kern="0" spc="86">
                <a:solidFill>
                  <a:srgbClr val="017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NL2ONTOLOGY</a:t>
            </a:r>
            <a:endParaRPr lang="en-US" sz="1425"/>
          </a:p>
        </p:txBody>
      </p:sp>
      <p:sp>
        <p:nvSpPr>
          <p:cNvPr id="8" name="Text 6"/>
          <p:cNvSpPr/>
          <p:nvPr/>
        </p:nvSpPr>
        <p:spPr>
          <a:xfrm>
            <a:off x="4457700" y="2231678"/>
            <a:ext cx="3374898" cy="2043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5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Natural-language questions become structured queries over that vocabulary. The consumer asks in business terms, not table names or query syntax.</a:t>
            </a:r>
            <a:endParaRPr lang="en-US" sz="1950"/>
          </a:p>
        </p:txBody>
      </p:sp>
      <p:sp>
        <p:nvSpPr>
          <p:cNvPr id="9" name="Text 7"/>
          <p:cNvSpPr/>
          <p:nvPr/>
        </p:nvSpPr>
        <p:spPr>
          <a:xfrm>
            <a:off x="8001000" y="1893540"/>
            <a:ext cx="360426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b="1" kern="0" spc="86">
                <a:solidFill>
                  <a:srgbClr val="017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DEFINITIONS</a:t>
            </a:r>
            <a:endParaRPr lang="en-US" sz="1425"/>
          </a:p>
        </p:txBody>
      </p:sp>
      <p:sp>
        <p:nvSpPr>
          <p:cNvPr id="10" name="Text 8"/>
          <p:cNvSpPr/>
          <p:nvPr/>
        </p:nvSpPr>
        <p:spPr>
          <a:xfrm>
            <a:off x="8001000" y="2231678"/>
            <a:ext cx="3374898" cy="2712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5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agent and report over the same ontology uses the same entities and rules, so answers don't drift between tools. A question can walk from a shipment to a factory to that factory's quality checks.</a:t>
            </a:r>
            <a:endParaRPr lang="en-US" sz="1950"/>
          </a:p>
        </p:txBody>
      </p:sp>
      <p:sp>
        <p:nvSpPr>
          <p:cNvPr id="11" name="Shape 9"/>
          <p:cNvSpPr/>
          <p:nvPr/>
        </p:nvSpPr>
        <p:spPr>
          <a:xfrm>
            <a:off x="914400" y="4905821"/>
            <a:ext cx="10363200" cy="1324868"/>
          </a:xfrm>
          <a:prstGeom prst="rect">
            <a:avLst/>
          </a:prstGeom>
          <a:solidFill>
            <a:srgbClr val="BCA045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2" name="Text 10"/>
          <p:cNvSpPr/>
          <p:nvPr/>
        </p:nvSpPr>
        <p:spPr>
          <a:xfrm>
            <a:off x="1162050" y="5115371"/>
            <a:ext cx="1085469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b="1" kern="0" spc="86">
                <a:solidFill>
                  <a:srgbClr val="013F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</a:t>
            </a:r>
            <a:endParaRPr lang="en-US" sz="1425"/>
          </a:p>
        </p:txBody>
      </p:sp>
      <p:sp>
        <p:nvSpPr>
          <p:cNvPr id="13" name="Text 11"/>
          <p:cNvSpPr/>
          <p:nvPr/>
        </p:nvSpPr>
        <p:spPr>
          <a:xfrm>
            <a:off x="1162050" y="5377309"/>
            <a:ext cx="10163937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667"/>
              </a:lnSpc>
              <a:buNone/>
            </a:pPr>
            <a:r>
              <a:rPr lang="en-US" sz="1950">
                <a:solidFill>
                  <a:srgbClr val="013F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 IQ and the Ontology are in preview. Everything shown here works today; none of it is stable API surface yet.</a:t>
            </a:r>
            <a:endParaRPr lang="en-US" sz="1950"/>
          </a:p>
        </p:txBody>
      </p:sp>
      <p:sp>
        <p:nvSpPr>
          <p:cNvPr id="14" name="Shape 12"/>
          <p:cNvSpPr/>
          <p:nvPr/>
        </p:nvSpPr>
        <p:spPr>
          <a:xfrm>
            <a:off x="0" y="6334125"/>
            <a:ext cx="2975595" cy="523875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" y="6407497"/>
            <a:ext cx="391344" cy="377130"/>
          </a:xfrm>
          <a:prstGeom prst="rect">
            <a:avLst/>
          </a:prstGeom>
        </p:spPr>
      </p:pic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44" y="6422529"/>
            <a:ext cx="652537" cy="346993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2975595" y="6334125"/>
            <a:ext cx="757535" cy="523875"/>
          </a:xfrm>
          <a:prstGeom prst="rect">
            <a:avLst/>
          </a:prstGeom>
          <a:solidFill>
            <a:srgbClr val="017864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8" name="Text 14"/>
          <p:cNvSpPr/>
          <p:nvPr/>
        </p:nvSpPr>
        <p:spPr>
          <a:xfrm>
            <a:off x="3127995" y="6386066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</a:t>
            </a:r>
            <a:endParaRPr lang="en-US" sz="788"/>
          </a:p>
        </p:txBody>
      </p:sp>
      <p:sp>
        <p:nvSpPr>
          <p:cNvPr id="19" name="Text 15"/>
          <p:cNvSpPr/>
          <p:nvPr/>
        </p:nvSpPr>
        <p:spPr>
          <a:xfrm>
            <a:off x="3127995" y="6526039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</a:t>
            </a:r>
            <a:endParaRPr lang="en-US" sz="788"/>
          </a:p>
        </p:txBody>
      </p:sp>
      <p:sp>
        <p:nvSpPr>
          <p:cNvPr id="20" name="Text 16"/>
          <p:cNvSpPr/>
          <p:nvPr/>
        </p:nvSpPr>
        <p:spPr>
          <a:xfrm>
            <a:off x="3127995" y="6666012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ONA</a:t>
            </a:r>
            <a:endParaRPr lang="en-US" sz="788"/>
          </a:p>
        </p:txBody>
      </p:sp>
      <p:sp>
        <p:nvSpPr>
          <p:cNvPr id="21" name="Text 17"/>
          <p:cNvSpPr/>
          <p:nvPr/>
        </p:nvSpPr>
        <p:spPr>
          <a:xfrm>
            <a:off x="3461445" y="6406083"/>
            <a:ext cx="195486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3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788"/>
          </a:p>
        </p:txBody>
      </p:sp>
      <p:sp>
        <p:nvSpPr>
          <p:cNvPr id="22" name="Shape 18"/>
          <p:cNvSpPr/>
          <p:nvPr/>
        </p:nvSpPr>
        <p:spPr>
          <a:xfrm>
            <a:off x="3461445" y="6562725"/>
            <a:ext cx="104775" cy="66675"/>
          </a:xfrm>
          <a:prstGeom prst="rect">
            <a:avLst/>
          </a:prstGeom>
          <a:gradFill rotWithShape="1">
            <a:gsLst>
              <a:gs pos="25000">
                <a:srgbClr val="BCA045">
                  <a:alpha val="100000"/>
                </a:srgbClr>
              </a:gs>
              <a:gs pos="25000">
                <a:srgbClr val="017864">
                  <a:alpha val="100000"/>
                </a:srgbClr>
              </a:gs>
            </a:gsLst>
            <a:lin ang="18900000" scaled="0"/>
          </a:gradFill>
          <a:ln/>
        </p:spPr>
        <p:txBody>
          <a:bodyPr/>
          <a:lstStyle/>
          <a:p>
            <a:endParaRPr lang="en-FR"/>
          </a:p>
        </p:txBody>
      </p:sp>
      <p:sp>
        <p:nvSpPr>
          <p:cNvPr id="23" name="Text 19"/>
          <p:cNvSpPr/>
          <p:nvPr/>
        </p:nvSpPr>
        <p:spPr>
          <a:xfrm>
            <a:off x="3461445" y="6646069"/>
            <a:ext cx="195486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3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788"/>
          </a:p>
        </p:txBody>
      </p:sp>
      <p:sp>
        <p:nvSpPr>
          <p:cNvPr id="24" name="Shape 20"/>
          <p:cNvSpPr/>
          <p:nvPr/>
        </p:nvSpPr>
        <p:spPr>
          <a:xfrm>
            <a:off x="3733130" y="6334125"/>
            <a:ext cx="324743" cy="523875"/>
          </a:xfrm>
          <a:prstGeom prst="rect">
            <a:avLst/>
          </a:prstGeom>
          <a:gradFill rotWithShape="1">
            <a:gsLst>
              <a:gs pos="25000">
                <a:srgbClr val="017864">
                  <a:alpha val="100000"/>
                </a:srgbClr>
              </a:gs>
              <a:gs pos="25000">
                <a:srgbClr val="013F34">
                  <a:alpha val="100000"/>
                </a:srgbClr>
              </a:gs>
            </a:gsLst>
            <a:lin ang="18900000" scaled="0"/>
          </a:gradFill>
          <a:ln/>
        </p:spPr>
        <p:txBody>
          <a:bodyPr/>
          <a:lstStyle/>
          <a:p>
            <a:endParaRPr lang="en-FR"/>
          </a:p>
        </p:txBody>
      </p:sp>
      <p:sp>
        <p:nvSpPr>
          <p:cNvPr id="25" name="Shape 21"/>
          <p:cNvSpPr/>
          <p:nvPr/>
        </p:nvSpPr>
        <p:spPr>
          <a:xfrm>
            <a:off x="4057873" y="6334125"/>
            <a:ext cx="8134127" cy="523875"/>
          </a:xfrm>
          <a:prstGeom prst="rect">
            <a:avLst/>
          </a:prstGeom>
          <a:solidFill>
            <a:srgbClr val="013F34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26" name="Text 22"/>
          <p:cNvSpPr/>
          <p:nvPr/>
        </p:nvSpPr>
        <p:spPr>
          <a:xfrm>
            <a:off x="7262515" y="6488906"/>
            <a:ext cx="80010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07143"/>
              </a:lnSpc>
              <a:buNone/>
            </a:pPr>
            <a:r>
              <a:rPr lang="en-US" sz="675" kern="0" spc="41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THE CONVERSATION</a:t>
            </a:r>
            <a:endParaRPr lang="en-US" sz="675"/>
          </a:p>
        </p:txBody>
      </p:sp>
      <p:sp>
        <p:nvSpPr>
          <p:cNvPr id="27" name="Text 23"/>
          <p:cNvSpPr/>
          <p:nvPr/>
        </p:nvSpPr>
        <p:spPr>
          <a:xfrm>
            <a:off x="8310265" y="6496050"/>
            <a:ext cx="187301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08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#FABCONEUROPE</a:t>
            </a:r>
            <a:endParaRPr lang="en-US" sz="1350"/>
          </a:p>
        </p:txBody>
      </p:sp>
      <p:sp>
        <p:nvSpPr>
          <p:cNvPr id="28" name="Text 24"/>
          <p:cNvSpPr/>
          <p:nvPr/>
        </p:nvSpPr>
        <p:spPr>
          <a:xfrm>
            <a:off x="10260657" y="6496050"/>
            <a:ext cx="189397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08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#SQLCONEUROPE</a:t>
            </a:r>
            <a:endParaRPr lang="en-US" sz="135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39820" y="247650"/>
            <a:ext cx="3121558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72" dirty="0">
                <a:solidFill>
                  <a:srgbClr val="4B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RECORD OR LIVESTREAM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742950"/>
            <a:ext cx="1139952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b="1" kern="0" spc="86" dirty="0">
                <a:solidFill>
                  <a:srgbClr val="017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2 · SOLUTION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914400" y="1100138"/>
            <a:ext cx="11399520" cy="488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556"/>
              </a:lnSpc>
              <a:buNone/>
            </a:pPr>
            <a:r>
              <a:rPr lang="en-US" sz="3225" b="1" kern="0" spc="-32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deployed ontology: 23 entities, 29 relationships</a:t>
            </a:r>
            <a:endParaRPr lang="en-US" sz="3225" dirty="0"/>
          </a:p>
        </p:txBody>
      </p:sp>
      <p:sp>
        <p:nvSpPr>
          <p:cNvPr id="5" name="Text 3"/>
          <p:cNvSpPr/>
          <p:nvPr/>
        </p:nvSpPr>
        <p:spPr>
          <a:xfrm>
            <a:off x="914400" y="1894061"/>
            <a:ext cx="1219200" cy="403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3784"/>
              </a:lnSpc>
              <a:buNone/>
            </a:pPr>
            <a:r>
              <a:rPr lang="en-US" sz="1200" b="1" kern="0" spc="72" dirty="0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TELEMETRY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171700" y="1855440"/>
            <a:ext cx="2205038" cy="442913"/>
          </a:xfrm>
          <a:prstGeom prst="rect">
            <a:avLst/>
          </a:prstGeom>
          <a:solidFill>
            <a:srgbClr val="CFE9E1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7" name="Text 5"/>
          <p:cNvSpPr/>
          <p:nvPr/>
        </p:nvSpPr>
        <p:spPr>
          <a:xfrm>
            <a:off x="2247900" y="1969740"/>
            <a:ext cx="2052638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EMEA-BCN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71988" y="1855440"/>
            <a:ext cx="2205038" cy="442913"/>
          </a:xfrm>
          <a:prstGeom prst="rect">
            <a:avLst/>
          </a:prstGeom>
          <a:solidFill>
            <a:srgbClr val="CFE9E1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9" name="Text 7"/>
          <p:cNvSpPr/>
          <p:nvPr/>
        </p:nvSpPr>
        <p:spPr>
          <a:xfrm>
            <a:off x="4548188" y="1969740"/>
            <a:ext cx="2052638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NA-CHI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772275" y="1855440"/>
            <a:ext cx="2205038" cy="442913"/>
          </a:xfrm>
          <a:prstGeom prst="rect">
            <a:avLst/>
          </a:prstGeom>
          <a:solidFill>
            <a:srgbClr val="CFE9E1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1" name="Text 9"/>
          <p:cNvSpPr/>
          <p:nvPr/>
        </p:nvSpPr>
        <p:spPr>
          <a:xfrm>
            <a:off x="6848475" y="1969740"/>
            <a:ext cx="2052638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LATAM-GRU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072563" y="1855440"/>
            <a:ext cx="2205038" cy="442913"/>
          </a:xfrm>
          <a:prstGeom prst="rect">
            <a:avLst/>
          </a:prstGeom>
          <a:solidFill>
            <a:srgbClr val="CFE9E1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3" name="Text 11"/>
          <p:cNvSpPr/>
          <p:nvPr/>
        </p:nvSpPr>
        <p:spPr>
          <a:xfrm>
            <a:off x="9148763" y="1969740"/>
            <a:ext cx="2052638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APAC-SIN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14400" y="2431703"/>
            <a:ext cx="10363200" cy="2095500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5" name="Text 13"/>
          <p:cNvSpPr/>
          <p:nvPr/>
        </p:nvSpPr>
        <p:spPr>
          <a:xfrm>
            <a:off x="1143000" y="2622203"/>
            <a:ext cx="1089660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72" dirty="0">
                <a:solidFill>
                  <a:srgbClr val="017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FABRIC · FABRIC IQ ONTOLOGY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43000" y="2931765"/>
            <a:ext cx="3213050" cy="1404938"/>
          </a:xfrm>
          <a:prstGeom prst="rect">
            <a:avLst/>
          </a:prstGeom>
          <a:solidFill>
            <a:srgbClr val="FFFFFF"/>
          </a:solidFill>
          <a:ln w="9525">
            <a:solidFill>
              <a:srgbClr val="013F34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Text 15"/>
          <p:cNvSpPr/>
          <p:nvPr/>
        </p:nvSpPr>
        <p:spPr>
          <a:xfrm>
            <a:off x="1304925" y="3093690"/>
            <a:ext cx="31781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304925" y="3408015"/>
            <a:ext cx="297587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4B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supplier, material, inventory, batch_material_usage, shipment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04925" y="3998565"/>
            <a:ext cx="317812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72" dirty="0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shipment_to_factory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489400" y="2931765"/>
            <a:ext cx="3213125" cy="1404938"/>
          </a:xfrm>
          <a:prstGeom prst="rect">
            <a:avLst/>
          </a:prstGeom>
          <a:solidFill>
            <a:srgbClr val="017864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21" name="Text 19"/>
          <p:cNvSpPr/>
          <p:nvPr/>
        </p:nvSpPr>
        <p:spPr>
          <a:xfrm>
            <a:off x="4641800" y="3084165"/>
            <a:ext cx="319915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Factory &amp; Quality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4641800" y="3398490"/>
            <a:ext cx="2995575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factory, line, batch, sensor_reading, quality_check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641800" y="4008090"/>
            <a:ext cx="3199157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72" dirty="0">
                <a:solidFill>
                  <a:srgbClr val="7FD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hub in the graph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35875" y="2931765"/>
            <a:ext cx="3213125" cy="1404938"/>
          </a:xfrm>
          <a:prstGeom prst="rect">
            <a:avLst/>
          </a:prstGeom>
          <a:solidFill>
            <a:srgbClr val="FFFFFF"/>
          </a:solidFill>
          <a:ln w="9525">
            <a:solidFill>
              <a:srgbClr val="013F34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5" name="Text 23"/>
          <p:cNvSpPr/>
          <p:nvPr/>
        </p:nvSpPr>
        <p:spPr>
          <a:xfrm>
            <a:off x="7997800" y="3093690"/>
            <a:ext cx="317820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&amp; Orders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7997800" y="3408015"/>
            <a:ext cx="2975953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4B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customer, product, sales_order, invoice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997800" y="3998565"/>
            <a:ext cx="3178202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72" dirty="0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product_to_recipe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4821510"/>
            <a:ext cx="1219200" cy="220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3784"/>
              </a:lnSpc>
              <a:buNone/>
            </a:pPr>
            <a:r>
              <a:rPr lang="en-US" sz="1200" b="1" kern="0" spc="72" dirty="0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171700" y="4660553"/>
            <a:ext cx="9105900" cy="504825"/>
          </a:xfrm>
          <a:prstGeom prst="rect">
            <a:avLst/>
          </a:prstGeom>
          <a:solidFill>
            <a:srgbClr val="013F34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30" name="Text 28"/>
          <p:cNvSpPr/>
          <p:nvPr/>
        </p:nvSpPr>
        <p:spPr>
          <a:xfrm>
            <a:off x="2362200" y="4793903"/>
            <a:ext cx="484101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Foundry · chocolate-factory-agent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7673057" y="4812953"/>
            <a:ext cx="375544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54" dirty="0">
                <a:solidFill>
                  <a:srgbClr val="7FD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fabric_iq_ontology · fabric_data_agent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914400" y="5748338"/>
            <a:ext cx="1139952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b="1" kern="0" spc="86" dirty="0">
                <a:solidFill>
                  <a:srgbClr val="017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 AND ERP NEVER CONNECT TO EACH OTHER DIRECTLY — A REAL DATA-MODEL GAP</a:t>
            </a:r>
            <a:endParaRPr lang="en-US" sz="1425" dirty="0"/>
          </a:p>
        </p:txBody>
      </p:sp>
      <p:sp>
        <p:nvSpPr>
          <p:cNvPr id="33" name="Shape 31"/>
          <p:cNvSpPr/>
          <p:nvPr/>
        </p:nvSpPr>
        <p:spPr>
          <a:xfrm>
            <a:off x="0" y="6334125"/>
            <a:ext cx="2975595" cy="523875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" y="6407497"/>
            <a:ext cx="391344" cy="377130"/>
          </a:xfrm>
          <a:prstGeom prst="rect">
            <a:avLst/>
          </a:prstGeom>
        </p:spPr>
      </p:pic>
      <p:pic>
        <p:nvPicPr>
          <p:cNvPr id="3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44" y="6422529"/>
            <a:ext cx="652537" cy="346993"/>
          </a:xfrm>
          <a:prstGeom prst="rect">
            <a:avLst/>
          </a:prstGeom>
        </p:spPr>
      </p:pic>
      <p:sp>
        <p:nvSpPr>
          <p:cNvPr id="36" name="Shape 32"/>
          <p:cNvSpPr/>
          <p:nvPr/>
        </p:nvSpPr>
        <p:spPr>
          <a:xfrm>
            <a:off x="2975595" y="6334125"/>
            <a:ext cx="757535" cy="523875"/>
          </a:xfrm>
          <a:prstGeom prst="rect">
            <a:avLst/>
          </a:prstGeom>
          <a:solidFill>
            <a:srgbClr val="017864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37" name="Text 33"/>
          <p:cNvSpPr/>
          <p:nvPr/>
        </p:nvSpPr>
        <p:spPr>
          <a:xfrm>
            <a:off x="3127995" y="6386066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</a:t>
            </a:r>
            <a:endParaRPr lang="en-US" sz="788" dirty="0"/>
          </a:p>
        </p:txBody>
      </p:sp>
      <p:sp>
        <p:nvSpPr>
          <p:cNvPr id="38" name="Text 34"/>
          <p:cNvSpPr/>
          <p:nvPr/>
        </p:nvSpPr>
        <p:spPr>
          <a:xfrm>
            <a:off x="3127995" y="6526039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</a:t>
            </a:r>
            <a:endParaRPr lang="en-US" sz="788" dirty="0"/>
          </a:p>
        </p:txBody>
      </p:sp>
      <p:sp>
        <p:nvSpPr>
          <p:cNvPr id="39" name="Text 35"/>
          <p:cNvSpPr/>
          <p:nvPr/>
        </p:nvSpPr>
        <p:spPr>
          <a:xfrm>
            <a:off x="3127995" y="6666012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ONA</a:t>
            </a:r>
            <a:endParaRPr lang="en-US" sz="788" dirty="0"/>
          </a:p>
        </p:txBody>
      </p:sp>
      <p:sp>
        <p:nvSpPr>
          <p:cNvPr id="40" name="Text 36"/>
          <p:cNvSpPr/>
          <p:nvPr/>
        </p:nvSpPr>
        <p:spPr>
          <a:xfrm>
            <a:off x="3461445" y="6406083"/>
            <a:ext cx="195486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3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788" dirty="0"/>
          </a:p>
        </p:txBody>
      </p:sp>
      <p:sp>
        <p:nvSpPr>
          <p:cNvPr id="41" name="Shape 37"/>
          <p:cNvSpPr/>
          <p:nvPr/>
        </p:nvSpPr>
        <p:spPr>
          <a:xfrm>
            <a:off x="3461445" y="6562725"/>
            <a:ext cx="104775" cy="66675"/>
          </a:xfrm>
          <a:prstGeom prst="rect">
            <a:avLst/>
          </a:prstGeom>
          <a:gradFill rotWithShape="1">
            <a:gsLst>
              <a:gs pos="25000">
                <a:srgbClr val="BCA045">
                  <a:alpha val="100000"/>
                </a:srgbClr>
              </a:gs>
              <a:gs pos="25000">
                <a:srgbClr val="017864">
                  <a:alpha val="100000"/>
                </a:srgbClr>
              </a:gs>
            </a:gsLst>
            <a:lin ang="18900000" scaled="0"/>
          </a:gradFill>
          <a:ln/>
        </p:spPr>
        <p:txBody>
          <a:bodyPr/>
          <a:lstStyle/>
          <a:p>
            <a:endParaRPr lang="en-FR"/>
          </a:p>
        </p:txBody>
      </p:sp>
      <p:sp>
        <p:nvSpPr>
          <p:cNvPr id="42" name="Text 38"/>
          <p:cNvSpPr/>
          <p:nvPr/>
        </p:nvSpPr>
        <p:spPr>
          <a:xfrm>
            <a:off x="3461445" y="6646069"/>
            <a:ext cx="195486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3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788" dirty="0"/>
          </a:p>
        </p:txBody>
      </p:sp>
      <p:sp>
        <p:nvSpPr>
          <p:cNvPr id="43" name="Shape 39"/>
          <p:cNvSpPr/>
          <p:nvPr/>
        </p:nvSpPr>
        <p:spPr>
          <a:xfrm>
            <a:off x="3733130" y="6334125"/>
            <a:ext cx="324743" cy="523875"/>
          </a:xfrm>
          <a:prstGeom prst="rect">
            <a:avLst/>
          </a:prstGeom>
          <a:gradFill rotWithShape="1">
            <a:gsLst>
              <a:gs pos="25000">
                <a:srgbClr val="017864">
                  <a:alpha val="100000"/>
                </a:srgbClr>
              </a:gs>
              <a:gs pos="25000">
                <a:srgbClr val="013F34">
                  <a:alpha val="100000"/>
                </a:srgbClr>
              </a:gs>
            </a:gsLst>
            <a:lin ang="18900000" scaled="0"/>
          </a:gradFill>
          <a:ln/>
        </p:spPr>
        <p:txBody>
          <a:bodyPr/>
          <a:lstStyle/>
          <a:p>
            <a:endParaRPr lang="en-FR"/>
          </a:p>
        </p:txBody>
      </p:sp>
      <p:sp>
        <p:nvSpPr>
          <p:cNvPr id="44" name="Shape 40"/>
          <p:cNvSpPr/>
          <p:nvPr/>
        </p:nvSpPr>
        <p:spPr>
          <a:xfrm>
            <a:off x="4057873" y="6334125"/>
            <a:ext cx="8134127" cy="523875"/>
          </a:xfrm>
          <a:prstGeom prst="rect">
            <a:avLst/>
          </a:prstGeom>
          <a:solidFill>
            <a:srgbClr val="013F34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45" name="Text 41"/>
          <p:cNvSpPr/>
          <p:nvPr/>
        </p:nvSpPr>
        <p:spPr>
          <a:xfrm>
            <a:off x="7262515" y="6488906"/>
            <a:ext cx="80010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07143"/>
              </a:lnSpc>
              <a:buNone/>
            </a:pPr>
            <a:r>
              <a:rPr lang="en-US" sz="675" kern="0" spc="41" dirty="0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THE CONVERSATION</a:t>
            </a:r>
            <a:endParaRPr lang="en-US" sz="675" dirty="0"/>
          </a:p>
        </p:txBody>
      </p:sp>
      <p:sp>
        <p:nvSpPr>
          <p:cNvPr id="46" name="Text 42"/>
          <p:cNvSpPr/>
          <p:nvPr/>
        </p:nvSpPr>
        <p:spPr>
          <a:xfrm>
            <a:off x="8310265" y="6496050"/>
            <a:ext cx="187301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0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#FABCONEUROPE</a:t>
            </a:r>
            <a:endParaRPr lang="en-US" sz="1350" dirty="0"/>
          </a:p>
        </p:txBody>
      </p:sp>
      <p:sp>
        <p:nvSpPr>
          <p:cNvPr id="47" name="Text 43"/>
          <p:cNvSpPr/>
          <p:nvPr/>
        </p:nvSpPr>
        <p:spPr>
          <a:xfrm>
            <a:off x="10260657" y="6496050"/>
            <a:ext cx="189397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0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#SQLCONEUROPE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16251">
                  <a:alpha val="100000"/>
                </a:srgbClr>
              </a:gs>
              <a:gs pos="55000">
                <a:srgbClr val="013F34">
                  <a:alpha val="100000"/>
                </a:srgbClr>
              </a:gs>
              <a:gs pos="100000">
                <a:srgbClr val="002820">
                  <a:alpha val="100000"/>
                </a:srgbClr>
              </a:gs>
            </a:gsLst>
            <a:lin ang="8100000" scaled="0"/>
          </a:gradFill>
          <a:ln/>
        </p:spPr>
        <p:txBody>
          <a:bodyPr/>
          <a:lstStyle/>
          <a:p>
            <a:endParaRPr lang="en-FR"/>
          </a:p>
        </p:txBody>
      </p:sp>
      <p:sp>
        <p:nvSpPr>
          <p:cNvPr id="3" name="Text 1"/>
          <p:cNvSpPr/>
          <p:nvPr/>
        </p:nvSpPr>
        <p:spPr>
          <a:xfrm>
            <a:off x="8439820" y="247650"/>
            <a:ext cx="3121558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72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RECORD OR LIVESTREAM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914400" y="742950"/>
            <a:ext cx="1139952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b="1" kern="0" spc="86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2 · PROBLEM</a:t>
            </a:r>
            <a:endParaRPr lang="en-US" sz="1425"/>
          </a:p>
        </p:txBody>
      </p:sp>
      <p:sp>
        <p:nvSpPr>
          <p:cNvPr id="5" name="Text 3"/>
          <p:cNvSpPr/>
          <p:nvPr/>
        </p:nvSpPr>
        <p:spPr>
          <a:xfrm>
            <a:off x="914400" y="1100138"/>
            <a:ext cx="11399520" cy="488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556"/>
              </a:lnSpc>
              <a:buNone/>
            </a:pPr>
            <a:r>
              <a:rPr lang="en-US" sz="3225" b="1" kern="0" spc="-3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knowledge outside the lake</a:t>
            </a:r>
            <a:endParaRPr lang="en-US" sz="3225"/>
          </a:p>
        </p:txBody>
      </p:sp>
      <p:sp>
        <p:nvSpPr>
          <p:cNvPr id="6" name="Text 4"/>
          <p:cNvSpPr/>
          <p:nvPr/>
        </p:nvSpPr>
        <p:spPr>
          <a:xfrm>
            <a:off x="914400" y="3170858"/>
            <a:ext cx="5062347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391"/>
              </a:lnSpc>
              <a:buNone/>
            </a:pPr>
            <a:r>
              <a:rPr lang="en-US" sz="22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business also runs on unstructured knowledge — and none of it is visible to the ontology or to any data-querying tool.</a:t>
            </a:r>
            <a:endParaRPr lang="en-US" sz="2250"/>
          </a:p>
        </p:txBody>
      </p:sp>
      <p:sp>
        <p:nvSpPr>
          <p:cNvPr id="7" name="Text 5"/>
          <p:cNvSpPr/>
          <p:nvPr/>
        </p:nvSpPr>
        <p:spPr>
          <a:xfrm>
            <a:off x="6362700" y="2603227"/>
            <a:ext cx="540639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>
                <a:solidFill>
                  <a:srgbClr val="FFFFFF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thresholds</a:t>
            </a:r>
            <a:endParaRPr lang="en-US" sz="2100"/>
          </a:p>
        </p:txBody>
      </p:sp>
      <p:sp>
        <p:nvSpPr>
          <p:cNvPr id="8" name="Text 6"/>
          <p:cNvSpPr/>
          <p:nvPr/>
        </p:nvSpPr>
        <p:spPr>
          <a:xfrm>
            <a:off x="6362700" y="3134692"/>
            <a:ext cx="540639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>
                <a:solidFill>
                  <a:srgbClr val="FFFFFF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Escalation procedures</a:t>
            </a:r>
            <a:endParaRPr lang="en-US" sz="2100"/>
          </a:p>
        </p:txBody>
      </p:sp>
      <p:sp>
        <p:nvSpPr>
          <p:cNvPr id="9" name="Text 7"/>
          <p:cNvSpPr/>
          <p:nvPr/>
        </p:nvSpPr>
        <p:spPr>
          <a:xfrm>
            <a:off x="6362700" y="3666158"/>
            <a:ext cx="540639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>
                <a:solidFill>
                  <a:srgbClr val="FFFFFF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substitution policies</a:t>
            </a:r>
            <a:endParaRPr lang="en-US" sz="2100"/>
          </a:p>
        </p:txBody>
      </p:sp>
      <p:sp>
        <p:nvSpPr>
          <p:cNvPr id="10" name="Text 8"/>
          <p:cNvSpPr/>
          <p:nvPr/>
        </p:nvSpPr>
        <p:spPr>
          <a:xfrm>
            <a:off x="6362700" y="4197623"/>
            <a:ext cx="540639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>
                <a:solidFill>
                  <a:srgbClr val="FFFFFF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 terms</a:t>
            </a:r>
            <a:endParaRPr lang="en-US" sz="2100"/>
          </a:p>
        </p:txBody>
      </p:sp>
      <p:sp>
        <p:nvSpPr>
          <p:cNvPr id="11" name="Text 9"/>
          <p:cNvSpPr/>
          <p:nvPr/>
        </p:nvSpPr>
        <p:spPr>
          <a:xfrm>
            <a:off x="6362700" y="4805288"/>
            <a:ext cx="5062347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99">
                <a:solidFill>
                  <a:srgbClr val="7FD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WIKIS · PDFS · SHAREPOINT · TRIBAL KNOWLEDGE</a:t>
            </a:r>
            <a:endParaRPr lang="en-US" sz="1650"/>
          </a:p>
        </p:txBody>
      </p:sp>
      <p:sp>
        <p:nvSpPr>
          <p:cNvPr id="12" name="Shape 10"/>
          <p:cNvSpPr/>
          <p:nvPr/>
        </p:nvSpPr>
        <p:spPr>
          <a:xfrm>
            <a:off x="0" y="6334125"/>
            <a:ext cx="2975595" cy="523875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" y="6407497"/>
            <a:ext cx="391344" cy="377130"/>
          </a:xfrm>
          <a:prstGeom prst="rect">
            <a:avLst/>
          </a:prstGeom>
        </p:spPr>
      </p:pic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44" y="6422529"/>
            <a:ext cx="652537" cy="346993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975595" y="6334125"/>
            <a:ext cx="757535" cy="523875"/>
          </a:xfrm>
          <a:prstGeom prst="rect">
            <a:avLst/>
          </a:prstGeom>
          <a:solidFill>
            <a:srgbClr val="017864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6" name="Text 12"/>
          <p:cNvSpPr/>
          <p:nvPr/>
        </p:nvSpPr>
        <p:spPr>
          <a:xfrm>
            <a:off x="3127995" y="6386066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</a:t>
            </a:r>
            <a:endParaRPr lang="en-US" sz="788"/>
          </a:p>
        </p:txBody>
      </p:sp>
      <p:sp>
        <p:nvSpPr>
          <p:cNvPr id="17" name="Text 13"/>
          <p:cNvSpPr/>
          <p:nvPr/>
        </p:nvSpPr>
        <p:spPr>
          <a:xfrm>
            <a:off x="3127995" y="6526039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</a:t>
            </a:r>
            <a:endParaRPr lang="en-US" sz="788"/>
          </a:p>
        </p:txBody>
      </p:sp>
      <p:sp>
        <p:nvSpPr>
          <p:cNvPr id="18" name="Text 14"/>
          <p:cNvSpPr/>
          <p:nvPr/>
        </p:nvSpPr>
        <p:spPr>
          <a:xfrm>
            <a:off x="3127995" y="6666012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ONA</a:t>
            </a:r>
            <a:endParaRPr lang="en-US" sz="788"/>
          </a:p>
        </p:txBody>
      </p:sp>
      <p:sp>
        <p:nvSpPr>
          <p:cNvPr id="19" name="Text 15"/>
          <p:cNvSpPr/>
          <p:nvPr/>
        </p:nvSpPr>
        <p:spPr>
          <a:xfrm>
            <a:off x="3461445" y="6406083"/>
            <a:ext cx="195486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3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788"/>
          </a:p>
        </p:txBody>
      </p:sp>
      <p:sp>
        <p:nvSpPr>
          <p:cNvPr id="20" name="Shape 16"/>
          <p:cNvSpPr/>
          <p:nvPr/>
        </p:nvSpPr>
        <p:spPr>
          <a:xfrm>
            <a:off x="3461445" y="6562725"/>
            <a:ext cx="104775" cy="66675"/>
          </a:xfrm>
          <a:prstGeom prst="rect">
            <a:avLst/>
          </a:prstGeom>
          <a:gradFill rotWithShape="1">
            <a:gsLst>
              <a:gs pos="25000">
                <a:srgbClr val="BCA045">
                  <a:alpha val="100000"/>
                </a:srgbClr>
              </a:gs>
              <a:gs pos="25000">
                <a:srgbClr val="017864">
                  <a:alpha val="100000"/>
                </a:srgbClr>
              </a:gs>
            </a:gsLst>
            <a:lin ang="18900000" scaled="0"/>
          </a:gradFill>
          <a:ln/>
        </p:spPr>
        <p:txBody>
          <a:bodyPr/>
          <a:lstStyle/>
          <a:p>
            <a:endParaRPr lang="en-FR"/>
          </a:p>
        </p:txBody>
      </p:sp>
      <p:sp>
        <p:nvSpPr>
          <p:cNvPr id="21" name="Text 17"/>
          <p:cNvSpPr/>
          <p:nvPr/>
        </p:nvSpPr>
        <p:spPr>
          <a:xfrm>
            <a:off x="3461445" y="6646069"/>
            <a:ext cx="195486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3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788"/>
          </a:p>
        </p:txBody>
      </p:sp>
      <p:sp>
        <p:nvSpPr>
          <p:cNvPr id="22" name="Shape 18"/>
          <p:cNvSpPr/>
          <p:nvPr/>
        </p:nvSpPr>
        <p:spPr>
          <a:xfrm>
            <a:off x="3733130" y="6334125"/>
            <a:ext cx="324743" cy="523875"/>
          </a:xfrm>
          <a:prstGeom prst="rect">
            <a:avLst/>
          </a:prstGeom>
          <a:gradFill rotWithShape="1">
            <a:gsLst>
              <a:gs pos="25000">
                <a:srgbClr val="017864">
                  <a:alpha val="100000"/>
                </a:srgbClr>
              </a:gs>
              <a:gs pos="25000">
                <a:srgbClr val="013F34">
                  <a:alpha val="100000"/>
                </a:srgbClr>
              </a:gs>
            </a:gsLst>
            <a:lin ang="18900000" scaled="0"/>
          </a:gradFill>
          <a:ln/>
        </p:spPr>
        <p:txBody>
          <a:bodyPr/>
          <a:lstStyle/>
          <a:p>
            <a:endParaRPr lang="en-FR"/>
          </a:p>
        </p:txBody>
      </p:sp>
      <p:sp>
        <p:nvSpPr>
          <p:cNvPr id="23" name="Shape 19"/>
          <p:cNvSpPr/>
          <p:nvPr/>
        </p:nvSpPr>
        <p:spPr>
          <a:xfrm>
            <a:off x="4057873" y="6334125"/>
            <a:ext cx="8134127" cy="523875"/>
          </a:xfrm>
          <a:prstGeom prst="rect">
            <a:avLst/>
          </a:prstGeom>
          <a:solidFill>
            <a:srgbClr val="013F34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24" name="Text 20"/>
          <p:cNvSpPr/>
          <p:nvPr/>
        </p:nvSpPr>
        <p:spPr>
          <a:xfrm>
            <a:off x="7262515" y="6488906"/>
            <a:ext cx="80010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07143"/>
              </a:lnSpc>
              <a:buNone/>
            </a:pPr>
            <a:r>
              <a:rPr lang="en-US" sz="675" kern="0" spc="41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THE CONVERSATION</a:t>
            </a:r>
            <a:endParaRPr lang="en-US" sz="675"/>
          </a:p>
        </p:txBody>
      </p:sp>
      <p:sp>
        <p:nvSpPr>
          <p:cNvPr id="25" name="Text 21"/>
          <p:cNvSpPr/>
          <p:nvPr/>
        </p:nvSpPr>
        <p:spPr>
          <a:xfrm>
            <a:off x="8310265" y="6496050"/>
            <a:ext cx="187301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08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#FABCONEUROPE</a:t>
            </a:r>
            <a:endParaRPr lang="en-US" sz="1350"/>
          </a:p>
        </p:txBody>
      </p:sp>
      <p:sp>
        <p:nvSpPr>
          <p:cNvPr id="26" name="Text 22"/>
          <p:cNvSpPr/>
          <p:nvPr/>
        </p:nvSpPr>
        <p:spPr>
          <a:xfrm>
            <a:off x="10260657" y="6496050"/>
            <a:ext cx="189397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08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#SQLCONEUROPE</a:t>
            </a:r>
            <a:endParaRPr lang="en-US" sz="135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39820" y="247650"/>
            <a:ext cx="3121558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72">
                <a:solidFill>
                  <a:srgbClr val="4B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RECORD OR LIVESTREAM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914400" y="742950"/>
            <a:ext cx="1139952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b="1" kern="0" spc="86">
                <a:solidFill>
                  <a:srgbClr val="017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2 · SOLUTION</a:t>
            </a:r>
            <a:endParaRPr lang="en-US" sz="1425"/>
          </a:p>
        </p:txBody>
      </p:sp>
      <p:sp>
        <p:nvSpPr>
          <p:cNvPr id="4" name="Text 2"/>
          <p:cNvSpPr/>
          <p:nvPr/>
        </p:nvSpPr>
        <p:spPr>
          <a:xfrm>
            <a:off x="914400" y="1100138"/>
            <a:ext cx="11399520" cy="488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556"/>
              </a:lnSpc>
              <a:buNone/>
            </a:pPr>
            <a:r>
              <a:rPr lang="en-US" sz="3225" b="1" kern="0" spc="-32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Foundry IQ as the knowledge base</a:t>
            </a:r>
            <a:endParaRPr lang="en-US" sz="3225"/>
          </a:p>
        </p:txBody>
      </p:sp>
      <p:sp>
        <p:nvSpPr>
          <p:cNvPr id="5" name="Shape 3"/>
          <p:cNvSpPr/>
          <p:nvPr/>
        </p:nvSpPr>
        <p:spPr>
          <a:xfrm>
            <a:off x="914400" y="2639839"/>
            <a:ext cx="4210050" cy="25669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6" name="Text 4"/>
          <p:cNvSpPr/>
          <p:nvPr/>
        </p:nvSpPr>
        <p:spPr>
          <a:xfrm>
            <a:off x="1143000" y="2906539"/>
            <a:ext cx="412813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b="1" kern="0" spc="86">
                <a:solidFill>
                  <a:srgbClr val="017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INDEXED VIA AZURE AI SEARCH</a:t>
            </a:r>
            <a:endParaRPr lang="en-US" sz="1425"/>
          </a:p>
        </p:txBody>
      </p:sp>
      <p:sp>
        <p:nvSpPr>
          <p:cNvPr id="7" name="Text 5"/>
          <p:cNvSpPr/>
          <p:nvPr/>
        </p:nvSpPr>
        <p:spPr>
          <a:xfrm>
            <a:off x="1143000" y="3225626"/>
            <a:ext cx="412813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909"/>
              </a:lnSpc>
              <a:buNone/>
            </a:pPr>
            <a:r>
              <a:rPr lang="en-US" sz="180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foundry/kb/00-company-overview.md</a:t>
            </a:r>
            <a:endParaRPr lang="en-US" sz="1800"/>
          </a:p>
        </p:txBody>
      </p:sp>
      <p:sp>
        <p:nvSpPr>
          <p:cNvPr id="8" name="Text 6"/>
          <p:cNvSpPr/>
          <p:nvPr/>
        </p:nvSpPr>
        <p:spPr>
          <a:xfrm>
            <a:off x="1143000" y="3682826"/>
            <a:ext cx="412813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909"/>
              </a:lnSpc>
              <a:buNone/>
            </a:pPr>
            <a:r>
              <a:rPr lang="en-US" sz="180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foundry/kb/01-factory-quality.md</a:t>
            </a:r>
            <a:endParaRPr lang="en-US" sz="1800"/>
          </a:p>
        </p:txBody>
      </p:sp>
      <p:sp>
        <p:nvSpPr>
          <p:cNvPr id="9" name="Text 7"/>
          <p:cNvSpPr/>
          <p:nvPr/>
        </p:nvSpPr>
        <p:spPr>
          <a:xfrm>
            <a:off x="1143000" y="4140026"/>
            <a:ext cx="412813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909"/>
              </a:lnSpc>
              <a:buNone/>
            </a:pPr>
            <a:r>
              <a:rPr lang="en-US" sz="180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foundry/kb/02-supply-chain.md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1143000" y="4597226"/>
            <a:ext cx="412813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909"/>
              </a:lnSpc>
              <a:buNone/>
            </a:pPr>
            <a:r>
              <a:rPr lang="en-US" sz="180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foundry/kb/03-erp-orders.md</a:t>
            </a:r>
            <a:endParaRPr lang="en-US" sz="1800"/>
          </a:p>
        </p:txBody>
      </p:sp>
      <p:sp>
        <p:nvSpPr>
          <p:cNvPr id="11" name="Text 9"/>
          <p:cNvSpPr/>
          <p:nvPr/>
        </p:nvSpPr>
        <p:spPr>
          <a:xfrm>
            <a:off x="5581650" y="2120354"/>
            <a:ext cx="5866829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391"/>
              </a:lnSpc>
              <a:buNone/>
            </a:pPr>
            <a:r>
              <a:rPr lang="en-US" sz="225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Queryable and citation-capable at runtime. It closes the gap the ontology alone cannot.</a:t>
            </a:r>
            <a:endParaRPr lang="en-US" sz="2250"/>
          </a:p>
        </p:txBody>
      </p:sp>
      <p:sp>
        <p:nvSpPr>
          <p:cNvPr id="12" name="Text 10"/>
          <p:cNvSpPr/>
          <p:nvPr/>
        </p:nvSpPr>
        <p:spPr>
          <a:xfrm>
            <a:off x="5581650" y="3120479"/>
            <a:ext cx="5866829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50">
                <a:solidFill>
                  <a:srgbClr val="4B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ontology tells you what exists and how it relates.</a:t>
            </a:r>
            <a:endParaRPr lang="en-US" sz="1950"/>
          </a:p>
        </p:txBody>
      </p:sp>
      <p:sp>
        <p:nvSpPr>
          <p:cNvPr id="13" name="Text 11"/>
          <p:cNvSpPr/>
          <p:nvPr/>
        </p:nvSpPr>
        <p:spPr>
          <a:xfrm>
            <a:off x="5581650" y="3903315"/>
            <a:ext cx="5866829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50">
                <a:solidFill>
                  <a:srgbClr val="4B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knowledge base tells you what the rules and definitions are.</a:t>
            </a:r>
            <a:endParaRPr lang="en-US" sz="1950"/>
          </a:p>
        </p:txBody>
      </p:sp>
      <p:sp>
        <p:nvSpPr>
          <p:cNvPr id="14" name="Text 12"/>
          <p:cNvSpPr/>
          <p:nvPr/>
        </p:nvSpPr>
        <p:spPr>
          <a:xfrm>
            <a:off x="5581650" y="4800451"/>
            <a:ext cx="5866829" cy="96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818"/>
              </a:lnSpc>
              <a:buNone/>
            </a:pPr>
            <a:r>
              <a:rPr lang="en-US" sz="180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CrystalFormIndex is the test case: a tempering-stage metric that exists only in the KB doc, in no table schema at all.</a:t>
            </a:r>
            <a:endParaRPr lang="en-US" sz="1800"/>
          </a:p>
        </p:txBody>
      </p:sp>
      <p:sp>
        <p:nvSpPr>
          <p:cNvPr id="15" name="Shape 13"/>
          <p:cNvSpPr/>
          <p:nvPr/>
        </p:nvSpPr>
        <p:spPr>
          <a:xfrm>
            <a:off x="0" y="6334125"/>
            <a:ext cx="2975595" cy="523875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" y="6407497"/>
            <a:ext cx="391344" cy="377130"/>
          </a:xfrm>
          <a:prstGeom prst="rect">
            <a:avLst/>
          </a:prstGeom>
        </p:spPr>
      </p:pic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44" y="6422529"/>
            <a:ext cx="652537" cy="346993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2975595" y="6334125"/>
            <a:ext cx="757535" cy="523875"/>
          </a:xfrm>
          <a:prstGeom prst="rect">
            <a:avLst/>
          </a:prstGeom>
          <a:solidFill>
            <a:srgbClr val="017864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5"/>
          <p:cNvSpPr/>
          <p:nvPr/>
        </p:nvSpPr>
        <p:spPr>
          <a:xfrm>
            <a:off x="3127995" y="6386066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</a:t>
            </a:r>
            <a:endParaRPr lang="en-US" sz="788"/>
          </a:p>
        </p:txBody>
      </p:sp>
      <p:sp>
        <p:nvSpPr>
          <p:cNvPr id="20" name="Text 16"/>
          <p:cNvSpPr/>
          <p:nvPr/>
        </p:nvSpPr>
        <p:spPr>
          <a:xfrm>
            <a:off x="3127995" y="6526039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</a:t>
            </a:r>
            <a:endParaRPr lang="en-US" sz="788"/>
          </a:p>
        </p:txBody>
      </p:sp>
      <p:sp>
        <p:nvSpPr>
          <p:cNvPr id="21" name="Text 17"/>
          <p:cNvSpPr/>
          <p:nvPr/>
        </p:nvSpPr>
        <p:spPr>
          <a:xfrm>
            <a:off x="3127995" y="6666012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ONA</a:t>
            </a:r>
            <a:endParaRPr lang="en-US" sz="788"/>
          </a:p>
        </p:txBody>
      </p:sp>
      <p:sp>
        <p:nvSpPr>
          <p:cNvPr id="22" name="Text 18"/>
          <p:cNvSpPr/>
          <p:nvPr/>
        </p:nvSpPr>
        <p:spPr>
          <a:xfrm>
            <a:off x="3461445" y="6406083"/>
            <a:ext cx="195486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3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788"/>
          </a:p>
        </p:txBody>
      </p:sp>
      <p:sp>
        <p:nvSpPr>
          <p:cNvPr id="23" name="Shape 19"/>
          <p:cNvSpPr/>
          <p:nvPr/>
        </p:nvSpPr>
        <p:spPr>
          <a:xfrm>
            <a:off x="3461445" y="6562725"/>
            <a:ext cx="104775" cy="66675"/>
          </a:xfrm>
          <a:prstGeom prst="rect">
            <a:avLst/>
          </a:prstGeom>
          <a:gradFill rotWithShape="1">
            <a:gsLst>
              <a:gs pos="25000">
                <a:srgbClr val="BCA045">
                  <a:alpha val="100000"/>
                </a:srgbClr>
              </a:gs>
              <a:gs pos="25000">
                <a:srgbClr val="017864">
                  <a:alpha val="100000"/>
                </a:srgbClr>
              </a:gs>
            </a:gsLst>
            <a:lin ang="18900000" scaled="0"/>
          </a:gradFill>
          <a:ln/>
        </p:spPr>
        <p:txBody>
          <a:bodyPr/>
          <a:lstStyle/>
          <a:p>
            <a:endParaRPr lang="en-FR"/>
          </a:p>
        </p:txBody>
      </p:sp>
      <p:sp>
        <p:nvSpPr>
          <p:cNvPr id="24" name="Text 20"/>
          <p:cNvSpPr/>
          <p:nvPr/>
        </p:nvSpPr>
        <p:spPr>
          <a:xfrm>
            <a:off x="3461445" y="6646069"/>
            <a:ext cx="195486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3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788"/>
          </a:p>
        </p:txBody>
      </p:sp>
      <p:sp>
        <p:nvSpPr>
          <p:cNvPr id="25" name="Shape 21"/>
          <p:cNvSpPr/>
          <p:nvPr/>
        </p:nvSpPr>
        <p:spPr>
          <a:xfrm>
            <a:off x="3733130" y="6334125"/>
            <a:ext cx="324743" cy="523875"/>
          </a:xfrm>
          <a:prstGeom prst="rect">
            <a:avLst/>
          </a:prstGeom>
          <a:gradFill rotWithShape="1">
            <a:gsLst>
              <a:gs pos="25000">
                <a:srgbClr val="017864">
                  <a:alpha val="100000"/>
                </a:srgbClr>
              </a:gs>
              <a:gs pos="25000">
                <a:srgbClr val="013F34">
                  <a:alpha val="100000"/>
                </a:srgbClr>
              </a:gs>
            </a:gsLst>
            <a:lin ang="18900000" scaled="0"/>
          </a:gradFill>
          <a:ln/>
        </p:spPr>
        <p:txBody>
          <a:bodyPr/>
          <a:lstStyle/>
          <a:p>
            <a:endParaRPr lang="en-FR"/>
          </a:p>
        </p:txBody>
      </p:sp>
      <p:sp>
        <p:nvSpPr>
          <p:cNvPr id="26" name="Shape 22"/>
          <p:cNvSpPr/>
          <p:nvPr/>
        </p:nvSpPr>
        <p:spPr>
          <a:xfrm>
            <a:off x="4057873" y="6334125"/>
            <a:ext cx="8134127" cy="523875"/>
          </a:xfrm>
          <a:prstGeom prst="rect">
            <a:avLst/>
          </a:prstGeom>
          <a:solidFill>
            <a:srgbClr val="013F34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27" name="Text 23"/>
          <p:cNvSpPr/>
          <p:nvPr/>
        </p:nvSpPr>
        <p:spPr>
          <a:xfrm>
            <a:off x="7262515" y="6488906"/>
            <a:ext cx="80010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07143"/>
              </a:lnSpc>
              <a:buNone/>
            </a:pPr>
            <a:r>
              <a:rPr lang="en-US" sz="675" kern="0" spc="41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THE CONVERSATION</a:t>
            </a:r>
            <a:endParaRPr lang="en-US" sz="675"/>
          </a:p>
        </p:txBody>
      </p:sp>
      <p:sp>
        <p:nvSpPr>
          <p:cNvPr id="28" name="Text 24"/>
          <p:cNvSpPr/>
          <p:nvPr/>
        </p:nvSpPr>
        <p:spPr>
          <a:xfrm>
            <a:off x="8310265" y="6496050"/>
            <a:ext cx="187301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08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#FABCONEUROPE</a:t>
            </a:r>
            <a:endParaRPr lang="en-US" sz="1350"/>
          </a:p>
        </p:txBody>
      </p:sp>
      <p:sp>
        <p:nvSpPr>
          <p:cNvPr id="29" name="Text 25"/>
          <p:cNvSpPr/>
          <p:nvPr/>
        </p:nvSpPr>
        <p:spPr>
          <a:xfrm>
            <a:off x="10260657" y="6496050"/>
            <a:ext cx="189397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08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#SQLCONEUROPE</a:t>
            </a:r>
            <a:endParaRPr lang="en-US" sz="135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A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16251">
                  <a:alpha val="100000"/>
                </a:srgbClr>
              </a:gs>
              <a:gs pos="55000">
                <a:srgbClr val="013F34">
                  <a:alpha val="100000"/>
                </a:srgbClr>
              </a:gs>
              <a:gs pos="100000">
                <a:srgbClr val="002820">
                  <a:alpha val="100000"/>
                </a:srgbClr>
              </a:gs>
            </a:gsLst>
            <a:lin ang="8100000" scaled="0"/>
          </a:gradFill>
          <a:ln/>
        </p:spPr>
        <p:txBody>
          <a:bodyPr/>
          <a:lstStyle/>
          <a:p>
            <a:endParaRPr lang="en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838200" cy="6334125"/>
          </a:xfrm>
          <a:prstGeom prst="rect">
            <a:avLst/>
          </a:prstGeom>
          <a:gradFill rotWithShape="1">
            <a:gsLst>
              <a:gs pos="25000">
                <a:srgbClr val="017864">
                  <a:alpha val="100000"/>
                </a:srgbClr>
              </a:gs>
              <a:gs pos="25000">
                <a:srgbClr val="017864">
                  <a:alpha val="0"/>
                </a:srgbClr>
              </a:gs>
            </a:gsLst>
            <a:lin ang="18900000" scaled="0"/>
          </a:gradFill>
          <a:ln/>
        </p:spPr>
        <p:txBody>
          <a:bodyPr/>
          <a:lstStyle/>
          <a:p>
            <a:endParaRPr lang="en-FR"/>
          </a:p>
        </p:txBody>
      </p:sp>
      <p:sp>
        <p:nvSpPr>
          <p:cNvPr id="4" name="Text 2"/>
          <p:cNvSpPr/>
          <p:nvPr/>
        </p:nvSpPr>
        <p:spPr>
          <a:xfrm>
            <a:off x="1752600" y="2330276"/>
            <a:ext cx="1047750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b="1" kern="0" spc="86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03</a:t>
            </a:r>
            <a:endParaRPr lang="en-US" sz="1425"/>
          </a:p>
        </p:txBody>
      </p:sp>
      <p:sp>
        <p:nvSpPr>
          <p:cNvPr id="5" name="Text 3"/>
          <p:cNvSpPr/>
          <p:nvPr/>
        </p:nvSpPr>
        <p:spPr>
          <a:xfrm>
            <a:off x="1752600" y="2725564"/>
            <a:ext cx="10477500" cy="792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422"/>
              </a:lnSpc>
              <a:buNone/>
            </a:pPr>
            <a:r>
              <a:rPr lang="en-US" sz="5400" b="1" kern="0" spc="-54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Putting It Together</a:t>
            </a:r>
            <a:endParaRPr lang="en-US" sz="5400"/>
          </a:p>
        </p:txBody>
      </p:sp>
      <p:sp>
        <p:nvSpPr>
          <p:cNvPr id="6" name="Shape 4"/>
          <p:cNvSpPr/>
          <p:nvPr/>
        </p:nvSpPr>
        <p:spPr>
          <a:xfrm>
            <a:off x="0" y="6334125"/>
            <a:ext cx="2975595" cy="523875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" y="6407497"/>
            <a:ext cx="391344" cy="377130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44" y="6422529"/>
            <a:ext cx="652537" cy="346993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975595" y="6334125"/>
            <a:ext cx="757535" cy="523875"/>
          </a:xfrm>
          <a:prstGeom prst="rect">
            <a:avLst/>
          </a:prstGeom>
          <a:solidFill>
            <a:srgbClr val="017864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0" name="Text 6"/>
          <p:cNvSpPr/>
          <p:nvPr/>
        </p:nvSpPr>
        <p:spPr>
          <a:xfrm>
            <a:off x="3127995" y="6386066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</a:t>
            </a:r>
            <a:endParaRPr lang="en-US" sz="788"/>
          </a:p>
        </p:txBody>
      </p:sp>
      <p:sp>
        <p:nvSpPr>
          <p:cNvPr id="11" name="Text 7"/>
          <p:cNvSpPr/>
          <p:nvPr/>
        </p:nvSpPr>
        <p:spPr>
          <a:xfrm>
            <a:off x="3127995" y="6526039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</a:t>
            </a:r>
            <a:endParaRPr lang="en-US" sz="788"/>
          </a:p>
        </p:txBody>
      </p:sp>
      <p:sp>
        <p:nvSpPr>
          <p:cNvPr id="12" name="Text 8"/>
          <p:cNvSpPr/>
          <p:nvPr/>
        </p:nvSpPr>
        <p:spPr>
          <a:xfrm>
            <a:off x="3127995" y="6666012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ONA</a:t>
            </a:r>
            <a:endParaRPr lang="en-US" sz="788"/>
          </a:p>
        </p:txBody>
      </p:sp>
      <p:sp>
        <p:nvSpPr>
          <p:cNvPr id="13" name="Text 9"/>
          <p:cNvSpPr/>
          <p:nvPr/>
        </p:nvSpPr>
        <p:spPr>
          <a:xfrm>
            <a:off x="3461445" y="6406083"/>
            <a:ext cx="195486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3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788"/>
          </a:p>
        </p:txBody>
      </p:sp>
      <p:sp>
        <p:nvSpPr>
          <p:cNvPr id="14" name="Shape 10"/>
          <p:cNvSpPr/>
          <p:nvPr/>
        </p:nvSpPr>
        <p:spPr>
          <a:xfrm>
            <a:off x="3461445" y="6562725"/>
            <a:ext cx="104775" cy="66675"/>
          </a:xfrm>
          <a:prstGeom prst="rect">
            <a:avLst/>
          </a:prstGeom>
          <a:gradFill rotWithShape="1">
            <a:gsLst>
              <a:gs pos="25000">
                <a:srgbClr val="BCA045">
                  <a:alpha val="100000"/>
                </a:srgbClr>
              </a:gs>
              <a:gs pos="25000">
                <a:srgbClr val="017864">
                  <a:alpha val="100000"/>
                </a:srgbClr>
              </a:gs>
            </a:gsLst>
            <a:lin ang="18900000" scaled="0"/>
          </a:gradFill>
          <a:ln/>
        </p:spPr>
        <p:txBody>
          <a:bodyPr/>
          <a:lstStyle/>
          <a:p>
            <a:endParaRPr lang="en-FR"/>
          </a:p>
        </p:txBody>
      </p:sp>
      <p:sp>
        <p:nvSpPr>
          <p:cNvPr id="15" name="Text 11"/>
          <p:cNvSpPr/>
          <p:nvPr/>
        </p:nvSpPr>
        <p:spPr>
          <a:xfrm>
            <a:off x="3461445" y="6646069"/>
            <a:ext cx="195486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3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788"/>
          </a:p>
        </p:txBody>
      </p:sp>
      <p:sp>
        <p:nvSpPr>
          <p:cNvPr id="16" name="Shape 12"/>
          <p:cNvSpPr/>
          <p:nvPr/>
        </p:nvSpPr>
        <p:spPr>
          <a:xfrm>
            <a:off x="3733130" y="6334125"/>
            <a:ext cx="324743" cy="523875"/>
          </a:xfrm>
          <a:prstGeom prst="rect">
            <a:avLst/>
          </a:prstGeom>
          <a:gradFill rotWithShape="1">
            <a:gsLst>
              <a:gs pos="25000">
                <a:srgbClr val="017864">
                  <a:alpha val="100000"/>
                </a:srgbClr>
              </a:gs>
              <a:gs pos="25000">
                <a:srgbClr val="013F34">
                  <a:alpha val="100000"/>
                </a:srgbClr>
              </a:gs>
            </a:gsLst>
            <a:lin ang="18900000" scaled="0"/>
          </a:gradFill>
          <a:ln/>
        </p:spPr>
        <p:txBody>
          <a:bodyPr/>
          <a:lstStyle/>
          <a:p>
            <a:endParaRPr lang="en-FR"/>
          </a:p>
        </p:txBody>
      </p:sp>
      <p:sp>
        <p:nvSpPr>
          <p:cNvPr id="17" name="Shape 13"/>
          <p:cNvSpPr/>
          <p:nvPr/>
        </p:nvSpPr>
        <p:spPr>
          <a:xfrm>
            <a:off x="4057873" y="6334125"/>
            <a:ext cx="8134127" cy="523875"/>
          </a:xfrm>
          <a:prstGeom prst="rect">
            <a:avLst/>
          </a:prstGeom>
          <a:solidFill>
            <a:srgbClr val="013F34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8" name="Text 14"/>
          <p:cNvSpPr/>
          <p:nvPr/>
        </p:nvSpPr>
        <p:spPr>
          <a:xfrm>
            <a:off x="7262515" y="6488906"/>
            <a:ext cx="80010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07143"/>
              </a:lnSpc>
              <a:buNone/>
            </a:pPr>
            <a:r>
              <a:rPr lang="en-US" sz="675" kern="0" spc="41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THE CONVERSATION</a:t>
            </a:r>
            <a:endParaRPr lang="en-US" sz="675"/>
          </a:p>
        </p:txBody>
      </p:sp>
      <p:sp>
        <p:nvSpPr>
          <p:cNvPr id="19" name="Text 15"/>
          <p:cNvSpPr/>
          <p:nvPr/>
        </p:nvSpPr>
        <p:spPr>
          <a:xfrm>
            <a:off x="8310265" y="6496050"/>
            <a:ext cx="187301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08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#FABCONEUROPE</a:t>
            </a:r>
            <a:endParaRPr lang="en-US" sz="1350"/>
          </a:p>
        </p:txBody>
      </p:sp>
      <p:sp>
        <p:nvSpPr>
          <p:cNvPr id="20" name="Text 16"/>
          <p:cNvSpPr/>
          <p:nvPr/>
        </p:nvSpPr>
        <p:spPr>
          <a:xfrm>
            <a:off x="10260657" y="6496050"/>
            <a:ext cx="189397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08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#SQLCONEUROPE</a:t>
            </a:r>
            <a:endParaRPr lang="en-US" sz="135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39820" y="247650"/>
            <a:ext cx="3121558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72">
                <a:solidFill>
                  <a:srgbClr val="4B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RECORD OR LIVESTREAM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914400" y="742950"/>
            <a:ext cx="1139952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b="1" kern="0" spc="86">
                <a:solidFill>
                  <a:srgbClr val="017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3 · THE SEAM</a:t>
            </a:r>
            <a:endParaRPr lang="en-US" sz="1425"/>
          </a:p>
        </p:txBody>
      </p:sp>
      <p:sp>
        <p:nvSpPr>
          <p:cNvPr id="4" name="Text 2"/>
          <p:cNvSpPr/>
          <p:nvPr/>
        </p:nvSpPr>
        <p:spPr>
          <a:xfrm>
            <a:off x="914400" y="1100138"/>
            <a:ext cx="11399520" cy="488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556"/>
              </a:lnSpc>
              <a:buNone/>
            </a:pPr>
            <a:r>
              <a:rPr lang="en-US" sz="3225" b="1" kern="0" spc="-32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connecting the two layers actually buys</a:t>
            </a:r>
            <a:endParaRPr lang="en-US" sz="3225"/>
          </a:p>
        </p:txBody>
      </p:sp>
      <p:sp>
        <p:nvSpPr>
          <p:cNvPr id="5" name="Text 3"/>
          <p:cNvSpPr/>
          <p:nvPr/>
        </p:nvSpPr>
        <p:spPr>
          <a:xfrm>
            <a:off x="914400" y="1898972"/>
            <a:ext cx="544830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b="1" kern="0" spc="86">
                <a:solidFill>
                  <a:srgbClr val="017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GROUNDING</a:t>
            </a:r>
            <a:endParaRPr lang="en-US" sz="1425"/>
          </a:p>
        </p:txBody>
      </p:sp>
      <p:sp>
        <p:nvSpPr>
          <p:cNvPr id="6" name="Text 4"/>
          <p:cNvSpPr/>
          <p:nvPr/>
        </p:nvSpPr>
        <p:spPr>
          <a:xfrm>
            <a:off x="914400" y="2199010"/>
            <a:ext cx="5101590" cy="1040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5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answer comes from governed enterprise data at query time, not from what the model remembers about the business.</a:t>
            </a:r>
            <a:endParaRPr lang="en-US" sz="1950"/>
          </a:p>
        </p:txBody>
      </p:sp>
      <p:sp>
        <p:nvSpPr>
          <p:cNvPr id="7" name="Text 5"/>
          <p:cNvSpPr/>
          <p:nvPr/>
        </p:nvSpPr>
        <p:spPr>
          <a:xfrm>
            <a:off x="6324600" y="1898972"/>
            <a:ext cx="544830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b="1" kern="0" spc="86">
                <a:solidFill>
                  <a:srgbClr val="017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PERMISSION-AWARE RETRIEVAL</a:t>
            </a:r>
            <a:endParaRPr lang="en-US" sz="1425"/>
          </a:p>
        </p:txBody>
      </p:sp>
      <p:sp>
        <p:nvSpPr>
          <p:cNvPr id="8" name="Text 6"/>
          <p:cNvSpPr/>
          <p:nvPr/>
        </p:nvSpPr>
        <p:spPr>
          <a:xfrm>
            <a:off x="6324600" y="2199010"/>
            <a:ext cx="5101590" cy="1040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5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Requests run under the identity configured for the connection and honour Fabric permissions and governance policies.</a:t>
            </a:r>
            <a:endParaRPr lang="en-US" sz="1950"/>
          </a:p>
        </p:txBody>
      </p:sp>
      <p:sp>
        <p:nvSpPr>
          <p:cNvPr id="9" name="Text 7"/>
          <p:cNvSpPr/>
          <p:nvPr/>
        </p:nvSpPr>
        <p:spPr>
          <a:xfrm>
            <a:off x="914400" y="3449464"/>
            <a:ext cx="544830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b="1" kern="0" spc="86">
                <a:solidFill>
                  <a:srgbClr val="017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EXPLAINABILITY</a:t>
            </a:r>
            <a:endParaRPr lang="en-US" sz="1425"/>
          </a:p>
        </p:txBody>
      </p:sp>
      <p:sp>
        <p:nvSpPr>
          <p:cNvPr id="10" name="Text 8"/>
          <p:cNvSpPr/>
          <p:nvPr/>
        </p:nvSpPr>
        <p:spPr>
          <a:xfrm>
            <a:off x="914400" y="3749501"/>
            <a:ext cx="5101590" cy="1375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5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Responses reference defined entities and relationships, and the agent names the tool it used. That is what makes an answer checkable.</a:t>
            </a:r>
            <a:endParaRPr lang="en-US" sz="1950"/>
          </a:p>
        </p:txBody>
      </p:sp>
      <p:sp>
        <p:nvSpPr>
          <p:cNvPr id="11" name="Text 9"/>
          <p:cNvSpPr/>
          <p:nvPr/>
        </p:nvSpPr>
        <p:spPr>
          <a:xfrm>
            <a:off x="6324600" y="3449464"/>
            <a:ext cx="544830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b="1" kern="0" spc="86">
                <a:solidFill>
                  <a:srgbClr val="017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CROSS-DOMAIN REASONING</a:t>
            </a:r>
            <a:endParaRPr lang="en-US" sz="1425"/>
          </a:p>
        </p:txBody>
      </p:sp>
      <p:sp>
        <p:nvSpPr>
          <p:cNvPr id="12" name="Text 10"/>
          <p:cNvSpPr/>
          <p:nvPr/>
        </p:nvSpPr>
        <p:spPr>
          <a:xfrm>
            <a:off x="6324600" y="3749501"/>
            <a:ext cx="5101590" cy="1040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5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question can traverse process, supply chain and order data — the pattern the centerpiece question exercises.</a:t>
            </a:r>
            <a:endParaRPr lang="en-US" sz="1950"/>
          </a:p>
        </p:txBody>
      </p:sp>
      <p:sp>
        <p:nvSpPr>
          <p:cNvPr id="13" name="Shape 11"/>
          <p:cNvSpPr/>
          <p:nvPr/>
        </p:nvSpPr>
        <p:spPr>
          <a:xfrm>
            <a:off x="914400" y="5130180"/>
            <a:ext cx="10363200" cy="822945"/>
          </a:xfrm>
          <a:prstGeom prst="rect">
            <a:avLst/>
          </a:prstGeom>
          <a:solidFill>
            <a:srgbClr val="013F34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4" name="Text 12"/>
          <p:cNvSpPr/>
          <p:nvPr/>
        </p:nvSpPr>
        <p:spPr>
          <a:xfrm>
            <a:off x="1181100" y="5358780"/>
            <a:ext cx="10812780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3784"/>
              </a:lnSpc>
              <a:buNone/>
            </a:pPr>
            <a:r>
              <a:rPr lang="en-US" sz="2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 holds the truth. Foundry decides what to ask it.</a:t>
            </a:r>
            <a:endParaRPr lang="en-US" sz="2400"/>
          </a:p>
        </p:txBody>
      </p:sp>
      <p:sp>
        <p:nvSpPr>
          <p:cNvPr id="15" name="Shape 13"/>
          <p:cNvSpPr/>
          <p:nvPr/>
        </p:nvSpPr>
        <p:spPr>
          <a:xfrm>
            <a:off x="0" y="6334125"/>
            <a:ext cx="2975595" cy="523875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" y="6407497"/>
            <a:ext cx="391344" cy="377130"/>
          </a:xfrm>
          <a:prstGeom prst="rect">
            <a:avLst/>
          </a:prstGeom>
        </p:spPr>
      </p:pic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44" y="6422529"/>
            <a:ext cx="652537" cy="346993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2975595" y="6334125"/>
            <a:ext cx="757535" cy="523875"/>
          </a:xfrm>
          <a:prstGeom prst="rect">
            <a:avLst/>
          </a:prstGeom>
          <a:solidFill>
            <a:srgbClr val="017864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5"/>
          <p:cNvSpPr/>
          <p:nvPr/>
        </p:nvSpPr>
        <p:spPr>
          <a:xfrm>
            <a:off x="3127995" y="6386066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</a:t>
            </a:r>
            <a:endParaRPr lang="en-US" sz="788"/>
          </a:p>
        </p:txBody>
      </p:sp>
      <p:sp>
        <p:nvSpPr>
          <p:cNvPr id="20" name="Text 16"/>
          <p:cNvSpPr/>
          <p:nvPr/>
        </p:nvSpPr>
        <p:spPr>
          <a:xfrm>
            <a:off x="3127995" y="6526039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</a:t>
            </a:r>
            <a:endParaRPr lang="en-US" sz="788"/>
          </a:p>
        </p:txBody>
      </p:sp>
      <p:sp>
        <p:nvSpPr>
          <p:cNvPr id="21" name="Text 17"/>
          <p:cNvSpPr/>
          <p:nvPr/>
        </p:nvSpPr>
        <p:spPr>
          <a:xfrm>
            <a:off x="3127995" y="6666012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ONA</a:t>
            </a:r>
            <a:endParaRPr lang="en-US" sz="788"/>
          </a:p>
        </p:txBody>
      </p:sp>
      <p:sp>
        <p:nvSpPr>
          <p:cNvPr id="22" name="Text 18"/>
          <p:cNvSpPr/>
          <p:nvPr/>
        </p:nvSpPr>
        <p:spPr>
          <a:xfrm>
            <a:off x="3461445" y="6406083"/>
            <a:ext cx="195486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3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788"/>
          </a:p>
        </p:txBody>
      </p:sp>
      <p:sp>
        <p:nvSpPr>
          <p:cNvPr id="23" name="Shape 19"/>
          <p:cNvSpPr/>
          <p:nvPr/>
        </p:nvSpPr>
        <p:spPr>
          <a:xfrm>
            <a:off x="3461445" y="6562725"/>
            <a:ext cx="104775" cy="66675"/>
          </a:xfrm>
          <a:prstGeom prst="rect">
            <a:avLst/>
          </a:prstGeom>
          <a:gradFill rotWithShape="1">
            <a:gsLst>
              <a:gs pos="25000">
                <a:srgbClr val="BCA045">
                  <a:alpha val="100000"/>
                </a:srgbClr>
              </a:gs>
              <a:gs pos="25000">
                <a:srgbClr val="017864">
                  <a:alpha val="100000"/>
                </a:srgbClr>
              </a:gs>
            </a:gsLst>
            <a:lin ang="18900000" scaled="0"/>
          </a:gradFill>
          <a:ln/>
        </p:spPr>
        <p:txBody>
          <a:bodyPr/>
          <a:lstStyle/>
          <a:p>
            <a:endParaRPr lang="en-FR"/>
          </a:p>
        </p:txBody>
      </p:sp>
      <p:sp>
        <p:nvSpPr>
          <p:cNvPr id="24" name="Text 20"/>
          <p:cNvSpPr/>
          <p:nvPr/>
        </p:nvSpPr>
        <p:spPr>
          <a:xfrm>
            <a:off x="3461445" y="6646069"/>
            <a:ext cx="195486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3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788"/>
          </a:p>
        </p:txBody>
      </p:sp>
      <p:sp>
        <p:nvSpPr>
          <p:cNvPr id="25" name="Shape 21"/>
          <p:cNvSpPr/>
          <p:nvPr/>
        </p:nvSpPr>
        <p:spPr>
          <a:xfrm>
            <a:off x="3733130" y="6334125"/>
            <a:ext cx="324743" cy="523875"/>
          </a:xfrm>
          <a:prstGeom prst="rect">
            <a:avLst/>
          </a:prstGeom>
          <a:gradFill rotWithShape="1">
            <a:gsLst>
              <a:gs pos="25000">
                <a:srgbClr val="017864">
                  <a:alpha val="100000"/>
                </a:srgbClr>
              </a:gs>
              <a:gs pos="25000">
                <a:srgbClr val="013F34">
                  <a:alpha val="100000"/>
                </a:srgbClr>
              </a:gs>
            </a:gsLst>
            <a:lin ang="18900000" scaled="0"/>
          </a:gradFill>
          <a:ln/>
        </p:spPr>
        <p:txBody>
          <a:bodyPr/>
          <a:lstStyle/>
          <a:p>
            <a:endParaRPr lang="en-FR"/>
          </a:p>
        </p:txBody>
      </p:sp>
      <p:sp>
        <p:nvSpPr>
          <p:cNvPr id="26" name="Shape 22"/>
          <p:cNvSpPr/>
          <p:nvPr/>
        </p:nvSpPr>
        <p:spPr>
          <a:xfrm>
            <a:off x="4057873" y="6334125"/>
            <a:ext cx="8134127" cy="523875"/>
          </a:xfrm>
          <a:prstGeom prst="rect">
            <a:avLst/>
          </a:prstGeom>
          <a:solidFill>
            <a:srgbClr val="013F34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27" name="Text 23"/>
          <p:cNvSpPr/>
          <p:nvPr/>
        </p:nvSpPr>
        <p:spPr>
          <a:xfrm>
            <a:off x="7262515" y="6488906"/>
            <a:ext cx="80010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07143"/>
              </a:lnSpc>
              <a:buNone/>
            </a:pPr>
            <a:r>
              <a:rPr lang="en-US" sz="675" kern="0" spc="41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THE CONVERSATION</a:t>
            </a:r>
            <a:endParaRPr lang="en-US" sz="675"/>
          </a:p>
        </p:txBody>
      </p:sp>
      <p:sp>
        <p:nvSpPr>
          <p:cNvPr id="28" name="Text 24"/>
          <p:cNvSpPr/>
          <p:nvPr/>
        </p:nvSpPr>
        <p:spPr>
          <a:xfrm>
            <a:off x="8310265" y="6496050"/>
            <a:ext cx="187301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08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#FABCONEUROPE</a:t>
            </a:r>
            <a:endParaRPr lang="en-US" sz="1350"/>
          </a:p>
        </p:txBody>
      </p:sp>
      <p:sp>
        <p:nvSpPr>
          <p:cNvPr id="29" name="Text 25"/>
          <p:cNvSpPr/>
          <p:nvPr/>
        </p:nvSpPr>
        <p:spPr>
          <a:xfrm>
            <a:off x="10260657" y="6496050"/>
            <a:ext cx="189397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08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#SQLCONEUROPE</a:t>
            </a:r>
            <a:endParaRPr lang="en-US" sz="135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39820" y="247650"/>
            <a:ext cx="3121558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72">
                <a:solidFill>
                  <a:srgbClr val="4B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RECORD OR LIVESTREAM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914400" y="742950"/>
            <a:ext cx="1139952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b="1" kern="0" spc="86">
                <a:solidFill>
                  <a:srgbClr val="017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3 · RUNTIME</a:t>
            </a:r>
            <a:endParaRPr lang="en-US" sz="1425"/>
          </a:p>
        </p:txBody>
      </p:sp>
      <p:sp>
        <p:nvSpPr>
          <p:cNvPr id="4" name="Text 2"/>
          <p:cNvSpPr/>
          <p:nvPr/>
        </p:nvSpPr>
        <p:spPr>
          <a:xfrm>
            <a:off x="914400" y="1100138"/>
            <a:ext cx="11399520" cy="488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556"/>
              </a:lnSpc>
              <a:buNone/>
            </a:pPr>
            <a:r>
              <a:rPr lang="en-US" sz="3225" b="1" kern="0" spc="-32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Foundry is the agent runtime, not the data</a:t>
            </a:r>
            <a:endParaRPr lang="en-US" sz="3225"/>
          </a:p>
        </p:txBody>
      </p:sp>
      <p:sp>
        <p:nvSpPr>
          <p:cNvPr id="5" name="Text 3"/>
          <p:cNvSpPr/>
          <p:nvPr/>
        </p:nvSpPr>
        <p:spPr>
          <a:xfrm>
            <a:off x="914400" y="2276252"/>
            <a:ext cx="499988" cy="1375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957"/>
              </a:lnSpc>
              <a:buNone/>
            </a:pPr>
            <a:r>
              <a:rPr lang="en-US" sz="3000" b="1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/>
          </a:p>
        </p:txBody>
      </p:sp>
      <p:sp>
        <p:nvSpPr>
          <p:cNvPr id="6" name="Text 4"/>
          <p:cNvSpPr/>
          <p:nvPr/>
        </p:nvSpPr>
        <p:spPr>
          <a:xfrm>
            <a:off x="1509638" y="2276252"/>
            <a:ext cx="4488495" cy="1375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5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managed runtime: model, instructions and tools as one resource, with agent identity, versioning and a stable published endpoint.</a:t>
            </a:r>
            <a:endParaRPr lang="en-US" sz="1950"/>
          </a:p>
        </p:txBody>
      </p:sp>
      <p:sp>
        <p:nvSpPr>
          <p:cNvPr id="7" name="Text 5"/>
          <p:cNvSpPr/>
          <p:nvPr/>
        </p:nvSpPr>
        <p:spPr>
          <a:xfrm>
            <a:off x="6324600" y="2276252"/>
            <a:ext cx="499988" cy="1375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957"/>
              </a:lnSpc>
              <a:buNone/>
            </a:pPr>
            <a:r>
              <a:rPr lang="en-US" sz="3000" b="1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/>
          </a:p>
        </p:txBody>
      </p:sp>
      <p:sp>
        <p:nvSpPr>
          <p:cNvPr id="8" name="Text 6"/>
          <p:cNvSpPr/>
          <p:nvPr/>
        </p:nvSpPr>
        <p:spPr>
          <a:xfrm>
            <a:off x="6919838" y="2276252"/>
            <a:ext cx="4488495" cy="1375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5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routes. Given instructions and tool definitions, it decides whether and which tool to call. No routing logic was written by hand.</a:t>
            </a:r>
            <a:endParaRPr lang="en-US" sz="1950"/>
          </a:p>
        </p:txBody>
      </p:sp>
      <p:sp>
        <p:nvSpPr>
          <p:cNvPr id="9" name="Text 7"/>
          <p:cNvSpPr/>
          <p:nvPr/>
        </p:nvSpPr>
        <p:spPr>
          <a:xfrm>
            <a:off x="914400" y="3860974"/>
            <a:ext cx="499988" cy="1709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957"/>
              </a:lnSpc>
              <a:buNone/>
            </a:pPr>
            <a:r>
              <a:rPr lang="en-US" sz="3000" b="1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/>
          </a:p>
        </p:txBody>
      </p:sp>
      <p:sp>
        <p:nvSpPr>
          <p:cNvPr id="10" name="Text 8"/>
          <p:cNvSpPr/>
          <p:nvPr/>
        </p:nvSpPr>
        <p:spPr>
          <a:xfrm>
            <a:off x="1509638" y="3860974"/>
            <a:ext cx="4488495" cy="1709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5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are the surface: built-in tools plus custom ones via functions, OpenAPI and MCP. Fabric IQ is registered as a server-side tool, so retrieval runs inside Fabric.</a:t>
            </a:r>
            <a:endParaRPr lang="en-US" sz="1950"/>
          </a:p>
        </p:txBody>
      </p:sp>
      <p:sp>
        <p:nvSpPr>
          <p:cNvPr id="11" name="Text 9"/>
          <p:cNvSpPr/>
          <p:nvPr/>
        </p:nvSpPr>
        <p:spPr>
          <a:xfrm>
            <a:off x="6324600" y="3860974"/>
            <a:ext cx="499988" cy="1709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957"/>
              </a:lnSpc>
              <a:buNone/>
            </a:pPr>
            <a:r>
              <a:rPr lang="en-US" sz="3000" b="1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/>
          </a:p>
        </p:txBody>
      </p:sp>
      <p:sp>
        <p:nvSpPr>
          <p:cNvPr id="12" name="Text 10"/>
          <p:cNvSpPr/>
          <p:nvPr/>
        </p:nvSpPr>
        <p:spPr>
          <a:xfrm>
            <a:off x="6919838" y="3860974"/>
            <a:ext cx="4488495" cy="1709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5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is reusable: Foundry IQ holds knowledge sources an agent queries at runtime. Agent-to-agent (A2A) exists in preview — we come back to it.</a:t>
            </a:r>
            <a:endParaRPr lang="en-US" sz="1950"/>
          </a:p>
        </p:txBody>
      </p:sp>
      <p:sp>
        <p:nvSpPr>
          <p:cNvPr id="13" name="Shape 11"/>
          <p:cNvSpPr/>
          <p:nvPr/>
        </p:nvSpPr>
        <p:spPr>
          <a:xfrm>
            <a:off x="0" y="6334125"/>
            <a:ext cx="2975595" cy="523875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" y="6407497"/>
            <a:ext cx="391344" cy="377130"/>
          </a:xfrm>
          <a:prstGeom prst="rect">
            <a:avLst/>
          </a:prstGeom>
        </p:spPr>
      </p:pic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44" y="6422529"/>
            <a:ext cx="652537" cy="346993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2975595" y="6334125"/>
            <a:ext cx="757535" cy="523875"/>
          </a:xfrm>
          <a:prstGeom prst="rect">
            <a:avLst/>
          </a:prstGeom>
          <a:solidFill>
            <a:srgbClr val="017864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7" name="Text 13"/>
          <p:cNvSpPr/>
          <p:nvPr/>
        </p:nvSpPr>
        <p:spPr>
          <a:xfrm>
            <a:off x="3127995" y="6386066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</a:t>
            </a:r>
            <a:endParaRPr lang="en-US" sz="788"/>
          </a:p>
        </p:txBody>
      </p:sp>
      <p:sp>
        <p:nvSpPr>
          <p:cNvPr id="18" name="Text 14"/>
          <p:cNvSpPr/>
          <p:nvPr/>
        </p:nvSpPr>
        <p:spPr>
          <a:xfrm>
            <a:off x="3127995" y="6526039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</a:t>
            </a:r>
            <a:endParaRPr lang="en-US" sz="788"/>
          </a:p>
        </p:txBody>
      </p:sp>
      <p:sp>
        <p:nvSpPr>
          <p:cNvPr id="19" name="Text 15"/>
          <p:cNvSpPr/>
          <p:nvPr/>
        </p:nvSpPr>
        <p:spPr>
          <a:xfrm>
            <a:off x="3127995" y="6666012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ONA</a:t>
            </a:r>
            <a:endParaRPr lang="en-US" sz="788"/>
          </a:p>
        </p:txBody>
      </p:sp>
      <p:sp>
        <p:nvSpPr>
          <p:cNvPr id="20" name="Text 16"/>
          <p:cNvSpPr/>
          <p:nvPr/>
        </p:nvSpPr>
        <p:spPr>
          <a:xfrm>
            <a:off x="3461445" y="6406083"/>
            <a:ext cx="195486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3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788"/>
          </a:p>
        </p:txBody>
      </p:sp>
      <p:sp>
        <p:nvSpPr>
          <p:cNvPr id="21" name="Shape 17"/>
          <p:cNvSpPr/>
          <p:nvPr/>
        </p:nvSpPr>
        <p:spPr>
          <a:xfrm>
            <a:off x="3461445" y="6562725"/>
            <a:ext cx="104775" cy="66675"/>
          </a:xfrm>
          <a:prstGeom prst="rect">
            <a:avLst/>
          </a:prstGeom>
          <a:gradFill rotWithShape="1">
            <a:gsLst>
              <a:gs pos="25000">
                <a:srgbClr val="BCA045">
                  <a:alpha val="100000"/>
                </a:srgbClr>
              </a:gs>
              <a:gs pos="25000">
                <a:srgbClr val="017864">
                  <a:alpha val="100000"/>
                </a:srgbClr>
              </a:gs>
            </a:gsLst>
            <a:lin ang="18900000" scaled="0"/>
          </a:gradFill>
          <a:ln/>
        </p:spPr>
        <p:txBody>
          <a:bodyPr/>
          <a:lstStyle/>
          <a:p>
            <a:endParaRPr lang="en-FR"/>
          </a:p>
        </p:txBody>
      </p:sp>
      <p:sp>
        <p:nvSpPr>
          <p:cNvPr id="22" name="Text 18"/>
          <p:cNvSpPr/>
          <p:nvPr/>
        </p:nvSpPr>
        <p:spPr>
          <a:xfrm>
            <a:off x="3461445" y="6646069"/>
            <a:ext cx="195486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3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788"/>
          </a:p>
        </p:txBody>
      </p:sp>
      <p:sp>
        <p:nvSpPr>
          <p:cNvPr id="23" name="Shape 19"/>
          <p:cNvSpPr/>
          <p:nvPr/>
        </p:nvSpPr>
        <p:spPr>
          <a:xfrm>
            <a:off x="3733130" y="6334125"/>
            <a:ext cx="324743" cy="523875"/>
          </a:xfrm>
          <a:prstGeom prst="rect">
            <a:avLst/>
          </a:prstGeom>
          <a:gradFill rotWithShape="1">
            <a:gsLst>
              <a:gs pos="25000">
                <a:srgbClr val="017864">
                  <a:alpha val="100000"/>
                </a:srgbClr>
              </a:gs>
              <a:gs pos="25000">
                <a:srgbClr val="013F34">
                  <a:alpha val="100000"/>
                </a:srgbClr>
              </a:gs>
            </a:gsLst>
            <a:lin ang="18900000" scaled="0"/>
          </a:gradFill>
          <a:ln/>
        </p:spPr>
        <p:txBody>
          <a:bodyPr/>
          <a:lstStyle/>
          <a:p>
            <a:endParaRPr lang="en-FR"/>
          </a:p>
        </p:txBody>
      </p:sp>
      <p:sp>
        <p:nvSpPr>
          <p:cNvPr id="24" name="Shape 20"/>
          <p:cNvSpPr/>
          <p:nvPr/>
        </p:nvSpPr>
        <p:spPr>
          <a:xfrm>
            <a:off x="4057873" y="6334125"/>
            <a:ext cx="8134127" cy="523875"/>
          </a:xfrm>
          <a:prstGeom prst="rect">
            <a:avLst/>
          </a:prstGeom>
          <a:solidFill>
            <a:srgbClr val="013F34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25" name="Text 21"/>
          <p:cNvSpPr/>
          <p:nvPr/>
        </p:nvSpPr>
        <p:spPr>
          <a:xfrm>
            <a:off x="7262515" y="6488906"/>
            <a:ext cx="80010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07143"/>
              </a:lnSpc>
              <a:buNone/>
            </a:pPr>
            <a:r>
              <a:rPr lang="en-US" sz="675" kern="0" spc="41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THE CONVERSATION</a:t>
            </a:r>
            <a:endParaRPr lang="en-US" sz="675"/>
          </a:p>
        </p:txBody>
      </p:sp>
      <p:sp>
        <p:nvSpPr>
          <p:cNvPr id="26" name="Text 22"/>
          <p:cNvSpPr/>
          <p:nvPr/>
        </p:nvSpPr>
        <p:spPr>
          <a:xfrm>
            <a:off x="8310265" y="6496050"/>
            <a:ext cx="187301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08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#FABCONEUROPE</a:t>
            </a:r>
            <a:endParaRPr lang="en-US" sz="1350"/>
          </a:p>
        </p:txBody>
      </p:sp>
      <p:sp>
        <p:nvSpPr>
          <p:cNvPr id="27" name="Text 23"/>
          <p:cNvSpPr/>
          <p:nvPr/>
        </p:nvSpPr>
        <p:spPr>
          <a:xfrm>
            <a:off x="10260657" y="6496050"/>
            <a:ext cx="189397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08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#SQLCONEUROPE</a:t>
            </a:r>
            <a:endParaRPr lang="en-US" sz="135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39820" y="247650"/>
            <a:ext cx="3121558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72" dirty="0">
                <a:solidFill>
                  <a:srgbClr val="4B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RECORD OR LIVESTREAM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742950"/>
            <a:ext cx="1139952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b="1" kern="0" spc="86" dirty="0">
                <a:solidFill>
                  <a:srgbClr val="017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3 · ARCHITECTURE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914400" y="1100138"/>
            <a:ext cx="11399520" cy="488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556"/>
              </a:lnSpc>
              <a:buNone/>
            </a:pPr>
            <a:r>
              <a:rPr lang="en-US" sz="3225" b="1" kern="0" spc="-32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chocolate-factory-agent — three tools</a:t>
            </a:r>
            <a:endParaRPr lang="en-US" sz="3225" dirty="0"/>
          </a:p>
        </p:txBody>
      </p:sp>
      <p:sp>
        <p:nvSpPr>
          <p:cNvPr id="5" name="Shape 3"/>
          <p:cNvSpPr/>
          <p:nvPr/>
        </p:nvSpPr>
        <p:spPr>
          <a:xfrm>
            <a:off x="914400" y="1855440"/>
            <a:ext cx="10363200" cy="466725"/>
          </a:xfrm>
          <a:prstGeom prst="rect">
            <a:avLst/>
          </a:prstGeom>
          <a:solidFill>
            <a:srgbClr val="017864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6" name="Text 4"/>
          <p:cNvSpPr/>
          <p:nvPr/>
        </p:nvSpPr>
        <p:spPr>
          <a:xfrm>
            <a:off x="1104900" y="1988790"/>
            <a:ext cx="317566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8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010918" y="1988790"/>
            <a:ext cx="388142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8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GROUNDS IN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558534" y="1988790"/>
            <a:ext cx="388142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8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QUESTION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914400" y="3332708"/>
            <a:ext cx="10363200" cy="9525"/>
          </a:xfrm>
          <a:prstGeom prst="rect">
            <a:avLst/>
          </a:prstGeom>
          <a:solidFill>
            <a:srgbClr val="013F34">
              <a:alpha val="12000"/>
            </a:srgbClr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0" name="Text 8"/>
          <p:cNvSpPr/>
          <p:nvPr/>
        </p:nvSpPr>
        <p:spPr>
          <a:xfrm>
            <a:off x="1104900" y="2531715"/>
            <a:ext cx="304183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9091"/>
              </a:lnSpc>
              <a:buNone/>
            </a:pPr>
            <a:r>
              <a:rPr lang="en-US" sz="180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knowledge_base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098801" y="2531715"/>
            <a:ext cx="3481207" cy="629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25" dirty="0">
                <a:solidFill>
                  <a:srgbClr val="4B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and definition docs — process glossary, business rules</a:t>
            </a:r>
            <a:endParaRPr lang="en-US" sz="1725" dirty="0"/>
          </a:p>
        </p:txBody>
      </p:sp>
      <p:sp>
        <p:nvSpPr>
          <p:cNvPr id="12" name="Text 10"/>
          <p:cNvSpPr/>
          <p:nvPr/>
        </p:nvSpPr>
        <p:spPr>
          <a:xfrm>
            <a:off x="7707213" y="2531715"/>
            <a:ext cx="3481283" cy="629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25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counts as an overdue invoice?"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914400" y="4352776"/>
            <a:ext cx="10363200" cy="9525"/>
          </a:xfrm>
          <a:prstGeom prst="rect">
            <a:avLst/>
          </a:prstGeom>
          <a:solidFill>
            <a:srgbClr val="013F34">
              <a:alpha val="12000"/>
            </a:srgbClr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4" name="Text 12"/>
          <p:cNvSpPr/>
          <p:nvPr/>
        </p:nvSpPr>
        <p:spPr>
          <a:xfrm>
            <a:off x="1104900" y="3551783"/>
            <a:ext cx="304183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9091"/>
              </a:lnSpc>
              <a:buNone/>
            </a:pPr>
            <a:r>
              <a:rPr lang="en-US" sz="180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fabric_data_agent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098801" y="3551783"/>
            <a:ext cx="3481207" cy="629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25" dirty="0">
                <a:solidFill>
                  <a:srgbClr val="4B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Eventhouse telemetry — quality checks, line status</a:t>
            </a:r>
            <a:endParaRPr lang="en-US" sz="1725" dirty="0"/>
          </a:p>
        </p:txBody>
      </p:sp>
      <p:sp>
        <p:nvSpPr>
          <p:cNvPr id="16" name="Text 14"/>
          <p:cNvSpPr/>
          <p:nvPr/>
        </p:nvSpPr>
        <p:spPr>
          <a:xfrm>
            <a:off x="7707213" y="3551783"/>
            <a:ext cx="3481283" cy="629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25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"Are there any anomalies I should be aware of?"</a:t>
            </a:r>
            <a:endParaRPr lang="en-US" sz="1725" dirty="0"/>
          </a:p>
        </p:txBody>
      </p:sp>
      <p:sp>
        <p:nvSpPr>
          <p:cNvPr id="17" name="Text 15"/>
          <p:cNvSpPr/>
          <p:nvPr/>
        </p:nvSpPr>
        <p:spPr>
          <a:xfrm>
            <a:off x="1104900" y="4571851"/>
            <a:ext cx="304183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9091"/>
              </a:lnSpc>
              <a:buNone/>
            </a:pPr>
            <a:r>
              <a:rPr lang="en-US" sz="180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fabric_iq_ontology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098801" y="4571851"/>
            <a:ext cx="3481207" cy="925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25" dirty="0">
                <a:solidFill>
                  <a:srgbClr val="4B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23-entity, 29-relationship graph across Factory, Quality, Supply Chain and ERP</a:t>
            </a:r>
            <a:endParaRPr lang="en-US" sz="1725" dirty="0"/>
          </a:p>
        </p:txBody>
      </p:sp>
      <p:sp>
        <p:nvSpPr>
          <p:cNvPr id="19" name="Text 17"/>
          <p:cNvSpPr/>
          <p:nvPr/>
        </p:nvSpPr>
        <p:spPr>
          <a:xfrm>
            <a:off x="7707213" y="4571851"/>
            <a:ext cx="3481283" cy="629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25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"Which factories are receiving shipments?"</a:t>
            </a:r>
            <a:endParaRPr lang="en-US" sz="1725" dirty="0"/>
          </a:p>
        </p:txBody>
      </p:sp>
      <p:sp>
        <p:nvSpPr>
          <p:cNvPr id="20" name="Text 18"/>
          <p:cNvSpPr/>
          <p:nvPr/>
        </p:nvSpPr>
        <p:spPr>
          <a:xfrm>
            <a:off x="914400" y="5668566"/>
            <a:ext cx="10674096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b="1" kern="0" spc="86" dirty="0">
                <a:solidFill>
                  <a:srgbClr val="017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PICKS THE TOOL PER QUESTION AND CITES WHICH ONE IT USED — GROUNDED, NOT HALLUCINATED, AND AUDITABLE AFTER THE FACT</a:t>
            </a:r>
            <a:endParaRPr lang="en-US" sz="1425" dirty="0"/>
          </a:p>
        </p:txBody>
      </p:sp>
      <p:sp>
        <p:nvSpPr>
          <p:cNvPr id="21" name="Shape 19"/>
          <p:cNvSpPr/>
          <p:nvPr/>
        </p:nvSpPr>
        <p:spPr>
          <a:xfrm>
            <a:off x="0" y="6334125"/>
            <a:ext cx="2975595" cy="523875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" y="6407497"/>
            <a:ext cx="391344" cy="377130"/>
          </a:xfrm>
          <a:prstGeom prst="rect">
            <a:avLst/>
          </a:prstGeom>
        </p:spPr>
      </p:pic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44" y="6422529"/>
            <a:ext cx="652537" cy="346993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2975595" y="6334125"/>
            <a:ext cx="757535" cy="523875"/>
          </a:xfrm>
          <a:prstGeom prst="rect">
            <a:avLst/>
          </a:prstGeom>
          <a:solidFill>
            <a:srgbClr val="017864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25" name="Text 21"/>
          <p:cNvSpPr/>
          <p:nvPr/>
        </p:nvSpPr>
        <p:spPr>
          <a:xfrm>
            <a:off x="3127995" y="6386066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</a:t>
            </a:r>
            <a:endParaRPr lang="en-US" sz="788" dirty="0"/>
          </a:p>
        </p:txBody>
      </p:sp>
      <p:sp>
        <p:nvSpPr>
          <p:cNvPr id="26" name="Text 22"/>
          <p:cNvSpPr/>
          <p:nvPr/>
        </p:nvSpPr>
        <p:spPr>
          <a:xfrm>
            <a:off x="3127995" y="6526039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</a:t>
            </a:r>
            <a:endParaRPr lang="en-US" sz="788" dirty="0"/>
          </a:p>
        </p:txBody>
      </p:sp>
      <p:sp>
        <p:nvSpPr>
          <p:cNvPr id="27" name="Text 23"/>
          <p:cNvSpPr/>
          <p:nvPr/>
        </p:nvSpPr>
        <p:spPr>
          <a:xfrm>
            <a:off x="3127995" y="6666012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ONA</a:t>
            </a:r>
            <a:endParaRPr lang="en-US" sz="788" dirty="0"/>
          </a:p>
        </p:txBody>
      </p:sp>
      <p:sp>
        <p:nvSpPr>
          <p:cNvPr id="28" name="Text 24"/>
          <p:cNvSpPr/>
          <p:nvPr/>
        </p:nvSpPr>
        <p:spPr>
          <a:xfrm>
            <a:off x="3461445" y="6406083"/>
            <a:ext cx="195486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3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788" dirty="0"/>
          </a:p>
        </p:txBody>
      </p:sp>
      <p:sp>
        <p:nvSpPr>
          <p:cNvPr id="29" name="Shape 25"/>
          <p:cNvSpPr/>
          <p:nvPr/>
        </p:nvSpPr>
        <p:spPr>
          <a:xfrm>
            <a:off x="3461445" y="6562725"/>
            <a:ext cx="104775" cy="66675"/>
          </a:xfrm>
          <a:prstGeom prst="rect">
            <a:avLst/>
          </a:prstGeom>
          <a:gradFill rotWithShape="1">
            <a:gsLst>
              <a:gs pos="25000">
                <a:srgbClr val="BCA045">
                  <a:alpha val="100000"/>
                </a:srgbClr>
              </a:gs>
              <a:gs pos="25000">
                <a:srgbClr val="017864">
                  <a:alpha val="100000"/>
                </a:srgbClr>
              </a:gs>
            </a:gsLst>
            <a:lin ang="18900000" scaled="0"/>
          </a:gradFill>
          <a:ln/>
        </p:spPr>
        <p:txBody>
          <a:bodyPr/>
          <a:lstStyle/>
          <a:p>
            <a:endParaRPr lang="en-FR"/>
          </a:p>
        </p:txBody>
      </p:sp>
      <p:sp>
        <p:nvSpPr>
          <p:cNvPr id="30" name="Text 26"/>
          <p:cNvSpPr/>
          <p:nvPr/>
        </p:nvSpPr>
        <p:spPr>
          <a:xfrm>
            <a:off x="3461445" y="6646069"/>
            <a:ext cx="195486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3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788" dirty="0"/>
          </a:p>
        </p:txBody>
      </p:sp>
      <p:sp>
        <p:nvSpPr>
          <p:cNvPr id="31" name="Shape 27"/>
          <p:cNvSpPr/>
          <p:nvPr/>
        </p:nvSpPr>
        <p:spPr>
          <a:xfrm>
            <a:off x="3733130" y="6334125"/>
            <a:ext cx="324743" cy="523875"/>
          </a:xfrm>
          <a:prstGeom prst="rect">
            <a:avLst/>
          </a:prstGeom>
          <a:gradFill rotWithShape="1">
            <a:gsLst>
              <a:gs pos="25000">
                <a:srgbClr val="017864">
                  <a:alpha val="100000"/>
                </a:srgbClr>
              </a:gs>
              <a:gs pos="25000">
                <a:srgbClr val="013F34">
                  <a:alpha val="100000"/>
                </a:srgbClr>
              </a:gs>
            </a:gsLst>
            <a:lin ang="18900000" scaled="0"/>
          </a:gradFill>
          <a:ln/>
        </p:spPr>
        <p:txBody>
          <a:bodyPr/>
          <a:lstStyle/>
          <a:p>
            <a:endParaRPr lang="en-FR"/>
          </a:p>
        </p:txBody>
      </p:sp>
      <p:sp>
        <p:nvSpPr>
          <p:cNvPr id="32" name="Shape 28"/>
          <p:cNvSpPr/>
          <p:nvPr/>
        </p:nvSpPr>
        <p:spPr>
          <a:xfrm>
            <a:off x="4057873" y="6334125"/>
            <a:ext cx="8134127" cy="523875"/>
          </a:xfrm>
          <a:prstGeom prst="rect">
            <a:avLst/>
          </a:prstGeom>
          <a:solidFill>
            <a:srgbClr val="013F34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33" name="Text 29"/>
          <p:cNvSpPr/>
          <p:nvPr/>
        </p:nvSpPr>
        <p:spPr>
          <a:xfrm>
            <a:off x="7262515" y="6488906"/>
            <a:ext cx="80010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07143"/>
              </a:lnSpc>
              <a:buNone/>
            </a:pPr>
            <a:r>
              <a:rPr lang="en-US" sz="675" kern="0" spc="41" dirty="0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THE CONVERSATION</a:t>
            </a:r>
            <a:endParaRPr lang="en-US" sz="675" dirty="0"/>
          </a:p>
        </p:txBody>
      </p:sp>
      <p:sp>
        <p:nvSpPr>
          <p:cNvPr id="34" name="Text 30"/>
          <p:cNvSpPr/>
          <p:nvPr/>
        </p:nvSpPr>
        <p:spPr>
          <a:xfrm>
            <a:off x="8310265" y="6496050"/>
            <a:ext cx="187301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0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#FABCONEUROPE</a:t>
            </a:r>
            <a:endParaRPr lang="en-US" sz="1350" dirty="0"/>
          </a:p>
        </p:txBody>
      </p:sp>
      <p:sp>
        <p:nvSpPr>
          <p:cNvPr id="35" name="Text 31"/>
          <p:cNvSpPr/>
          <p:nvPr/>
        </p:nvSpPr>
        <p:spPr>
          <a:xfrm>
            <a:off x="10260657" y="6496050"/>
            <a:ext cx="189397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0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#SQLCONEUROPE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16251">
                  <a:alpha val="100000"/>
                </a:srgbClr>
              </a:gs>
              <a:gs pos="55000">
                <a:srgbClr val="013F34">
                  <a:alpha val="100000"/>
                </a:srgbClr>
              </a:gs>
              <a:gs pos="100000">
                <a:srgbClr val="002820">
                  <a:alpha val="100000"/>
                </a:srgbClr>
              </a:gs>
            </a:gsLst>
            <a:lin ang="8100000" scaled="0"/>
          </a:gradFill>
          <a:ln/>
        </p:spPr>
        <p:txBody>
          <a:bodyPr/>
          <a:lstStyle/>
          <a:p>
            <a:endParaRPr lang="en-FR"/>
          </a:p>
        </p:txBody>
      </p:sp>
      <p:sp>
        <p:nvSpPr>
          <p:cNvPr id="3" name="Text 1"/>
          <p:cNvSpPr/>
          <p:nvPr/>
        </p:nvSpPr>
        <p:spPr>
          <a:xfrm>
            <a:off x="8439820" y="247650"/>
            <a:ext cx="3121558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72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RECORD OR LIVESTREAM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914400" y="742950"/>
            <a:ext cx="1139952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b="1" kern="0" spc="86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3 · ARCHITECTURE</a:t>
            </a:r>
            <a:endParaRPr lang="en-US" sz="1425"/>
          </a:p>
        </p:txBody>
      </p:sp>
      <p:sp>
        <p:nvSpPr>
          <p:cNvPr id="5" name="Text 3"/>
          <p:cNvSpPr/>
          <p:nvPr/>
        </p:nvSpPr>
        <p:spPr>
          <a:xfrm>
            <a:off x="914400" y="1100138"/>
            <a:ext cx="11399520" cy="488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556"/>
              </a:lnSpc>
              <a:buNone/>
            </a:pPr>
            <a:r>
              <a:rPr lang="en-US" sz="3225" b="1" kern="0" spc="-3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of the three tools reject non-interactive identities</a:t>
            </a:r>
            <a:endParaRPr lang="en-US" sz="3225"/>
          </a:p>
        </p:txBody>
      </p:sp>
      <p:sp>
        <p:nvSpPr>
          <p:cNvPr id="6" name="Shape 4"/>
          <p:cNvSpPr/>
          <p:nvPr/>
        </p:nvSpPr>
        <p:spPr>
          <a:xfrm>
            <a:off x="914400" y="1893540"/>
            <a:ext cx="5029200" cy="3854797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7" name="Text 5"/>
          <p:cNvSpPr/>
          <p:nvPr/>
        </p:nvSpPr>
        <p:spPr>
          <a:xfrm>
            <a:off x="1162050" y="2160240"/>
            <a:ext cx="498729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b="1" kern="0" spc="86">
                <a:solidFill>
                  <a:srgbClr val="7FD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PROJECTMANAGEDIDENTITY</a:t>
            </a:r>
            <a:endParaRPr lang="en-US" sz="1425"/>
          </a:p>
        </p:txBody>
      </p:sp>
      <p:sp>
        <p:nvSpPr>
          <p:cNvPr id="8" name="Text 6"/>
          <p:cNvSpPr/>
          <p:nvPr/>
        </p:nvSpPr>
        <p:spPr>
          <a:xfrm>
            <a:off x="1162050" y="2498378"/>
            <a:ext cx="498729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3385"/>
              </a:lnSpc>
              <a:buNone/>
            </a:pPr>
            <a:r>
              <a:rPr lang="en-US" sz="21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knowledge_base</a:t>
            </a:r>
            <a:endParaRPr lang="en-US" sz="2100"/>
          </a:p>
        </p:txBody>
      </p:sp>
      <p:sp>
        <p:nvSpPr>
          <p:cNvPr id="9" name="Text 7"/>
          <p:cNvSpPr/>
          <p:nvPr/>
        </p:nvSpPr>
        <p:spPr>
          <a:xfrm>
            <a:off x="1162050" y="2951708"/>
            <a:ext cx="4669917" cy="1002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Service-to-service auth. Fine for a knowledge base: no interactive user context is needed to retrieve a document.</a:t>
            </a:r>
            <a:endParaRPr lang="en-US" sz="1875"/>
          </a:p>
        </p:txBody>
      </p:sp>
      <p:sp>
        <p:nvSpPr>
          <p:cNvPr id="10" name="Shape 8"/>
          <p:cNvSpPr/>
          <p:nvPr/>
        </p:nvSpPr>
        <p:spPr>
          <a:xfrm>
            <a:off x="6248400" y="1893540"/>
            <a:ext cx="5029200" cy="3854797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1" name="Text 9"/>
          <p:cNvSpPr/>
          <p:nvPr/>
        </p:nvSpPr>
        <p:spPr>
          <a:xfrm>
            <a:off x="6496050" y="2160240"/>
            <a:ext cx="498729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b="1" kern="0" spc="86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USERENTRATOKEN</a:t>
            </a:r>
            <a:endParaRPr lang="en-US" sz="1425"/>
          </a:p>
        </p:txBody>
      </p:sp>
      <p:sp>
        <p:nvSpPr>
          <p:cNvPr id="12" name="Text 10"/>
          <p:cNvSpPr/>
          <p:nvPr/>
        </p:nvSpPr>
        <p:spPr>
          <a:xfrm>
            <a:off x="6496050" y="2498378"/>
            <a:ext cx="4669917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3385"/>
              </a:lnSpc>
              <a:buNone/>
            </a:pPr>
            <a:r>
              <a:rPr lang="en-US" sz="21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fabric_data_agent · fabric_iq_ontology</a:t>
            </a:r>
            <a:endParaRPr lang="en-US" sz="2100"/>
          </a:p>
        </p:txBody>
      </p:sp>
      <p:sp>
        <p:nvSpPr>
          <p:cNvPr id="13" name="Text 11"/>
          <p:cNvSpPr/>
          <p:nvPr/>
        </p:nvSpPr>
        <p:spPr>
          <a:xfrm>
            <a:off x="6496050" y="3271689"/>
            <a:ext cx="4669917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the Fabric Data Agent and the Ontology's MCP endpoint reject non-interactive identities for actual query execution.</a:t>
            </a:r>
            <a:endParaRPr lang="en-US" sz="1875"/>
          </a:p>
        </p:txBody>
      </p:sp>
      <p:sp>
        <p:nvSpPr>
          <p:cNvPr id="14" name="Text 12"/>
          <p:cNvSpPr/>
          <p:nvPr/>
        </p:nvSpPr>
        <p:spPr>
          <a:xfrm>
            <a:off x="914400" y="5748338"/>
            <a:ext cx="1139952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b="1" kern="0" spc="86">
                <a:solidFill>
                  <a:srgbClr val="7FD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CONSEQUENCE: WHOEVER QUERIES THE AGENT NEEDS THEIR OWN REAL FABRIC WORKSPACE ROLE</a:t>
            </a:r>
            <a:endParaRPr lang="en-US" sz="1425"/>
          </a:p>
        </p:txBody>
      </p:sp>
      <p:sp>
        <p:nvSpPr>
          <p:cNvPr id="15" name="Shape 13"/>
          <p:cNvSpPr/>
          <p:nvPr/>
        </p:nvSpPr>
        <p:spPr>
          <a:xfrm>
            <a:off x="0" y="6334125"/>
            <a:ext cx="2975595" cy="523875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" y="6407497"/>
            <a:ext cx="391344" cy="377130"/>
          </a:xfrm>
          <a:prstGeom prst="rect">
            <a:avLst/>
          </a:prstGeom>
        </p:spPr>
      </p:pic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44" y="6422529"/>
            <a:ext cx="652537" cy="346993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2975595" y="6334125"/>
            <a:ext cx="757535" cy="523875"/>
          </a:xfrm>
          <a:prstGeom prst="rect">
            <a:avLst/>
          </a:prstGeom>
          <a:solidFill>
            <a:srgbClr val="017864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5"/>
          <p:cNvSpPr/>
          <p:nvPr/>
        </p:nvSpPr>
        <p:spPr>
          <a:xfrm>
            <a:off x="3127995" y="6386066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</a:t>
            </a:r>
            <a:endParaRPr lang="en-US" sz="788"/>
          </a:p>
        </p:txBody>
      </p:sp>
      <p:sp>
        <p:nvSpPr>
          <p:cNvPr id="20" name="Text 16"/>
          <p:cNvSpPr/>
          <p:nvPr/>
        </p:nvSpPr>
        <p:spPr>
          <a:xfrm>
            <a:off x="3127995" y="6526039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</a:t>
            </a:r>
            <a:endParaRPr lang="en-US" sz="788"/>
          </a:p>
        </p:txBody>
      </p:sp>
      <p:sp>
        <p:nvSpPr>
          <p:cNvPr id="21" name="Text 17"/>
          <p:cNvSpPr/>
          <p:nvPr/>
        </p:nvSpPr>
        <p:spPr>
          <a:xfrm>
            <a:off x="3127995" y="6666012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ONA</a:t>
            </a:r>
            <a:endParaRPr lang="en-US" sz="788"/>
          </a:p>
        </p:txBody>
      </p:sp>
      <p:sp>
        <p:nvSpPr>
          <p:cNvPr id="22" name="Text 18"/>
          <p:cNvSpPr/>
          <p:nvPr/>
        </p:nvSpPr>
        <p:spPr>
          <a:xfrm>
            <a:off x="3461445" y="6406083"/>
            <a:ext cx="195486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3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788"/>
          </a:p>
        </p:txBody>
      </p:sp>
      <p:sp>
        <p:nvSpPr>
          <p:cNvPr id="23" name="Shape 19"/>
          <p:cNvSpPr/>
          <p:nvPr/>
        </p:nvSpPr>
        <p:spPr>
          <a:xfrm>
            <a:off x="3461445" y="6562725"/>
            <a:ext cx="104775" cy="66675"/>
          </a:xfrm>
          <a:prstGeom prst="rect">
            <a:avLst/>
          </a:prstGeom>
          <a:gradFill rotWithShape="1">
            <a:gsLst>
              <a:gs pos="25000">
                <a:srgbClr val="BCA045">
                  <a:alpha val="100000"/>
                </a:srgbClr>
              </a:gs>
              <a:gs pos="25000">
                <a:srgbClr val="017864">
                  <a:alpha val="100000"/>
                </a:srgbClr>
              </a:gs>
            </a:gsLst>
            <a:lin ang="18900000" scaled="0"/>
          </a:gradFill>
          <a:ln/>
        </p:spPr>
        <p:txBody>
          <a:bodyPr/>
          <a:lstStyle/>
          <a:p>
            <a:endParaRPr lang="en-FR"/>
          </a:p>
        </p:txBody>
      </p:sp>
      <p:sp>
        <p:nvSpPr>
          <p:cNvPr id="24" name="Text 20"/>
          <p:cNvSpPr/>
          <p:nvPr/>
        </p:nvSpPr>
        <p:spPr>
          <a:xfrm>
            <a:off x="3461445" y="6646069"/>
            <a:ext cx="195486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3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788"/>
          </a:p>
        </p:txBody>
      </p:sp>
      <p:sp>
        <p:nvSpPr>
          <p:cNvPr id="25" name="Shape 21"/>
          <p:cNvSpPr/>
          <p:nvPr/>
        </p:nvSpPr>
        <p:spPr>
          <a:xfrm>
            <a:off x="3733130" y="6334125"/>
            <a:ext cx="324743" cy="523875"/>
          </a:xfrm>
          <a:prstGeom prst="rect">
            <a:avLst/>
          </a:prstGeom>
          <a:gradFill rotWithShape="1">
            <a:gsLst>
              <a:gs pos="25000">
                <a:srgbClr val="017864">
                  <a:alpha val="100000"/>
                </a:srgbClr>
              </a:gs>
              <a:gs pos="25000">
                <a:srgbClr val="013F34">
                  <a:alpha val="100000"/>
                </a:srgbClr>
              </a:gs>
            </a:gsLst>
            <a:lin ang="18900000" scaled="0"/>
          </a:gradFill>
          <a:ln/>
        </p:spPr>
        <p:txBody>
          <a:bodyPr/>
          <a:lstStyle/>
          <a:p>
            <a:endParaRPr lang="en-FR"/>
          </a:p>
        </p:txBody>
      </p:sp>
      <p:sp>
        <p:nvSpPr>
          <p:cNvPr id="26" name="Shape 22"/>
          <p:cNvSpPr/>
          <p:nvPr/>
        </p:nvSpPr>
        <p:spPr>
          <a:xfrm>
            <a:off x="4057873" y="6334125"/>
            <a:ext cx="8134127" cy="523875"/>
          </a:xfrm>
          <a:prstGeom prst="rect">
            <a:avLst/>
          </a:prstGeom>
          <a:solidFill>
            <a:srgbClr val="013F34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27" name="Text 23"/>
          <p:cNvSpPr/>
          <p:nvPr/>
        </p:nvSpPr>
        <p:spPr>
          <a:xfrm>
            <a:off x="7262515" y="6488906"/>
            <a:ext cx="80010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07143"/>
              </a:lnSpc>
              <a:buNone/>
            </a:pPr>
            <a:r>
              <a:rPr lang="en-US" sz="675" kern="0" spc="41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THE CONVERSATION</a:t>
            </a:r>
            <a:endParaRPr lang="en-US" sz="675"/>
          </a:p>
        </p:txBody>
      </p:sp>
      <p:sp>
        <p:nvSpPr>
          <p:cNvPr id="28" name="Text 24"/>
          <p:cNvSpPr/>
          <p:nvPr/>
        </p:nvSpPr>
        <p:spPr>
          <a:xfrm>
            <a:off x="8310265" y="6496050"/>
            <a:ext cx="187301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08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#FABCONEUROPE</a:t>
            </a:r>
            <a:endParaRPr lang="en-US" sz="1350"/>
          </a:p>
        </p:txBody>
      </p:sp>
      <p:sp>
        <p:nvSpPr>
          <p:cNvPr id="29" name="Text 25"/>
          <p:cNvSpPr/>
          <p:nvPr/>
        </p:nvSpPr>
        <p:spPr>
          <a:xfrm>
            <a:off x="10260657" y="6496050"/>
            <a:ext cx="189397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08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#SQLCONEUROPE</a:t>
            </a:r>
            <a:endParaRPr lang="en-US" sz="135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39820" y="247650"/>
            <a:ext cx="3121558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72">
                <a:solidFill>
                  <a:srgbClr val="4B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RECORD OR LIVESTREAM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914400" y="742950"/>
            <a:ext cx="1139952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b="1" kern="0" spc="86">
                <a:solidFill>
                  <a:srgbClr val="017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3 · CENTERPIECE</a:t>
            </a:r>
            <a:endParaRPr lang="en-US" sz="1425"/>
          </a:p>
        </p:txBody>
      </p:sp>
      <p:sp>
        <p:nvSpPr>
          <p:cNvPr id="4" name="Text 2"/>
          <p:cNvSpPr/>
          <p:nvPr/>
        </p:nvSpPr>
        <p:spPr>
          <a:xfrm>
            <a:off x="914400" y="1100138"/>
            <a:ext cx="11399520" cy="488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556"/>
              </a:lnSpc>
              <a:buNone/>
            </a:pPr>
            <a:r>
              <a:rPr lang="en-US" sz="3225" b="1" kern="0" spc="-32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Chained multi-tool reasoning</a:t>
            </a:r>
            <a:endParaRPr lang="en-US" sz="3225"/>
          </a:p>
        </p:txBody>
      </p:sp>
      <p:sp>
        <p:nvSpPr>
          <p:cNvPr id="5" name="Shape 3"/>
          <p:cNvSpPr/>
          <p:nvPr/>
        </p:nvSpPr>
        <p:spPr>
          <a:xfrm>
            <a:off x="914400" y="1722090"/>
            <a:ext cx="10363200" cy="94773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6" name="Text 4"/>
          <p:cNvSpPr/>
          <p:nvPr/>
        </p:nvSpPr>
        <p:spPr>
          <a:xfrm>
            <a:off x="1143000" y="1874490"/>
            <a:ext cx="10216896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8871"/>
              </a:lnSpc>
              <a:buNone/>
            </a:pPr>
            <a:r>
              <a:rPr lang="en-US" sz="2025" b="1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"Which factories are receiving shipments, and how many quality checks failed today at those same factories?"</a:t>
            </a:r>
            <a:endParaRPr lang="en-US" sz="2025"/>
          </a:p>
        </p:txBody>
      </p:sp>
      <p:sp>
        <p:nvSpPr>
          <p:cNvPr id="7" name="Text 5"/>
          <p:cNvSpPr/>
          <p:nvPr/>
        </p:nvSpPr>
        <p:spPr>
          <a:xfrm>
            <a:off x="914400" y="2856533"/>
            <a:ext cx="49530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/>
          </a:p>
        </p:txBody>
      </p:sp>
      <p:sp>
        <p:nvSpPr>
          <p:cNvPr id="8" name="Shape 6"/>
          <p:cNvSpPr/>
          <p:nvPr/>
        </p:nvSpPr>
        <p:spPr>
          <a:xfrm>
            <a:off x="1524000" y="2856533"/>
            <a:ext cx="9753600" cy="714375"/>
          </a:xfrm>
          <a:prstGeom prst="rect">
            <a:avLst/>
          </a:prstGeom>
          <a:solidFill>
            <a:srgbClr val="013F34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9" name="Text 7"/>
          <p:cNvSpPr/>
          <p:nvPr/>
        </p:nvSpPr>
        <p:spPr>
          <a:xfrm>
            <a:off x="1733550" y="2980358"/>
            <a:ext cx="1026795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72">
                <a:solidFill>
                  <a:srgbClr val="7FD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MCP_CALL · FABRIC_IQ_ONTOLOGY</a:t>
            </a:r>
            <a:endParaRPr lang="en-US" sz="1200"/>
          </a:p>
        </p:txBody>
      </p:sp>
      <p:sp>
        <p:nvSpPr>
          <p:cNvPr id="10" name="Text 8"/>
          <p:cNvSpPr/>
          <p:nvPr/>
        </p:nvSpPr>
        <p:spPr>
          <a:xfrm>
            <a:off x="1733550" y="3185145"/>
            <a:ext cx="102679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Traverse shipment_to_factory — which factories are receiving shipments</a:t>
            </a:r>
            <a:endParaRPr lang="en-US" sz="1800"/>
          </a:p>
        </p:txBody>
      </p:sp>
      <p:sp>
        <p:nvSpPr>
          <p:cNvPr id="11" name="Shape 9"/>
          <p:cNvSpPr/>
          <p:nvPr/>
        </p:nvSpPr>
        <p:spPr>
          <a:xfrm>
            <a:off x="1524000" y="3647108"/>
            <a:ext cx="9753600" cy="466725"/>
          </a:xfrm>
          <a:prstGeom prst="rect">
            <a:avLst/>
          </a:prstGeom>
          <a:solidFill>
            <a:srgbClr val="CFE9E1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2" name="Text 10"/>
          <p:cNvSpPr/>
          <p:nvPr/>
        </p:nvSpPr>
        <p:spPr>
          <a:xfrm>
            <a:off x="1733550" y="3761408"/>
            <a:ext cx="962710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50" b="1" kern="0" spc="66">
                <a:solidFill>
                  <a:srgbClr val="017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Extracted from the result: one specific factory, passed as the next call's argument</a:t>
            </a:r>
            <a:endParaRPr lang="en-US" sz="1650"/>
          </a:p>
        </p:txBody>
      </p:sp>
      <p:sp>
        <p:nvSpPr>
          <p:cNvPr id="13" name="Text 11"/>
          <p:cNvSpPr/>
          <p:nvPr/>
        </p:nvSpPr>
        <p:spPr>
          <a:xfrm>
            <a:off x="914400" y="4190033"/>
            <a:ext cx="49530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/>
          </a:p>
        </p:txBody>
      </p:sp>
      <p:sp>
        <p:nvSpPr>
          <p:cNvPr id="14" name="Shape 12"/>
          <p:cNvSpPr/>
          <p:nvPr/>
        </p:nvSpPr>
        <p:spPr>
          <a:xfrm>
            <a:off x="1524000" y="4190033"/>
            <a:ext cx="9753600" cy="714375"/>
          </a:xfrm>
          <a:prstGeom prst="rect">
            <a:avLst/>
          </a:prstGeom>
          <a:solidFill>
            <a:srgbClr val="013F34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5" name="Text 13"/>
          <p:cNvSpPr/>
          <p:nvPr/>
        </p:nvSpPr>
        <p:spPr>
          <a:xfrm>
            <a:off x="1733550" y="4313858"/>
            <a:ext cx="1026795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72">
                <a:solidFill>
                  <a:srgbClr val="7FD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MCP_CALL · FABRIC_DATA_AGENT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1733550" y="4518645"/>
            <a:ext cx="102679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checks failed today at that factory</a:t>
            </a:r>
            <a:endParaRPr lang="en-US" sz="1800"/>
          </a:p>
        </p:txBody>
      </p:sp>
      <p:sp>
        <p:nvSpPr>
          <p:cNvPr id="17" name="Text 15"/>
          <p:cNvSpPr/>
          <p:nvPr/>
        </p:nvSpPr>
        <p:spPr>
          <a:xfrm>
            <a:off x="914400" y="4980608"/>
            <a:ext cx="49530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/>
          </a:p>
        </p:txBody>
      </p:sp>
      <p:sp>
        <p:nvSpPr>
          <p:cNvPr id="18" name="Shape 16"/>
          <p:cNvSpPr/>
          <p:nvPr/>
        </p:nvSpPr>
        <p:spPr>
          <a:xfrm>
            <a:off x="1524000" y="4980608"/>
            <a:ext cx="9753600" cy="714375"/>
          </a:xfrm>
          <a:prstGeom prst="rect">
            <a:avLst/>
          </a:prstGeom>
          <a:solidFill>
            <a:srgbClr val="017864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7"/>
          <p:cNvSpPr/>
          <p:nvPr/>
        </p:nvSpPr>
        <p:spPr>
          <a:xfrm>
            <a:off x="1733550" y="5104433"/>
            <a:ext cx="1026795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72">
                <a:solidFill>
                  <a:srgbClr val="7FD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SYNTHESIS</a:t>
            </a:r>
            <a:endParaRPr lang="en-US" sz="1200"/>
          </a:p>
        </p:txBody>
      </p:sp>
      <p:sp>
        <p:nvSpPr>
          <p:cNvPr id="20" name="Text 18"/>
          <p:cNvSpPr/>
          <p:nvPr/>
        </p:nvSpPr>
        <p:spPr>
          <a:xfrm>
            <a:off x="1733550" y="5309220"/>
            <a:ext cx="102679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correlated answer across both backends</a:t>
            </a:r>
            <a:endParaRPr lang="en-US" sz="1800"/>
          </a:p>
        </p:txBody>
      </p:sp>
      <p:sp>
        <p:nvSpPr>
          <p:cNvPr id="21" name="Text 19"/>
          <p:cNvSpPr/>
          <p:nvPr/>
        </p:nvSpPr>
        <p:spPr>
          <a:xfrm>
            <a:off x="914400" y="5748338"/>
            <a:ext cx="1139952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b="1" kern="0" spc="86">
                <a:solidFill>
                  <a:srgbClr val="017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LIVE — THE RAW RESPONSE'S MCP_CALL ENTRIES CARRY SERVER_LABEL AND ARGUMENTS</a:t>
            </a:r>
            <a:endParaRPr lang="en-US" sz="1425"/>
          </a:p>
        </p:txBody>
      </p:sp>
      <p:sp>
        <p:nvSpPr>
          <p:cNvPr id="22" name="Shape 20"/>
          <p:cNvSpPr/>
          <p:nvPr/>
        </p:nvSpPr>
        <p:spPr>
          <a:xfrm>
            <a:off x="0" y="6334125"/>
            <a:ext cx="2975595" cy="523875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" y="6407497"/>
            <a:ext cx="391344" cy="377130"/>
          </a:xfrm>
          <a:prstGeom prst="rect">
            <a:avLst/>
          </a:prstGeom>
        </p:spPr>
      </p:pic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44" y="6422529"/>
            <a:ext cx="652537" cy="346993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2975595" y="6334125"/>
            <a:ext cx="757535" cy="523875"/>
          </a:xfrm>
          <a:prstGeom prst="rect">
            <a:avLst/>
          </a:prstGeom>
          <a:solidFill>
            <a:srgbClr val="017864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26" name="Text 22"/>
          <p:cNvSpPr/>
          <p:nvPr/>
        </p:nvSpPr>
        <p:spPr>
          <a:xfrm>
            <a:off x="3127995" y="6386066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</a:t>
            </a:r>
            <a:endParaRPr lang="en-US" sz="788"/>
          </a:p>
        </p:txBody>
      </p:sp>
      <p:sp>
        <p:nvSpPr>
          <p:cNvPr id="27" name="Text 23"/>
          <p:cNvSpPr/>
          <p:nvPr/>
        </p:nvSpPr>
        <p:spPr>
          <a:xfrm>
            <a:off x="3127995" y="6526039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</a:t>
            </a:r>
            <a:endParaRPr lang="en-US" sz="788"/>
          </a:p>
        </p:txBody>
      </p:sp>
      <p:sp>
        <p:nvSpPr>
          <p:cNvPr id="28" name="Text 24"/>
          <p:cNvSpPr/>
          <p:nvPr/>
        </p:nvSpPr>
        <p:spPr>
          <a:xfrm>
            <a:off x="3127995" y="6666012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ONA</a:t>
            </a:r>
            <a:endParaRPr lang="en-US" sz="788"/>
          </a:p>
        </p:txBody>
      </p:sp>
      <p:sp>
        <p:nvSpPr>
          <p:cNvPr id="29" name="Text 25"/>
          <p:cNvSpPr/>
          <p:nvPr/>
        </p:nvSpPr>
        <p:spPr>
          <a:xfrm>
            <a:off x="3461445" y="6406083"/>
            <a:ext cx="195486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3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788"/>
          </a:p>
        </p:txBody>
      </p:sp>
      <p:sp>
        <p:nvSpPr>
          <p:cNvPr id="30" name="Shape 26"/>
          <p:cNvSpPr/>
          <p:nvPr/>
        </p:nvSpPr>
        <p:spPr>
          <a:xfrm>
            <a:off x="3461445" y="6562725"/>
            <a:ext cx="104775" cy="66675"/>
          </a:xfrm>
          <a:prstGeom prst="rect">
            <a:avLst/>
          </a:prstGeom>
          <a:gradFill rotWithShape="1">
            <a:gsLst>
              <a:gs pos="25000">
                <a:srgbClr val="BCA045">
                  <a:alpha val="100000"/>
                </a:srgbClr>
              </a:gs>
              <a:gs pos="25000">
                <a:srgbClr val="017864">
                  <a:alpha val="100000"/>
                </a:srgbClr>
              </a:gs>
            </a:gsLst>
            <a:lin ang="18900000" scaled="0"/>
          </a:gradFill>
          <a:ln/>
        </p:spPr>
        <p:txBody>
          <a:bodyPr/>
          <a:lstStyle/>
          <a:p>
            <a:endParaRPr lang="en-FR"/>
          </a:p>
        </p:txBody>
      </p:sp>
      <p:sp>
        <p:nvSpPr>
          <p:cNvPr id="31" name="Text 27"/>
          <p:cNvSpPr/>
          <p:nvPr/>
        </p:nvSpPr>
        <p:spPr>
          <a:xfrm>
            <a:off x="3461445" y="6646069"/>
            <a:ext cx="195486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3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788"/>
          </a:p>
        </p:txBody>
      </p:sp>
      <p:sp>
        <p:nvSpPr>
          <p:cNvPr id="32" name="Shape 28"/>
          <p:cNvSpPr/>
          <p:nvPr/>
        </p:nvSpPr>
        <p:spPr>
          <a:xfrm>
            <a:off x="3733130" y="6334125"/>
            <a:ext cx="324743" cy="523875"/>
          </a:xfrm>
          <a:prstGeom prst="rect">
            <a:avLst/>
          </a:prstGeom>
          <a:gradFill rotWithShape="1">
            <a:gsLst>
              <a:gs pos="25000">
                <a:srgbClr val="017864">
                  <a:alpha val="100000"/>
                </a:srgbClr>
              </a:gs>
              <a:gs pos="25000">
                <a:srgbClr val="013F34">
                  <a:alpha val="100000"/>
                </a:srgbClr>
              </a:gs>
            </a:gsLst>
            <a:lin ang="18900000" scaled="0"/>
          </a:gradFill>
          <a:ln/>
        </p:spPr>
        <p:txBody>
          <a:bodyPr/>
          <a:lstStyle/>
          <a:p>
            <a:endParaRPr lang="en-FR"/>
          </a:p>
        </p:txBody>
      </p:sp>
      <p:sp>
        <p:nvSpPr>
          <p:cNvPr id="33" name="Shape 29"/>
          <p:cNvSpPr/>
          <p:nvPr/>
        </p:nvSpPr>
        <p:spPr>
          <a:xfrm>
            <a:off x="4057873" y="6334125"/>
            <a:ext cx="8134127" cy="523875"/>
          </a:xfrm>
          <a:prstGeom prst="rect">
            <a:avLst/>
          </a:prstGeom>
          <a:solidFill>
            <a:srgbClr val="013F34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34" name="Text 30"/>
          <p:cNvSpPr/>
          <p:nvPr/>
        </p:nvSpPr>
        <p:spPr>
          <a:xfrm>
            <a:off x="7262515" y="6488906"/>
            <a:ext cx="80010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07143"/>
              </a:lnSpc>
              <a:buNone/>
            </a:pPr>
            <a:r>
              <a:rPr lang="en-US" sz="675" kern="0" spc="41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THE CONVERSATION</a:t>
            </a:r>
            <a:endParaRPr lang="en-US" sz="675"/>
          </a:p>
        </p:txBody>
      </p:sp>
      <p:sp>
        <p:nvSpPr>
          <p:cNvPr id="35" name="Text 31"/>
          <p:cNvSpPr/>
          <p:nvPr/>
        </p:nvSpPr>
        <p:spPr>
          <a:xfrm>
            <a:off x="8310265" y="6496050"/>
            <a:ext cx="187301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08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#FABCONEUROPE</a:t>
            </a:r>
            <a:endParaRPr lang="en-US" sz="1350"/>
          </a:p>
        </p:txBody>
      </p:sp>
      <p:sp>
        <p:nvSpPr>
          <p:cNvPr id="36" name="Text 32"/>
          <p:cNvSpPr/>
          <p:nvPr/>
        </p:nvSpPr>
        <p:spPr>
          <a:xfrm>
            <a:off x="10260657" y="6496050"/>
            <a:ext cx="189397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08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#SQLCONEUROPE</a:t>
            </a:r>
            <a:endParaRPr lang="en-US" sz="135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39820" y="247650"/>
            <a:ext cx="3121558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72">
                <a:solidFill>
                  <a:srgbClr val="4B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RECORD OR LIVESTREAM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914400" y="742950"/>
            <a:ext cx="1139952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b="1" kern="0" spc="86">
                <a:solidFill>
                  <a:srgbClr val="017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3 · OUTSIDE THE CHAT LOOP</a:t>
            </a:r>
            <a:endParaRPr lang="en-US" sz="1425"/>
          </a:p>
        </p:txBody>
      </p:sp>
      <p:sp>
        <p:nvSpPr>
          <p:cNvPr id="4" name="Text 2"/>
          <p:cNvSpPr/>
          <p:nvPr/>
        </p:nvSpPr>
        <p:spPr>
          <a:xfrm>
            <a:off x="914400" y="1100138"/>
            <a:ext cx="11399520" cy="488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556"/>
              </a:lnSpc>
              <a:buNone/>
            </a:pPr>
            <a:r>
              <a:rPr lang="en-US" sz="3225" b="1" kern="0" spc="-32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Operations Agent: no conversational trigger</a:t>
            </a:r>
            <a:endParaRPr lang="en-US" sz="3225"/>
          </a:p>
        </p:txBody>
      </p:sp>
      <p:sp>
        <p:nvSpPr>
          <p:cNvPr id="5" name="Shape 3"/>
          <p:cNvSpPr/>
          <p:nvPr/>
        </p:nvSpPr>
        <p:spPr>
          <a:xfrm>
            <a:off x="914400" y="1855440"/>
            <a:ext cx="2576513" cy="1181100"/>
          </a:xfrm>
          <a:prstGeom prst="rect">
            <a:avLst/>
          </a:prstGeom>
          <a:solidFill>
            <a:srgbClr val="CFE9E1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6" name="Text 4"/>
          <p:cNvSpPr/>
          <p:nvPr/>
        </p:nvSpPr>
        <p:spPr>
          <a:xfrm>
            <a:off x="1085850" y="2045940"/>
            <a:ext cx="2456974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72">
                <a:solidFill>
                  <a:srgbClr val="017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1085850" y="2298353"/>
            <a:ext cx="2309813" cy="585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6481"/>
              </a:lnSpc>
              <a:buNone/>
            </a:pPr>
            <a:r>
              <a:rPr lang="en-US" sz="1725" b="1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predefined rules</a:t>
            </a:r>
            <a:endParaRPr lang="en-US" sz="1725"/>
          </a:p>
        </p:txBody>
      </p:sp>
      <p:sp>
        <p:nvSpPr>
          <p:cNvPr id="8" name="Shape 6"/>
          <p:cNvSpPr/>
          <p:nvPr/>
        </p:nvSpPr>
        <p:spPr>
          <a:xfrm>
            <a:off x="3509963" y="1855440"/>
            <a:ext cx="2576513" cy="1181100"/>
          </a:xfrm>
          <a:prstGeom prst="rect">
            <a:avLst/>
          </a:prstGeom>
          <a:solidFill>
            <a:srgbClr val="CFE9E1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9" name="Text 7"/>
          <p:cNvSpPr/>
          <p:nvPr/>
        </p:nvSpPr>
        <p:spPr>
          <a:xfrm>
            <a:off x="3681413" y="2045940"/>
            <a:ext cx="2456974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72">
                <a:solidFill>
                  <a:srgbClr val="017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/>
          </a:p>
        </p:txBody>
      </p:sp>
      <p:sp>
        <p:nvSpPr>
          <p:cNvPr id="10" name="Text 8"/>
          <p:cNvSpPr/>
          <p:nvPr/>
        </p:nvSpPr>
        <p:spPr>
          <a:xfrm>
            <a:off x="3681413" y="2298353"/>
            <a:ext cx="2309813" cy="585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6481"/>
              </a:lnSpc>
              <a:buNone/>
            </a:pPr>
            <a:r>
              <a:rPr lang="en-US" sz="1725" b="1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operational conditions</a:t>
            </a:r>
            <a:endParaRPr lang="en-US" sz="1725"/>
          </a:p>
        </p:txBody>
      </p:sp>
      <p:sp>
        <p:nvSpPr>
          <p:cNvPr id="11" name="Shape 9"/>
          <p:cNvSpPr/>
          <p:nvPr/>
        </p:nvSpPr>
        <p:spPr>
          <a:xfrm>
            <a:off x="6105525" y="1855440"/>
            <a:ext cx="2576513" cy="1181100"/>
          </a:xfrm>
          <a:prstGeom prst="rect">
            <a:avLst/>
          </a:prstGeom>
          <a:solidFill>
            <a:srgbClr val="017864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2" name="Text 10"/>
          <p:cNvSpPr/>
          <p:nvPr/>
        </p:nvSpPr>
        <p:spPr>
          <a:xfrm>
            <a:off x="6276975" y="2045940"/>
            <a:ext cx="2456974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72">
                <a:solidFill>
                  <a:srgbClr val="7FD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6276975" y="2298353"/>
            <a:ext cx="2309813" cy="585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6481"/>
              </a:lnSpc>
              <a:buNone/>
            </a:pPr>
            <a:r>
              <a:rPr lang="en-US" sz="1725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alerts on threshold breach</a:t>
            </a:r>
            <a:endParaRPr lang="en-US" sz="1725"/>
          </a:p>
        </p:txBody>
      </p:sp>
      <p:sp>
        <p:nvSpPr>
          <p:cNvPr id="14" name="Shape 12"/>
          <p:cNvSpPr/>
          <p:nvPr/>
        </p:nvSpPr>
        <p:spPr>
          <a:xfrm>
            <a:off x="8701088" y="1855440"/>
            <a:ext cx="2576513" cy="1181100"/>
          </a:xfrm>
          <a:prstGeom prst="rect">
            <a:avLst/>
          </a:prstGeom>
          <a:solidFill>
            <a:srgbClr val="013F34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5" name="Text 13"/>
          <p:cNvSpPr/>
          <p:nvPr/>
        </p:nvSpPr>
        <p:spPr>
          <a:xfrm>
            <a:off x="8872538" y="2045940"/>
            <a:ext cx="2456974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72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8872538" y="2298353"/>
            <a:ext cx="2309813" cy="585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6481"/>
              </a:lnSpc>
              <a:buNone/>
            </a:pPr>
            <a:r>
              <a:rPr lang="en-US" sz="1725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Notify via email or Teams</a:t>
            </a:r>
            <a:endParaRPr lang="en-US" sz="1725"/>
          </a:p>
        </p:txBody>
      </p:sp>
      <p:sp>
        <p:nvSpPr>
          <p:cNvPr id="17" name="Text 15"/>
          <p:cNvSpPr/>
          <p:nvPr/>
        </p:nvSpPr>
        <p:spPr>
          <a:xfrm>
            <a:off x="914400" y="3809628"/>
            <a:ext cx="544830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b="1" kern="0" spc="86">
                <a:solidFill>
                  <a:srgbClr val="017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STACK</a:t>
            </a:r>
            <a:endParaRPr lang="en-US" sz="1425"/>
          </a:p>
        </p:txBody>
      </p:sp>
      <p:sp>
        <p:nvSpPr>
          <p:cNvPr id="18" name="Text 16"/>
          <p:cNvSpPr/>
          <p:nvPr/>
        </p:nvSpPr>
        <p:spPr>
          <a:xfrm>
            <a:off x="914400" y="4147765"/>
            <a:ext cx="5101590" cy="1375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5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Fabric Operations Agent watches the tempering stage and alerts through Power Automate and Teams — entirely outside the chat and agent loop.</a:t>
            </a:r>
            <a:endParaRPr lang="en-US" sz="1950"/>
          </a:p>
        </p:txBody>
      </p:sp>
      <p:sp>
        <p:nvSpPr>
          <p:cNvPr id="19" name="Text 17"/>
          <p:cNvSpPr/>
          <p:nvPr/>
        </p:nvSpPr>
        <p:spPr>
          <a:xfrm>
            <a:off x="6324600" y="3642494"/>
            <a:ext cx="544830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b="1" kern="0" spc="86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MICROSOFT, IGNITE 2025 (BRK226)</a:t>
            </a:r>
            <a:endParaRPr lang="en-US" sz="1425"/>
          </a:p>
        </p:txBody>
      </p:sp>
      <p:sp>
        <p:nvSpPr>
          <p:cNvPr id="20" name="Text 18"/>
          <p:cNvSpPr/>
          <p:nvPr/>
        </p:nvSpPr>
        <p:spPr>
          <a:xfrm>
            <a:off x="6324600" y="3980631"/>
            <a:ext cx="5101590" cy="1709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50">
                <a:solidFill>
                  <a:srgbClr val="4B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Agent (public preview): "Augment your operations with AI agents that continuously monitor your business and take the right actions in time to change outcomes."</a:t>
            </a:r>
            <a:endParaRPr lang="en-US" sz="1950"/>
          </a:p>
        </p:txBody>
      </p:sp>
      <p:sp>
        <p:nvSpPr>
          <p:cNvPr id="21" name="Shape 19"/>
          <p:cNvSpPr/>
          <p:nvPr/>
        </p:nvSpPr>
        <p:spPr>
          <a:xfrm>
            <a:off x="0" y="6334125"/>
            <a:ext cx="2975595" cy="523875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" y="6407497"/>
            <a:ext cx="391344" cy="377130"/>
          </a:xfrm>
          <a:prstGeom prst="rect">
            <a:avLst/>
          </a:prstGeom>
        </p:spPr>
      </p:pic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44" y="6422529"/>
            <a:ext cx="652537" cy="346993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2975595" y="6334125"/>
            <a:ext cx="757535" cy="523875"/>
          </a:xfrm>
          <a:prstGeom prst="rect">
            <a:avLst/>
          </a:prstGeom>
          <a:solidFill>
            <a:srgbClr val="017864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25" name="Text 21"/>
          <p:cNvSpPr/>
          <p:nvPr/>
        </p:nvSpPr>
        <p:spPr>
          <a:xfrm>
            <a:off x="3127995" y="6386066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</a:t>
            </a:r>
            <a:endParaRPr lang="en-US" sz="788"/>
          </a:p>
        </p:txBody>
      </p:sp>
      <p:sp>
        <p:nvSpPr>
          <p:cNvPr id="26" name="Text 22"/>
          <p:cNvSpPr/>
          <p:nvPr/>
        </p:nvSpPr>
        <p:spPr>
          <a:xfrm>
            <a:off x="3127995" y="6526039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</a:t>
            </a:r>
            <a:endParaRPr lang="en-US" sz="788"/>
          </a:p>
        </p:txBody>
      </p:sp>
      <p:sp>
        <p:nvSpPr>
          <p:cNvPr id="27" name="Text 23"/>
          <p:cNvSpPr/>
          <p:nvPr/>
        </p:nvSpPr>
        <p:spPr>
          <a:xfrm>
            <a:off x="3127995" y="6666012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ONA</a:t>
            </a:r>
            <a:endParaRPr lang="en-US" sz="788"/>
          </a:p>
        </p:txBody>
      </p:sp>
      <p:sp>
        <p:nvSpPr>
          <p:cNvPr id="28" name="Text 24"/>
          <p:cNvSpPr/>
          <p:nvPr/>
        </p:nvSpPr>
        <p:spPr>
          <a:xfrm>
            <a:off x="3461445" y="6406083"/>
            <a:ext cx="195486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3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788"/>
          </a:p>
        </p:txBody>
      </p:sp>
      <p:sp>
        <p:nvSpPr>
          <p:cNvPr id="29" name="Shape 25"/>
          <p:cNvSpPr/>
          <p:nvPr/>
        </p:nvSpPr>
        <p:spPr>
          <a:xfrm>
            <a:off x="3461445" y="6562725"/>
            <a:ext cx="104775" cy="66675"/>
          </a:xfrm>
          <a:prstGeom prst="rect">
            <a:avLst/>
          </a:prstGeom>
          <a:gradFill rotWithShape="1">
            <a:gsLst>
              <a:gs pos="25000">
                <a:srgbClr val="BCA045">
                  <a:alpha val="100000"/>
                </a:srgbClr>
              </a:gs>
              <a:gs pos="25000">
                <a:srgbClr val="017864">
                  <a:alpha val="100000"/>
                </a:srgbClr>
              </a:gs>
            </a:gsLst>
            <a:lin ang="18900000" scaled="0"/>
          </a:gradFill>
          <a:ln/>
        </p:spPr>
        <p:txBody>
          <a:bodyPr/>
          <a:lstStyle/>
          <a:p>
            <a:endParaRPr lang="en-FR"/>
          </a:p>
        </p:txBody>
      </p:sp>
      <p:sp>
        <p:nvSpPr>
          <p:cNvPr id="30" name="Text 26"/>
          <p:cNvSpPr/>
          <p:nvPr/>
        </p:nvSpPr>
        <p:spPr>
          <a:xfrm>
            <a:off x="3461445" y="6646069"/>
            <a:ext cx="195486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3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788"/>
          </a:p>
        </p:txBody>
      </p:sp>
      <p:sp>
        <p:nvSpPr>
          <p:cNvPr id="31" name="Shape 27"/>
          <p:cNvSpPr/>
          <p:nvPr/>
        </p:nvSpPr>
        <p:spPr>
          <a:xfrm>
            <a:off x="3733130" y="6334125"/>
            <a:ext cx="324743" cy="523875"/>
          </a:xfrm>
          <a:prstGeom prst="rect">
            <a:avLst/>
          </a:prstGeom>
          <a:gradFill rotWithShape="1">
            <a:gsLst>
              <a:gs pos="25000">
                <a:srgbClr val="017864">
                  <a:alpha val="100000"/>
                </a:srgbClr>
              </a:gs>
              <a:gs pos="25000">
                <a:srgbClr val="013F34">
                  <a:alpha val="100000"/>
                </a:srgbClr>
              </a:gs>
            </a:gsLst>
            <a:lin ang="18900000" scaled="0"/>
          </a:gradFill>
          <a:ln/>
        </p:spPr>
        <p:txBody>
          <a:bodyPr/>
          <a:lstStyle/>
          <a:p>
            <a:endParaRPr lang="en-FR"/>
          </a:p>
        </p:txBody>
      </p:sp>
      <p:sp>
        <p:nvSpPr>
          <p:cNvPr id="32" name="Shape 28"/>
          <p:cNvSpPr/>
          <p:nvPr/>
        </p:nvSpPr>
        <p:spPr>
          <a:xfrm>
            <a:off x="4057873" y="6334125"/>
            <a:ext cx="8134127" cy="523875"/>
          </a:xfrm>
          <a:prstGeom prst="rect">
            <a:avLst/>
          </a:prstGeom>
          <a:solidFill>
            <a:srgbClr val="013F34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33" name="Text 29"/>
          <p:cNvSpPr/>
          <p:nvPr/>
        </p:nvSpPr>
        <p:spPr>
          <a:xfrm>
            <a:off x="7262515" y="6488906"/>
            <a:ext cx="80010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07143"/>
              </a:lnSpc>
              <a:buNone/>
            </a:pPr>
            <a:r>
              <a:rPr lang="en-US" sz="675" kern="0" spc="41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THE CONVERSATION</a:t>
            </a:r>
            <a:endParaRPr lang="en-US" sz="675"/>
          </a:p>
        </p:txBody>
      </p:sp>
      <p:sp>
        <p:nvSpPr>
          <p:cNvPr id="34" name="Text 30"/>
          <p:cNvSpPr/>
          <p:nvPr/>
        </p:nvSpPr>
        <p:spPr>
          <a:xfrm>
            <a:off x="8310265" y="6496050"/>
            <a:ext cx="187301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08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#FABCONEUROPE</a:t>
            </a:r>
            <a:endParaRPr lang="en-US" sz="1350"/>
          </a:p>
        </p:txBody>
      </p:sp>
      <p:sp>
        <p:nvSpPr>
          <p:cNvPr id="35" name="Text 31"/>
          <p:cNvSpPr/>
          <p:nvPr/>
        </p:nvSpPr>
        <p:spPr>
          <a:xfrm>
            <a:off x="10260657" y="6496050"/>
            <a:ext cx="189397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08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#SQLCONEUROPE</a:t>
            </a:r>
            <a:endParaRPr lang="en-US" sz="135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16251">
                  <a:alpha val="100000"/>
                </a:srgbClr>
              </a:gs>
              <a:gs pos="55000">
                <a:srgbClr val="013F34">
                  <a:alpha val="100000"/>
                </a:srgbClr>
              </a:gs>
              <a:gs pos="100000">
                <a:srgbClr val="002820">
                  <a:alpha val="100000"/>
                </a:srgbClr>
              </a:gs>
            </a:gsLst>
            <a:lin ang="8100000" scaled="0"/>
          </a:gradFill>
          <a:ln/>
        </p:spPr>
        <p:txBody>
          <a:bodyPr/>
          <a:lstStyle/>
          <a:p>
            <a:endParaRPr lang="en-FR"/>
          </a:p>
        </p:txBody>
      </p:sp>
      <p:sp>
        <p:nvSpPr>
          <p:cNvPr id="3" name="Text 1"/>
          <p:cNvSpPr/>
          <p:nvPr/>
        </p:nvSpPr>
        <p:spPr>
          <a:xfrm>
            <a:off x="8439820" y="247650"/>
            <a:ext cx="3121558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72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RECORD OR LIVESTREAM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914400" y="742950"/>
            <a:ext cx="1139952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b="1" kern="0" spc="86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3 · LIVE DEMO</a:t>
            </a:r>
            <a:endParaRPr lang="en-US" sz="1425"/>
          </a:p>
        </p:txBody>
      </p:sp>
      <p:sp>
        <p:nvSpPr>
          <p:cNvPr id="5" name="Text 3"/>
          <p:cNvSpPr/>
          <p:nvPr/>
        </p:nvSpPr>
        <p:spPr>
          <a:xfrm>
            <a:off x="914400" y="1100138"/>
            <a:ext cx="11399520" cy="488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556"/>
              </a:lnSpc>
              <a:buNone/>
            </a:pPr>
            <a:r>
              <a:rPr lang="en-US" sz="3225" b="1" kern="0" spc="-3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the factories</a:t>
            </a:r>
            <a:endParaRPr lang="en-US" sz="3225"/>
          </a:p>
        </p:txBody>
      </p:sp>
      <p:sp>
        <p:nvSpPr>
          <p:cNvPr id="6" name="Shape 4"/>
          <p:cNvSpPr/>
          <p:nvPr/>
        </p:nvSpPr>
        <p:spPr>
          <a:xfrm>
            <a:off x="914400" y="1893540"/>
            <a:ext cx="2447925" cy="1890713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7" name="Text 5"/>
          <p:cNvSpPr/>
          <p:nvPr/>
        </p:nvSpPr>
        <p:spPr>
          <a:xfrm>
            <a:off x="1104900" y="2122140"/>
            <a:ext cx="227361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Barcelona</a:t>
            </a:r>
            <a:endParaRPr lang="en-US" sz="2100"/>
          </a:p>
        </p:txBody>
      </p:sp>
      <p:sp>
        <p:nvSpPr>
          <p:cNvPr id="8" name="Text 6"/>
          <p:cNvSpPr/>
          <p:nvPr/>
        </p:nvSpPr>
        <p:spPr>
          <a:xfrm>
            <a:off x="1104900" y="2526953"/>
            <a:ext cx="2273618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b="1" kern="0" spc="86">
                <a:solidFill>
                  <a:srgbClr val="7FD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EMEA-BCN</a:t>
            </a:r>
            <a:endParaRPr lang="en-US" sz="1425"/>
          </a:p>
        </p:txBody>
      </p:sp>
      <p:sp>
        <p:nvSpPr>
          <p:cNvPr id="9" name="Text 7"/>
          <p:cNvSpPr/>
          <p:nvPr/>
        </p:nvSpPr>
        <p:spPr>
          <a:xfrm>
            <a:off x="1104900" y="2826990"/>
            <a:ext cx="227361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275"/>
              </a:lnSpc>
              <a:buNone/>
            </a:pPr>
            <a:r>
              <a:rPr lang="en-US" sz="3300" b="1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300"/>
          </a:p>
        </p:txBody>
      </p:sp>
      <p:sp>
        <p:nvSpPr>
          <p:cNvPr id="10" name="Text 8"/>
          <p:cNvSpPr/>
          <p:nvPr/>
        </p:nvSpPr>
        <p:spPr>
          <a:xfrm>
            <a:off x="1104900" y="3341340"/>
            <a:ext cx="2273618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lines</a:t>
            </a:r>
            <a:endParaRPr lang="en-US" sz="1500"/>
          </a:p>
        </p:txBody>
      </p:sp>
      <p:sp>
        <p:nvSpPr>
          <p:cNvPr id="11" name="Shape 9"/>
          <p:cNvSpPr/>
          <p:nvPr/>
        </p:nvSpPr>
        <p:spPr>
          <a:xfrm>
            <a:off x="3552825" y="1893540"/>
            <a:ext cx="2447925" cy="1890713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2" name="Text 10"/>
          <p:cNvSpPr/>
          <p:nvPr/>
        </p:nvSpPr>
        <p:spPr>
          <a:xfrm>
            <a:off x="3743325" y="2122140"/>
            <a:ext cx="227361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Chicago</a:t>
            </a:r>
            <a:endParaRPr lang="en-US" sz="2100"/>
          </a:p>
        </p:txBody>
      </p:sp>
      <p:sp>
        <p:nvSpPr>
          <p:cNvPr id="13" name="Text 11"/>
          <p:cNvSpPr/>
          <p:nvPr/>
        </p:nvSpPr>
        <p:spPr>
          <a:xfrm>
            <a:off x="3743325" y="2526953"/>
            <a:ext cx="2273618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b="1" kern="0" spc="86">
                <a:solidFill>
                  <a:srgbClr val="7FD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NA-CHI</a:t>
            </a:r>
            <a:endParaRPr lang="en-US" sz="1425"/>
          </a:p>
        </p:txBody>
      </p:sp>
      <p:sp>
        <p:nvSpPr>
          <p:cNvPr id="14" name="Text 12"/>
          <p:cNvSpPr/>
          <p:nvPr/>
        </p:nvSpPr>
        <p:spPr>
          <a:xfrm>
            <a:off x="3743325" y="2826990"/>
            <a:ext cx="227361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275"/>
              </a:lnSpc>
              <a:buNone/>
            </a:pPr>
            <a:r>
              <a:rPr lang="en-US" sz="3300" b="1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300"/>
          </a:p>
        </p:txBody>
      </p:sp>
      <p:sp>
        <p:nvSpPr>
          <p:cNvPr id="15" name="Text 13"/>
          <p:cNvSpPr/>
          <p:nvPr/>
        </p:nvSpPr>
        <p:spPr>
          <a:xfrm>
            <a:off x="3743325" y="3341340"/>
            <a:ext cx="2273618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lines</a:t>
            </a:r>
            <a:endParaRPr lang="en-US" sz="1500"/>
          </a:p>
        </p:txBody>
      </p:sp>
      <p:sp>
        <p:nvSpPr>
          <p:cNvPr id="16" name="Shape 14"/>
          <p:cNvSpPr/>
          <p:nvPr/>
        </p:nvSpPr>
        <p:spPr>
          <a:xfrm>
            <a:off x="6191250" y="1893540"/>
            <a:ext cx="2447925" cy="1890713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7" name="Text 15"/>
          <p:cNvSpPr/>
          <p:nvPr/>
        </p:nvSpPr>
        <p:spPr>
          <a:xfrm>
            <a:off x="6381750" y="2122140"/>
            <a:ext cx="227361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São Paulo</a:t>
            </a:r>
            <a:endParaRPr lang="en-US" sz="2100"/>
          </a:p>
        </p:txBody>
      </p:sp>
      <p:sp>
        <p:nvSpPr>
          <p:cNvPr id="18" name="Text 16"/>
          <p:cNvSpPr/>
          <p:nvPr/>
        </p:nvSpPr>
        <p:spPr>
          <a:xfrm>
            <a:off x="6381750" y="2526953"/>
            <a:ext cx="2273618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b="1" kern="0" spc="86">
                <a:solidFill>
                  <a:srgbClr val="7FD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LATAM-GRU</a:t>
            </a:r>
            <a:endParaRPr lang="en-US" sz="1425"/>
          </a:p>
        </p:txBody>
      </p:sp>
      <p:sp>
        <p:nvSpPr>
          <p:cNvPr id="19" name="Text 17"/>
          <p:cNvSpPr/>
          <p:nvPr/>
        </p:nvSpPr>
        <p:spPr>
          <a:xfrm>
            <a:off x="6381750" y="2826990"/>
            <a:ext cx="227361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275"/>
              </a:lnSpc>
              <a:buNone/>
            </a:pPr>
            <a:r>
              <a:rPr lang="en-US" sz="3300" b="1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300"/>
          </a:p>
        </p:txBody>
      </p:sp>
      <p:sp>
        <p:nvSpPr>
          <p:cNvPr id="20" name="Text 18"/>
          <p:cNvSpPr/>
          <p:nvPr/>
        </p:nvSpPr>
        <p:spPr>
          <a:xfrm>
            <a:off x="6381750" y="3341340"/>
            <a:ext cx="2273618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lines</a:t>
            </a:r>
            <a:endParaRPr lang="en-US" sz="1500"/>
          </a:p>
        </p:txBody>
      </p:sp>
      <p:sp>
        <p:nvSpPr>
          <p:cNvPr id="21" name="Shape 19"/>
          <p:cNvSpPr/>
          <p:nvPr/>
        </p:nvSpPr>
        <p:spPr>
          <a:xfrm>
            <a:off x="8829675" y="1893540"/>
            <a:ext cx="2447925" cy="1890713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22" name="Text 20"/>
          <p:cNvSpPr/>
          <p:nvPr/>
        </p:nvSpPr>
        <p:spPr>
          <a:xfrm>
            <a:off x="9020175" y="2122140"/>
            <a:ext cx="227361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Singapore</a:t>
            </a:r>
            <a:endParaRPr lang="en-US" sz="2100"/>
          </a:p>
        </p:txBody>
      </p:sp>
      <p:sp>
        <p:nvSpPr>
          <p:cNvPr id="23" name="Text 21"/>
          <p:cNvSpPr/>
          <p:nvPr/>
        </p:nvSpPr>
        <p:spPr>
          <a:xfrm>
            <a:off x="9020175" y="2526953"/>
            <a:ext cx="2273618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b="1" kern="0" spc="86">
                <a:solidFill>
                  <a:srgbClr val="7FD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APAC-SIN</a:t>
            </a:r>
            <a:endParaRPr lang="en-US" sz="1425"/>
          </a:p>
        </p:txBody>
      </p:sp>
      <p:sp>
        <p:nvSpPr>
          <p:cNvPr id="24" name="Text 22"/>
          <p:cNvSpPr/>
          <p:nvPr/>
        </p:nvSpPr>
        <p:spPr>
          <a:xfrm>
            <a:off x="9020175" y="2826990"/>
            <a:ext cx="227361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275"/>
              </a:lnSpc>
              <a:buNone/>
            </a:pPr>
            <a:r>
              <a:rPr lang="en-US" sz="3300" b="1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300"/>
          </a:p>
        </p:txBody>
      </p:sp>
      <p:sp>
        <p:nvSpPr>
          <p:cNvPr id="25" name="Text 23"/>
          <p:cNvSpPr/>
          <p:nvPr/>
        </p:nvSpPr>
        <p:spPr>
          <a:xfrm>
            <a:off x="9020175" y="3341340"/>
            <a:ext cx="2273618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lines</a:t>
            </a:r>
            <a:endParaRPr lang="en-US" sz="1500"/>
          </a:p>
        </p:txBody>
      </p:sp>
      <p:sp>
        <p:nvSpPr>
          <p:cNvPr id="26" name="Text 24"/>
          <p:cNvSpPr/>
          <p:nvPr/>
        </p:nvSpPr>
        <p:spPr>
          <a:xfrm>
            <a:off x="914400" y="4709220"/>
            <a:ext cx="10674096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virtual factories are streaming live production data right now. One agent sits in front of all of it.</a:t>
            </a:r>
            <a:endParaRPr lang="en-US" sz="2100"/>
          </a:p>
        </p:txBody>
      </p:sp>
      <p:sp>
        <p:nvSpPr>
          <p:cNvPr id="27" name="Text 25"/>
          <p:cNvSpPr/>
          <p:nvPr/>
        </p:nvSpPr>
        <p:spPr>
          <a:xfrm>
            <a:off x="914400" y="5562600"/>
            <a:ext cx="1139952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just ask it things.</a:t>
            </a:r>
            <a:endParaRPr lang="en-US" sz="2700"/>
          </a:p>
        </p:txBody>
      </p:sp>
      <p:sp>
        <p:nvSpPr>
          <p:cNvPr id="28" name="Shape 26"/>
          <p:cNvSpPr/>
          <p:nvPr/>
        </p:nvSpPr>
        <p:spPr>
          <a:xfrm>
            <a:off x="0" y="6334125"/>
            <a:ext cx="2975595" cy="523875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" y="6407497"/>
            <a:ext cx="391344" cy="377130"/>
          </a:xfrm>
          <a:prstGeom prst="rect">
            <a:avLst/>
          </a:prstGeom>
        </p:spPr>
      </p:pic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44" y="6422529"/>
            <a:ext cx="652537" cy="346993"/>
          </a:xfrm>
          <a:prstGeom prst="rect">
            <a:avLst/>
          </a:prstGeom>
        </p:spPr>
      </p:pic>
      <p:sp>
        <p:nvSpPr>
          <p:cNvPr id="31" name="Shape 27"/>
          <p:cNvSpPr/>
          <p:nvPr/>
        </p:nvSpPr>
        <p:spPr>
          <a:xfrm>
            <a:off x="2975595" y="6334125"/>
            <a:ext cx="757535" cy="523875"/>
          </a:xfrm>
          <a:prstGeom prst="rect">
            <a:avLst/>
          </a:prstGeom>
          <a:solidFill>
            <a:srgbClr val="017864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32" name="Text 28"/>
          <p:cNvSpPr/>
          <p:nvPr/>
        </p:nvSpPr>
        <p:spPr>
          <a:xfrm>
            <a:off x="3127995" y="6386066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</a:t>
            </a:r>
            <a:endParaRPr lang="en-US" sz="788"/>
          </a:p>
        </p:txBody>
      </p:sp>
      <p:sp>
        <p:nvSpPr>
          <p:cNvPr id="33" name="Text 29"/>
          <p:cNvSpPr/>
          <p:nvPr/>
        </p:nvSpPr>
        <p:spPr>
          <a:xfrm>
            <a:off x="3127995" y="6526039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</a:t>
            </a:r>
            <a:endParaRPr lang="en-US" sz="788"/>
          </a:p>
        </p:txBody>
      </p:sp>
      <p:sp>
        <p:nvSpPr>
          <p:cNvPr id="34" name="Text 30"/>
          <p:cNvSpPr/>
          <p:nvPr/>
        </p:nvSpPr>
        <p:spPr>
          <a:xfrm>
            <a:off x="3127995" y="6666012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ONA</a:t>
            </a:r>
            <a:endParaRPr lang="en-US" sz="788"/>
          </a:p>
        </p:txBody>
      </p:sp>
      <p:sp>
        <p:nvSpPr>
          <p:cNvPr id="35" name="Text 31"/>
          <p:cNvSpPr/>
          <p:nvPr/>
        </p:nvSpPr>
        <p:spPr>
          <a:xfrm>
            <a:off x="3461445" y="6406083"/>
            <a:ext cx="195486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3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788"/>
          </a:p>
        </p:txBody>
      </p:sp>
      <p:sp>
        <p:nvSpPr>
          <p:cNvPr id="36" name="Shape 32"/>
          <p:cNvSpPr/>
          <p:nvPr/>
        </p:nvSpPr>
        <p:spPr>
          <a:xfrm>
            <a:off x="3461445" y="6562725"/>
            <a:ext cx="104775" cy="66675"/>
          </a:xfrm>
          <a:prstGeom prst="rect">
            <a:avLst/>
          </a:prstGeom>
          <a:gradFill rotWithShape="1">
            <a:gsLst>
              <a:gs pos="25000">
                <a:srgbClr val="BCA045">
                  <a:alpha val="100000"/>
                </a:srgbClr>
              </a:gs>
              <a:gs pos="25000">
                <a:srgbClr val="017864">
                  <a:alpha val="100000"/>
                </a:srgbClr>
              </a:gs>
            </a:gsLst>
            <a:lin ang="18900000" scaled="0"/>
          </a:gradFill>
          <a:ln/>
        </p:spPr>
        <p:txBody>
          <a:bodyPr/>
          <a:lstStyle/>
          <a:p>
            <a:endParaRPr lang="en-FR"/>
          </a:p>
        </p:txBody>
      </p:sp>
      <p:sp>
        <p:nvSpPr>
          <p:cNvPr id="37" name="Text 33"/>
          <p:cNvSpPr/>
          <p:nvPr/>
        </p:nvSpPr>
        <p:spPr>
          <a:xfrm>
            <a:off x="3461445" y="6646069"/>
            <a:ext cx="195486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3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788"/>
          </a:p>
        </p:txBody>
      </p:sp>
      <p:sp>
        <p:nvSpPr>
          <p:cNvPr id="38" name="Shape 34"/>
          <p:cNvSpPr/>
          <p:nvPr/>
        </p:nvSpPr>
        <p:spPr>
          <a:xfrm>
            <a:off x="3733130" y="6334125"/>
            <a:ext cx="324743" cy="523875"/>
          </a:xfrm>
          <a:prstGeom prst="rect">
            <a:avLst/>
          </a:prstGeom>
          <a:gradFill rotWithShape="1">
            <a:gsLst>
              <a:gs pos="25000">
                <a:srgbClr val="017864">
                  <a:alpha val="100000"/>
                </a:srgbClr>
              </a:gs>
              <a:gs pos="25000">
                <a:srgbClr val="013F34">
                  <a:alpha val="100000"/>
                </a:srgbClr>
              </a:gs>
            </a:gsLst>
            <a:lin ang="18900000" scaled="0"/>
          </a:gradFill>
          <a:ln/>
        </p:spPr>
        <p:txBody>
          <a:bodyPr/>
          <a:lstStyle/>
          <a:p>
            <a:endParaRPr lang="en-FR"/>
          </a:p>
        </p:txBody>
      </p:sp>
      <p:sp>
        <p:nvSpPr>
          <p:cNvPr id="39" name="Shape 35"/>
          <p:cNvSpPr/>
          <p:nvPr/>
        </p:nvSpPr>
        <p:spPr>
          <a:xfrm>
            <a:off x="4057873" y="6334125"/>
            <a:ext cx="8134127" cy="523875"/>
          </a:xfrm>
          <a:prstGeom prst="rect">
            <a:avLst/>
          </a:prstGeom>
          <a:solidFill>
            <a:srgbClr val="013F34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40" name="Text 36"/>
          <p:cNvSpPr/>
          <p:nvPr/>
        </p:nvSpPr>
        <p:spPr>
          <a:xfrm>
            <a:off x="7262515" y="6488906"/>
            <a:ext cx="80010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07143"/>
              </a:lnSpc>
              <a:buNone/>
            </a:pPr>
            <a:r>
              <a:rPr lang="en-US" sz="675" kern="0" spc="41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THE CONVERSATION</a:t>
            </a:r>
            <a:endParaRPr lang="en-US" sz="675"/>
          </a:p>
        </p:txBody>
      </p:sp>
      <p:sp>
        <p:nvSpPr>
          <p:cNvPr id="41" name="Text 37"/>
          <p:cNvSpPr/>
          <p:nvPr/>
        </p:nvSpPr>
        <p:spPr>
          <a:xfrm>
            <a:off x="8310265" y="6496050"/>
            <a:ext cx="187301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08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#FABCONEUROPE</a:t>
            </a:r>
            <a:endParaRPr lang="en-US" sz="1350"/>
          </a:p>
        </p:txBody>
      </p:sp>
      <p:sp>
        <p:nvSpPr>
          <p:cNvPr id="42" name="Text 38"/>
          <p:cNvSpPr/>
          <p:nvPr/>
        </p:nvSpPr>
        <p:spPr>
          <a:xfrm>
            <a:off x="10260657" y="6496050"/>
            <a:ext cx="189397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08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#SQLCONEUROPE</a:t>
            </a:r>
            <a:endParaRPr lang="en-US" sz="135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39820" y="247650"/>
            <a:ext cx="3121558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72">
                <a:solidFill>
                  <a:srgbClr val="4B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RECORD OR LIVESTREAM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914400" y="742950"/>
            <a:ext cx="1139952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b="1" kern="0" spc="86">
                <a:solidFill>
                  <a:srgbClr val="017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3 · LIVE DEMO</a:t>
            </a:r>
            <a:endParaRPr lang="en-US" sz="1425"/>
          </a:p>
        </p:txBody>
      </p:sp>
      <p:sp>
        <p:nvSpPr>
          <p:cNvPr id="4" name="Text 2"/>
          <p:cNvSpPr/>
          <p:nvPr/>
        </p:nvSpPr>
        <p:spPr>
          <a:xfrm>
            <a:off x="914400" y="1100138"/>
            <a:ext cx="11399520" cy="488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556"/>
              </a:lnSpc>
              <a:buNone/>
            </a:pPr>
            <a:r>
              <a:rPr lang="en-US" sz="3225" b="1" kern="0" spc="-32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you're about to see</a:t>
            </a:r>
            <a:endParaRPr lang="en-US" sz="3225"/>
          </a:p>
        </p:txBody>
      </p:sp>
      <p:sp>
        <p:nvSpPr>
          <p:cNvPr id="5" name="Text 3"/>
          <p:cNvSpPr/>
          <p:nvPr/>
        </p:nvSpPr>
        <p:spPr>
          <a:xfrm>
            <a:off x="914400" y="1960364"/>
            <a:ext cx="45720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50"/>
          </a:p>
        </p:txBody>
      </p:sp>
      <p:sp>
        <p:nvSpPr>
          <p:cNvPr id="6" name="Text 4"/>
          <p:cNvSpPr/>
          <p:nvPr/>
        </p:nvSpPr>
        <p:spPr>
          <a:xfrm>
            <a:off x="1504950" y="1979414"/>
            <a:ext cx="10749915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667"/>
              </a:lnSpc>
              <a:buNone/>
            </a:pPr>
            <a:r>
              <a:rPr lang="en-US" sz="195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counts as an overdue invoice?" </a:t>
            </a:r>
            <a:r>
              <a:rPr lang="en-US" sz="1950">
                <a:solidFill>
                  <a:srgbClr val="4B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knowledge base, answered with a citation</a:t>
            </a:r>
            <a:endParaRPr lang="en-US" sz="1950"/>
          </a:p>
        </p:txBody>
      </p:sp>
      <p:sp>
        <p:nvSpPr>
          <p:cNvPr id="7" name="Text 5"/>
          <p:cNvSpPr/>
          <p:nvPr/>
        </p:nvSpPr>
        <p:spPr>
          <a:xfrm>
            <a:off x="914400" y="2434679"/>
            <a:ext cx="45720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/>
          </a:p>
        </p:txBody>
      </p:sp>
      <p:sp>
        <p:nvSpPr>
          <p:cNvPr id="8" name="Text 6"/>
          <p:cNvSpPr/>
          <p:nvPr/>
        </p:nvSpPr>
        <p:spPr>
          <a:xfrm>
            <a:off x="1504950" y="2453729"/>
            <a:ext cx="10065830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667"/>
              </a:lnSpc>
              <a:buNone/>
            </a:pPr>
            <a:r>
              <a:rPr lang="en-US" sz="195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"How is my factory going right now?" </a:t>
            </a:r>
            <a:r>
              <a:rPr lang="en-US" sz="1950">
                <a:solidFill>
                  <a:srgbClr val="4B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Fabric Data Agent; says plainly what it cannot confirm</a:t>
            </a:r>
            <a:endParaRPr lang="en-US" sz="1950"/>
          </a:p>
        </p:txBody>
      </p:sp>
      <p:sp>
        <p:nvSpPr>
          <p:cNvPr id="9" name="Text 7"/>
          <p:cNvSpPr/>
          <p:nvPr/>
        </p:nvSpPr>
        <p:spPr>
          <a:xfrm>
            <a:off x="914400" y="3230910"/>
            <a:ext cx="45720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/>
          </a:p>
        </p:txBody>
      </p:sp>
      <p:sp>
        <p:nvSpPr>
          <p:cNvPr id="10" name="Text 8"/>
          <p:cNvSpPr/>
          <p:nvPr/>
        </p:nvSpPr>
        <p:spPr>
          <a:xfrm>
            <a:off x="1504950" y="3249960"/>
            <a:ext cx="10065830" cy="10038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667"/>
              </a:lnSpc>
              <a:buNone/>
            </a:pPr>
            <a:r>
              <a:rPr lang="en-US" sz="195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"Are there any anomalies I should be aware of?" </a:t>
            </a:r>
            <a:r>
              <a:rPr lang="en-US" sz="1950">
                <a:solidFill>
                  <a:srgbClr val="4B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Fabric Data Agent; names changeover, scheduled maintenance and unplanned stops, plus a fail-rate spike at Molding &amp; Cooling on LATAM-GRU Line 2</a:t>
            </a:r>
            <a:endParaRPr lang="en-US" sz="1950"/>
          </a:p>
        </p:txBody>
      </p:sp>
      <p:sp>
        <p:nvSpPr>
          <p:cNvPr id="11" name="Text 9"/>
          <p:cNvSpPr/>
          <p:nvPr/>
        </p:nvSpPr>
        <p:spPr>
          <a:xfrm>
            <a:off x="914400" y="4349055"/>
            <a:ext cx="45720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50"/>
          </a:p>
        </p:txBody>
      </p:sp>
      <p:sp>
        <p:nvSpPr>
          <p:cNvPr id="12" name="Text 10"/>
          <p:cNvSpPr/>
          <p:nvPr/>
        </p:nvSpPr>
        <p:spPr>
          <a:xfrm>
            <a:off x="1504950" y="4368105"/>
            <a:ext cx="10065830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667"/>
              </a:lnSpc>
              <a:buNone/>
            </a:pPr>
            <a:r>
              <a:rPr lang="en-US" sz="195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"Who are our suppliers?" then "Which suppliers provide materials, and what type of material does each provide?" </a:t>
            </a:r>
            <a:r>
              <a:rPr lang="en-US" sz="1950">
                <a:solidFill>
                  <a:srgbClr val="4B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Fabric IQ Ontology, all 9 suppliers</a:t>
            </a:r>
            <a:endParaRPr lang="en-US" sz="1950"/>
          </a:p>
        </p:txBody>
      </p:sp>
      <p:sp>
        <p:nvSpPr>
          <p:cNvPr id="13" name="Shape 11"/>
          <p:cNvSpPr/>
          <p:nvPr/>
        </p:nvSpPr>
        <p:spPr>
          <a:xfrm>
            <a:off x="704850" y="5145286"/>
            <a:ext cx="10572750" cy="683865"/>
          </a:xfrm>
          <a:prstGeom prst="rect">
            <a:avLst/>
          </a:prstGeom>
          <a:solidFill>
            <a:srgbClr val="013F34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4" name="Text 12"/>
          <p:cNvSpPr/>
          <p:nvPr/>
        </p:nvSpPr>
        <p:spPr>
          <a:xfrm>
            <a:off x="914400" y="5316736"/>
            <a:ext cx="45720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50"/>
          </a:p>
        </p:txBody>
      </p:sp>
      <p:sp>
        <p:nvSpPr>
          <p:cNvPr id="15" name="Text 13"/>
          <p:cNvSpPr/>
          <p:nvPr/>
        </p:nvSpPr>
        <p:spPr>
          <a:xfrm>
            <a:off x="1504950" y="5335786"/>
            <a:ext cx="10519410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667"/>
              </a:lnSpc>
              <a:buNone/>
            </a:pPr>
            <a:r>
              <a:rPr lang="en-US" sz="19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centerpiece </a:t>
            </a:r>
            <a:r>
              <a:rPr lang="en-US" sz="195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ontology and data agent chained, one feeding the other</a:t>
            </a:r>
            <a:endParaRPr lang="en-US" sz="1950"/>
          </a:p>
        </p:txBody>
      </p:sp>
      <p:sp>
        <p:nvSpPr>
          <p:cNvPr id="16" name="Shape 14"/>
          <p:cNvSpPr/>
          <p:nvPr/>
        </p:nvSpPr>
        <p:spPr>
          <a:xfrm>
            <a:off x="0" y="6334125"/>
            <a:ext cx="2975595" cy="523875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" y="6407497"/>
            <a:ext cx="391344" cy="377130"/>
          </a:xfrm>
          <a:prstGeom prst="rect">
            <a:avLst/>
          </a:prstGeom>
        </p:spPr>
      </p:pic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44" y="6422529"/>
            <a:ext cx="652537" cy="346993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2975595" y="6334125"/>
            <a:ext cx="757535" cy="523875"/>
          </a:xfrm>
          <a:prstGeom prst="rect">
            <a:avLst/>
          </a:prstGeom>
          <a:solidFill>
            <a:srgbClr val="017864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20" name="Text 16"/>
          <p:cNvSpPr/>
          <p:nvPr/>
        </p:nvSpPr>
        <p:spPr>
          <a:xfrm>
            <a:off x="3127995" y="6386066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</a:t>
            </a:r>
            <a:endParaRPr lang="en-US" sz="788"/>
          </a:p>
        </p:txBody>
      </p:sp>
      <p:sp>
        <p:nvSpPr>
          <p:cNvPr id="21" name="Text 17"/>
          <p:cNvSpPr/>
          <p:nvPr/>
        </p:nvSpPr>
        <p:spPr>
          <a:xfrm>
            <a:off x="3127995" y="6526039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</a:t>
            </a:r>
            <a:endParaRPr lang="en-US" sz="788"/>
          </a:p>
        </p:txBody>
      </p:sp>
      <p:sp>
        <p:nvSpPr>
          <p:cNvPr id="22" name="Text 18"/>
          <p:cNvSpPr/>
          <p:nvPr/>
        </p:nvSpPr>
        <p:spPr>
          <a:xfrm>
            <a:off x="3127995" y="6666012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ONA</a:t>
            </a:r>
            <a:endParaRPr lang="en-US" sz="788"/>
          </a:p>
        </p:txBody>
      </p:sp>
      <p:sp>
        <p:nvSpPr>
          <p:cNvPr id="23" name="Text 19"/>
          <p:cNvSpPr/>
          <p:nvPr/>
        </p:nvSpPr>
        <p:spPr>
          <a:xfrm>
            <a:off x="3461445" y="6406083"/>
            <a:ext cx="195486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3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788"/>
          </a:p>
        </p:txBody>
      </p:sp>
      <p:sp>
        <p:nvSpPr>
          <p:cNvPr id="24" name="Shape 20"/>
          <p:cNvSpPr/>
          <p:nvPr/>
        </p:nvSpPr>
        <p:spPr>
          <a:xfrm>
            <a:off x="3461445" y="6562725"/>
            <a:ext cx="104775" cy="66675"/>
          </a:xfrm>
          <a:prstGeom prst="rect">
            <a:avLst/>
          </a:prstGeom>
          <a:gradFill rotWithShape="1">
            <a:gsLst>
              <a:gs pos="25000">
                <a:srgbClr val="BCA045">
                  <a:alpha val="100000"/>
                </a:srgbClr>
              </a:gs>
              <a:gs pos="25000">
                <a:srgbClr val="017864">
                  <a:alpha val="100000"/>
                </a:srgbClr>
              </a:gs>
            </a:gsLst>
            <a:lin ang="18900000" scaled="0"/>
          </a:gradFill>
          <a:ln/>
        </p:spPr>
        <p:txBody>
          <a:bodyPr/>
          <a:lstStyle/>
          <a:p>
            <a:endParaRPr lang="en-FR"/>
          </a:p>
        </p:txBody>
      </p:sp>
      <p:sp>
        <p:nvSpPr>
          <p:cNvPr id="25" name="Text 21"/>
          <p:cNvSpPr/>
          <p:nvPr/>
        </p:nvSpPr>
        <p:spPr>
          <a:xfrm>
            <a:off x="3461445" y="6646069"/>
            <a:ext cx="195486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3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788"/>
          </a:p>
        </p:txBody>
      </p:sp>
      <p:sp>
        <p:nvSpPr>
          <p:cNvPr id="26" name="Shape 22"/>
          <p:cNvSpPr/>
          <p:nvPr/>
        </p:nvSpPr>
        <p:spPr>
          <a:xfrm>
            <a:off x="3733130" y="6334125"/>
            <a:ext cx="324743" cy="523875"/>
          </a:xfrm>
          <a:prstGeom prst="rect">
            <a:avLst/>
          </a:prstGeom>
          <a:gradFill rotWithShape="1">
            <a:gsLst>
              <a:gs pos="25000">
                <a:srgbClr val="017864">
                  <a:alpha val="100000"/>
                </a:srgbClr>
              </a:gs>
              <a:gs pos="25000">
                <a:srgbClr val="013F34">
                  <a:alpha val="100000"/>
                </a:srgbClr>
              </a:gs>
            </a:gsLst>
            <a:lin ang="18900000" scaled="0"/>
          </a:gradFill>
          <a:ln/>
        </p:spPr>
        <p:txBody>
          <a:bodyPr/>
          <a:lstStyle/>
          <a:p>
            <a:endParaRPr lang="en-FR"/>
          </a:p>
        </p:txBody>
      </p:sp>
      <p:sp>
        <p:nvSpPr>
          <p:cNvPr id="27" name="Shape 23"/>
          <p:cNvSpPr/>
          <p:nvPr/>
        </p:nvSpPr>
        <p:spPr>
          <a:xfrm>
            <a:off x="4057873" y="6334125"/>
            <a:ext cx="8134127" cy="523875"/>
          </a:xfrm>
          <a:prstGeom prst="rect">
            <a:avLst/>
          </a:prstGeom>
          <a:solidFill>
            <a:srgbClr val="013F34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28" name="Text 24"/>
          <p:cNvSpPr/>
          <p:nvPr/>
        </p:nvSpPr>
        <p:spPr>
          <a:xfrm>
            <a:off x="7262515" y="6488906"/>
            <a:ext cx="80010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07143"/>
              </a:lnSpc>
              <a:buNone/>
            </a:pPr>
            <a:r>
              <a:rPr lang="en-US" sz="675" kern="0" spc="41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THE CONVERSATION</a:t>
            </a:r>
            <a:endParaRPr lang="en-US" sz="675"/>
          </a:p>
        </p:txBody>
      </p:sp>
      <p:sp>
        <p:nvSpPr>
          <p:cNvPr id="29" name="Text 25"/>
          <p:cNvSpPr/>
          <p:nvPr/>
        </p:nvSpPr>
        <p:spPr>
          <a:xfrm>
            <a:off x="8310265" y="6496050"/>
            <a:ext cx="187301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08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#FABCONEUROPE</a:t>
            </a:r>
            <a:endParaRPr lang="en-US" sz="1350"/>
          </a:p>
        </p:txBody>
      </p:sp>
      <p:sp>
        <p:nvSpPr>
          <p:cNvPr id="30" name="Text 26"/>
          <p:cNvSpPr/>
          <p:nvPr/>
        </p:nvSpPr>
        <p:spPr>
          <a:xfrm>
            <a:off x="10260657" y="6496050"/>
            <a:ext cx="189397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08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#SQLCONEUROPE</a:t>
            </a:r>
            <a:endParaRPr lang="en-US" sz="135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39820" y="247650"/>
            <a:ext cx="3121558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72">
                <a:solidFill>
                  <a:srgbClr val="4B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RECORD OR LIVESTREAM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914400" y="742950"/>
            <a:ext cx="1139952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b="1" kern="0" spc="86">
                <a:solidFill>
                  <a:srgbClr val="017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DEBRIEF</a:t>
            </a:r>
            <a:endParaRPr lang="en-US" sz="1425"/>
          </a:p>
        </p:txBody>
      </p:sp>
      <p:sp>
        <p:nvSpPr>
          <p:cNvPr id="4" name="Text 2"/>
          <p:cNvSpPr/>
          <p:nvPr/>
        </p:nvSpPr>
        <p:spPr>
          <a:xfrm>
            <a:off x="914400" y="1100138"/>
            <a:ext cx="11399520" cy="488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556"/>
              </a:lnSpc>
              <a:buNone/>
            </a:pPr>
            <a:r>
              <a:rPr lang="en-US" sz="3225" b="1" kern="0" spc="-32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demo just showed</a:t>
            </a:r>
            <a:endParaRPr lang="en-US" sz="3225"/>
          </a:p>
        </p:txBody>
      </p:sp>
      <p:sp>
        <p:nvSpPr>
          <p:cNvPr id="5" name="Text 3"/>
          <p:cNvSpPr/>
          <p:nvPr/>
        </p:nvSpPr>
        <p:spPr>
          <a:xfrm>
            <a:off x="914400" y="2477616"/>
            <a:ext cx="544830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b="1" kern="0" spc="86">
                <a:solidFill>
                  <a:srgbClr val="017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 · GROUNDING</a:t>
            </a:r>
            <a:endParaRPr lang="en-US" sz="1425"/>
          </a:p>
        </p:txBody>
      </p:sp>
      <p:sp>
        <p:nvSpPr>
          <p:cNvPr id="6" name="Text 4"/>
          <p:cNvSpPr/>
          <p:nvPr/>
        </p:nvSpPr>
        <p:spPr>
          <a:xfrm>
            <a:off x="914400" y="2777654"/>
            <a:ext cx="5101590" cy="1040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5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came from Eventhouse telemetry and the knowledge base, with the source named in the reply.</a:t>
            </a:r>
            <a:endParaRPr lang="en-US" sz="1950"/>
          </a:p>
        </p:txBody>
      </p:sp>
      <p:sp>
        <p:nvSpPr>
          <p:cNvPr id="7" name="Text 5"/>
          <p:cNvSpPr/>
          <p:nvPr/>
        </p:nvSpPr>
        <p:spPr>
          <a:xfrm>
            <a:off x="6324600" y="2477616"/>
            <a:ext cx="544830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b="1" kern="0" spc="86">
                <a:solidFill>
                  <a:srgbClr val="017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 · FABRIC IQ</a:t>
            </a:r>
            <a:endParaRPr lang="en-US" sz="1425"/>
          </a:p>
        </p:txBody>
      </p:sp>
      <p:sp>
        <p:nvSpPr>
          <p:cNvPr id="8" name="Text 6"/>
          <p:cNvSpPr/>
          <p:nvPr/>
        </p:nvSpPr>
        <p:spPr>
          <a:xfrm>
            <a:off x="6324600" y="2777654"/>
            <a:ext cx="5101590" cy="1040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5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and shipment questions were answered by traversing relationships, not by writing joins.</a:t>
            </a:r>
            <a:endParaRPr lang="en-US" sz="1950"/>
          </a:p>
        </p:txBody>
      </p:sp>
      <p:sp>
        <p:nvSpPr>
          <p:cNvPr id="9" name="Text 7"/>
          <p:cNvSpPr/>
          <p:nvPr/>
        </p:nvSpPr>
        <p:spPr>
          <a:xfrm>
            <a:off x="914400" y="4028108"/>
            <a:ext cx="544830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b="1" kern="0" spc="86">
                <a:solidFill>
                  <a:srgbClr val="017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3 · FOUNDRY</a:t>
            </a:r>
            <a:endParaRPr lang="en-US" sz="1425"/>
          </a:p>
        </p:txBody>
      </p:sp>
      <p:sp>
        <p:nvSpPr>
          <p:cNvPr id="10" name="Text 8"/>
          <p:cNvSpPr/>
          <p:nvPr/>
        </p:nvSpPr>
        <p:spPr>
          <a:xfrm>
            <a:off x="914400" y="4328145"/>
            <a:ext cx="5101590" cy="1040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5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selection was the agent's decision per question. No routing logic was written by hand.</a:t>
            </a:r>
            <a:endParaRPr lang="en-US" sz="1950"/>
          </a:p>
        </p:txBody>
      </p:sp>
      <p:sp>
        <p:nvSpPr>
          <p:cNvPr id="11" name="Text 9"/>
          <p:cNvSpPr/>
          <p:nvPr/>
        </p:nvSpPr>
        <p:spPr>
          <a:xfrm>
            <a:off x="6324600" y="4028108"/>
            <a:ext cx="544830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b="1" kern="0" spc="86">
                <a:solidFill>
                  <a:srgbClr val="017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4 · MULTI-AGENT</a:t>
            </a:r>
            <a:endParaRPr lang="en-US" sz="1425"/>
          </a:p>
        </p:txBody>
      </p:sp>
      <p:sp>
        <p:nvSpPr>
          <p:cNvPr id="12" name="Text 10"/>
          <p:cNvSpPr/>
          <p:nvPr/>
        </p:nvSpPr>
        <p:spPr>
          <a:xfrm>
            <a:off x="6324600" y="4328145"/>
            <a:ext cx="5101590" cy="1040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5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final question chained two backends, feeding the ontology result into the data agent call.</a:t>
            </a:r>
            <a:endParaRPr lang="en-US" sz="1950"/>
          </a:p>
        </p:txBody>
      </p:sp>
      <p:sp>
        <p:nvSpPr>
          <p:cNvPr id="13" name="Shape 11"/>
          <p:cNvSpPr/>
          <p:nvPr/>
        </p:nvSpPr>
        <p:spPr>
          <a:xfrm>
            <a:off x="0" y="6334125"/>
            <a:ext cx="2975595" cy="523875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" y="6407497"/>
            <a:ext cx="391344" cy="377130"/>
          </a:xfrm>
          <a:prstGeom prst="rect">
            <a:avLst/>
          </a:prstGeom>
        </p:spPr>
      </p:pic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44" y="6422529"/>
            <a:ext cx="652537" cy="346993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2975595" y="6334125"/>
            <a:ext cx="757535" cy="523875"/>
          </a:xfrm>
          <a:prstGeom prst="rect">
            <a:avLst/>
          </a:prstGeom>
          <a:solidFill>
            <a:srgbClr val="017864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7" name="Text 13"/>
          <p:cNvSpPr/>
          <p:nvPr/>
        </p:nvSpPr>
        <p:spPr>
          <a:xfrm>
            <a:off x="3127995" y="6386066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</a:t>
            </a:r>
            <a:endParaRPr lang="en-US" sz="788"/>
          </a:p>
        </p:txBody>
      </p:sp>
      <p:sp>
        <p:nvSpPr>
          <p:cNvPr id="18" name="Text 14"/>
          <p:cNvSpPr/>
          <p:nvPr/>
        </p:nvSpPr>
        <p:spPr>
          <a:xfrm>
            <a:off x="3127995" y="6526039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</a:t>
            </a:r>
            <a:endParaRPr lang="en-US" sz="788"/>
          </a:p>
        </p:txBody>
      </p:sp>
      <p:sp>
        <p:nvSpPr>
          <p:cNvPr id="19" name="Text 15"/>
          <p:cNvSpPr/>
          <p:nvPr/>
        </p:nvSpPr>
        <p:spPr>
          <a:xfrm>
            <a:off x="3127995" y="6666012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ONA</a:t>
            </a:r>
            <a:endParaRPr lang="en-US" sz="788"/>
          </a:p>
        </p:txBody>
      </p:sp>
      <p:sp>
        <p:nvSpPr>
          <p:cNvPr id="20" name="Text 16"/>
          <p:cNvSpPr/>
          <p:nvPr/>
        </p:nvSpPr>
        <p:spPr>
          <a:xfrm>
            <a:off x="3461445" y="6406083"/>
            <a:ext cx="195486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3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788"/>
          </a:p>
        </p:txBody>
      </p:sp>
      <p:sp>
        <p:nvSpPr>
          <p:cNvPr id="21" name="Shape 17"/>
          <p:cNvSpPr/>
          <p:nvPr/>
        </p:nvSpPr>
        <p:spPr>
          <a:xfrm>
            <a:off x="3461445" y="6562725"/>
            <a:ext cx="104775" cy="66675"/>
          </a:xfrm>
          <a:prstGeom prst="rect">
            <a:avLst/>
          </a:prstGeom>
          <a:gradFill rotWithShape="1">
            <a:gsLst>
              <a:gs pos="25000">
                <a:srgbClr val="BCA045">
                  <a:alpha val="100000"/>
                </a:srgbClr>
              </a:gs>
              <a:gs pos="25000">
                <a:srgbClr val="017864">
                  <a:alpha val="100000"/>
                </a:srgbClr>
              </a:gs>
            </a:gsLst>
            <a:lin ang="18900000" scaled="0"/>
          </a:gradFill>
          <a:ln/>
        </p:spPr>
        <p:txBody>
          <a:bodyPr/>
          <a:lstStyle/>
          <a:p>
            <a:endParaRPr lang="en-FR"/>
          </a:p>
        </p:txBody>
      </p:sp>
      <p:sp>
        <p:nvSpPr>
          <p:cNvPr id="22" name="Text 18"/>
          <p:cNvSpPr/>
          <p:nvPr/>
        </p:nvSpPr>
        <p:spPr>
          <a:xfrm>
            <a:off x="3461445" y="6646069"/>
            <a:ext cx="195486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3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788"/>
          </a:p>
        </p:txBody>
      </p:sp>
      <p:sp>
        <p:nvSpPr>
          <p:cNvPr id="23" name="Shape 19"/>
          <p:cNvSpPr/>
          <p:nvPr/>
        </p:nvSpPr>
        <p:spPr>
          <a:xfrm>
            <a:off x="3733130" y="6334125"/>
            <a:ext cx="324743" cy="523875"/>
          </a:xfrm>
          <a:prstGeom prst="rect">
            <a:avLst/>
          </a:prstGeom>
          <a:gradFill rotWithShape="1">
            <a:gsLst>
              <a:gs pos="25000">
                <a:srgbClr val="017864">
                  <a:alpha val="100000"/>
                </a:srgbClr>
              </a:gs>
              <a:gs pos="25000">
                <a:srgbClr val="013F34">
                  <a:alpha val="100000"/>
                </a:srgbClr>
              </a:gs>
            </a:gsLst>
            <a:lin ang="18900000" scaled="0"/>
          </a:gradFill>
          <a:ln/>
        </p:spPr>
        <p:txBody>
          <a:bodyPr/>
          <a:lstStyle/>
          <a:p>
            <a:endParaRPr lang="en-FR"/>
          </a:p>
        </p:txBody>
      </p:sp>
      <p:sp>
        <p:nvSpPr>
          <p:cNvPr id="24" name="Shape 20"/>
          <p:cNvSpPr/>
          <p:nvPr/>
        </p:nvSpPr>
        <p:spPr>
          <a:xfrm>
            <a:off x="4057873" y="6334125"/>
            <a:ext cx="8134127" cy="523875"/>
          </a:xfrm>
          <a:prstGeom prst="rect">
            <a:avLst/>
          </a:prstGeom>
          <a:solidFill>
            <a:srgbClr val="013F34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25" name="Text 21"/>
          <p:cNvSpPr/>
          <p:nvPr/>
        </p:nvSpPr>
        <p:spPr>
          <a:xfrm>
            <a:off x="7262515" y="6488906"/>
            <a:ext cx="80010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07143"/>
              </a:lnSpc>
              <a:buNone/>
            </a:pPr>
            <a:r>
              <a:rPr lang="en-US" sz="675" kern="0" spc="41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THE CONVERSATION</a:t>
            </a:r>
            <a:endParaRPr lang="en-US" sz="675"/>
          </a:p>
        </p:txBody>
      </p:sp>
      <p:sp>
        <p:nvSpPr>
          <p:cNvPr id="26" name="Text 22"/>
          <p:cNvSpPr/>
          <p:nvPr/>
        </p:nvSpPr>
        <p:spPr>
          <a:xfrm>
            <a:off x="8310265" y="6496050"/>
            <a:ext cx="187301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08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#FABCONEUROPE</a:t>
            </a:r>
            <a:endParaRPr lang="en-US" sz="1350"/>
          </a:p>
        </p:txBody>
      </p:sp>
      <p:sp>
        <p:nvSpPr>
          <p:cNvPr id="27" name="Text 23"/>
          <p:cNvSpPr/>
          <p:nvPr/>
        </p:nvSpPr>
        <p:spPr>
          <a:xfrm>
            <a:off x="10260657" y="6496050"/>
            <a:ext cx="189397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08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#SQLCONEUROPE</a:t>
            </a:r>
            <a:endParaRPr lang="en-US" sz="135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16251">
                  <a:alpha val="100000"/>
                </a:srgbClr>
              </a:gs>
              <a:gs pos="55000">
                <a:srgbClr val="013F34">
                  <a:alpha val="100000"/>
                </a:srgbClr>
              </a:gs>
              <a:gs pos="100000">
                <a:srgbClr val="002820">
                  <a:alpha val="100000"/>
                </a:srgbClr>
              </a:gs>
            </a:gsLst>
            <a:lin ang="8100000" scaled="0"/>
          </a:gradFill>
          <a:ln/>
        </p:spPr>
        <p:txBody>
          <a:bodyPr/>
          <a:lstStyle/>
          <a:p>
            <a:endParaRPr lang="en-FR"/>
          </a:p>
        </p:txBody>
      </p:sp>
      <p:sp>
        <p:nvSpPr>
          <p:cNvPr id="3" name="Text 1"/>
          <p:cNvSpPr/>
          <p:nvPr/>
        </p:nvSpPr>
        <p:spPr>
          <a:xfrm>
            <a:off x="8439820" y="247650"/>
            <a:ext cx="3121558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72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RECORD OR LIVESTREAM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914400" y="742950"/>
            <a:ext cx="1139952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b="1" kern="0" spc="86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DEBRIEF</a:t>
            </a:r>
            <a:endParaRPr lang="en-US" sz="1425"/>
          </a:p>
        </p:txBody>
      </p:sp>
      <p:sp>
        <p:nvSpPr>
          <p:cNvPr id="5" name="Text 3"/>
          <p:cNvSpPr/>
          <p:nvPr/>
        </p:nvSpPr>
        <p:spPr>
          <a:xfrm>
            <a:off x="914400" y="1100138"/>
            <a:ext cx="11399520" cy="488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556"/>
              </a:lnSpc>
              <a:buNone/>
            </a:pPr>
            <a:r>
              <a:rPr lang="en-US" sz="3225" b="1" kern="0" spc="-3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things we built and dropped</a:t>
            </a:r>
            <a:endParaRPr lang="en-US" sz="3225"/>
          </a:p>
        </p:txBody>
      </p:sp>
      <p:sp>
        <p:nvSpPr>
          <p:cNvPr id="6" name="Shape 4"/>
          <p:cNvSpPr/>
          <p:nvPr/>
        </p:nvSpPr>
        <p:spPr>
          <a:xfrm>
            <a:off x="914400" y="1893540"/>
            <a:ext cx="5010150" cy="4533826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7" name="Text 5"/>
          <p:cNvSpPr/>
          <p:nvPr/>
        </p:nvSpPr>
        <p:spPr>
          <a:xfrm>
            <a:off x="1162050" y="2160240"/>
            <a:ext cx="496633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b="1" kern="0" spc="86">
                <a:solidFill>
                  <a:srgbClr val="7FD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SECOND DATA AGENT SOURCE</a:t>
            </a:r>
            <a:endParaRPr lang="en-US" sz="1425"/>
          </a:p>
        </p:txBody>
      </p:sp>
      <p:sp>
        <p:nvSpPr>
          <p:cNvPr id="8" name="Text 6"/>
          <p:cNvSpPr/>
          <p:nvPr/>
        </p:nvSpPr>
        <p:spPr>
          <a:xfrm>
            <a:off x="1162050" y="2498378"/>
            <a:ext cx="4650296" cy="1276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333"/>
              </a:lnSpc>
              <a:buNone/>
            </a:pPr>
            <a:r>
              <a:rPr lang="en-US" sz="19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configurations grounding the Data Agent in a Lakehouse mirror of Supply Chain / ERP. All 5 failed identically.</a:t>
            </a:r>
            <a:endParaRPr lang="en-US" sz="1950"/>
          </a:p>
        </p:txBody>
      </p:sp>
      <p:sp>
        <p:nvSpPr>
          <p:cNvPr id="9" name="Text 7"/>
          <p:cNvSpPr/>
          <p:nvPr/>
        </p:nvSpPr>
        <p:spPr>
          <a:xfrm>
            <a:off x="1162050" y="3869978"/>
            <a:ext cx="4650296" cy="1581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818"/>
              </a:lnSpc>
              <a:buNone/>
            </a:pPr>
            <a:r>
              <a:rPr lang="en-US" sz="180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Including a byte-for-byte reproduction of the config the Fabric portal's own "+ Add data source" picker generated — and the decisive test ran in the portal's native chat panel, which rules out a config mistake.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1162050" y="5546303"/>
            <a:ext cx="4650296" cy="652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b="1" kern="0" spc="86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RESOLUTION: SUPPLY CHAIN / ERP GROUNDING COMES FROM THE ONTOLOGY TOOL. NO FUNCTIONALITY LOST.</a:t>
            </a:r>
            <a:endParaRPr lang="en-US" sz="1425"/>
          </a:p>
        </p:txBody>
      </p:sp>
      <p:sp>
        <p:nvSpPr>
          <p:cNvPr id="11" name="Shape 9"/>
          <p:cNvSpPr/>
          <p:nvPr/>
        </p:nvSpPr>
        <p:spPr>
          <a:xfrm>
            <a:off x="6267450" y="1893540"/>
            <a:ext cx="5010150" cy="4533826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2" name="Text 10"/>
          <p:cNvSpPr/>
          <p:nvPr/>
        </p:nvSpPr>
        <p:spPr>
          <a:xfrm>
            <a:off x="6515100" y="2160240"/>
            <a:ext cx="496633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b="1" kern="0" spc="86">
                <a:solidFill>
                  <a:srgbClr val="7FD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A2A AGENT-TO-AGENT ORCHESTRATION</a:t>
            </a:r>
            <a:endParaRPr lang="en-US" sz="1425"/>
          </a:p>
        </p:txBody>
      </p:sp>
      <p:sp>
        <p:nvSpPr>
          <p:cNvPr id="13" name="Text 11"/>
          <p:cNvSpPr/>
          <p:nvPr/>
        </p:nvSpPr>
        <p:spPr>
          <a:xfrm>
            <a:off x="6515100" y="2498378"/>
            <a:ext cx="4650296" cy="966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8333"/>
              </a:lnSpc>
              <a:buNone/>
            </a:pPr>
            <a:r>
              <a:rPr lang="en-US" sz="19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Coordinator plus two specialist agents. The raw A2A protocol worked end to end.</a:t>
            </a:r>
            <a:endParaRPr lang="en-US" sz="1950"/>
          </a:p>
        </p:txBody>
      </p:sp>
      <p:sp>
        <p:nvSpPr>
          <p:cNvPr id="14" name="Text 12"/>
          <p:cNvSpPr/>
          <p:nvPr/>
        </p:nvSpPr>
        <p:spPr>
          <a:xfrm>
            <a:off x="6515100" y="3560415"/>
            <a:ext cx="4650296" cy="1272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818"/>
              </a:lnSpc>
              <a:buNone/>
            </a:pPr>
            <a:r>
              <a:rPr lang="en-US" sz="180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JSON-RPC calls returned correct answers. The product mechanism for wiring A2A into a live agent failed reproducibly with a non-diagnosable error.</a:t>
            </a:r>
            <a:endParaRPr lang="en-US" sz="1800"/>
          </a:p>
        </p:txBody>
      </p:sp>
      <p:sp>
        <p:nvSpPr>
          <p:cNvPr id="15" name="Text 13"/>
          <p:cNvSpPr/>
          <p:nvPr/>
        </p:nvSpPr>
        <p:spPr>
          <a:xfrm>
            <a:off x="6515100" y="5546303"/>
            <a:ext cx="4650296" cy="652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b="1" kern="0" spc="86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PROTOCOL AND AUTH MODEL WORK. THE TOOL-INVOCATION LAYER DOES NOT YET.</a:t>
            </a:r>
            <a:endParaRPr lang="en-US" sz="1425"/>
          </a:p>
        </p:txBody>
      </p:sp>
      <p:sp>
        <p:nvSpPr>
          <p:cNvPr id="16" name="Shape 14"/>
          <p:cNvSpPr/>
          <p:nvPr/>
        </p:nvSpPr>
        <p:spPr>
          <a:xfrm>
            <a:off x="0" y="6334125"/>
            <a:ext cx="2975595" cy="523875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" y="6407497"/>
            <a:ext cx="391344" cy="377130"/>
          </a:xfrm>
          <a:prstGeom prst="rect">
            <a:avLst/>
          </a:prstGeom>
        </p:spPr>
      </p:pic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44" y="6422529"/>
            <a:ext cx="652537" cy="346993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2975595" y="6334125"/>
            <a:ext cx="757535" cy="523875"/>
          </a:xfrm>
          <a:prstGeom prst="rect">
            <a:avLst/>
          </a:prstGeom>
          <a:solidFill>
            <a:srgbClr val="017864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20" name="Text 16"/>
          <p:cNvSpPr/>
          <p:nvPr/>
        </p:nvSpPr>
        <p:spPr>
          <a:xfrm>
            <a:off x="3127995" y="6386066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</a:t>
            </a:r>
            <a:endParaRPr lang="en-US" sz="788"/>
          </a:p>
        </p:txBody>
      </p:sp>
      <p:sp>
        <p:nvSpPr>
          <p:cNvPr id="21" name="Text 17"/>
          <p:cNvSpPr/>
          <p:nvPr/>
        </p:nvSpPr>
        <p:spPr>
          <a:xfrm>
            <a:off x="3127995" y="6526039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</a:t>
            </a:r>
            <a:endParaRPr lang="en-US" sz="788"/>
          </a:p>
        </p:txBody>
      </p:sp>
      <p:sp>
        <p:nvSpPr>
          <p:cNvPr id="22" name="Text 18"/>
          <p:cNvSpPr/>
          <p:nvPr/>
        </p:nvSpPr>
        <p:spPr>
          <a:xfrm>
            <a:off x="3127995" y="6666012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ONA</a:t>
            </a:r>
            <a:endParaRPr lang="en-US" sz="788"/>
          </a:p>
        </p:txBody>
      </p:sp>
      <p:sp>
        <p:nvSpPr>
          <p:cNvPr id="23" name="Text 19"/>
          <p:cNvSpPr/>
          <p:nvPr/>
        </p:nvSpPr>
        <p:spPr>
          <a:xfrm>
            <a:off x="3461445" y="6406083"/>
            <a:ext cx="195486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3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788"/>
          </a:p>
        </p:txBody>
      </p:sp>
      <p:sp>
        <p:nvSpPr>
          <p:cNvPr id="24" name="Shape 20"/>
          <p:cNvSpPr/>
          <p:nvPr/>
        </p:nvSpPr>
        <p:spPr>
          <a:xfrm>
            <a:off x="3461445" y="6562725"/>
            <a:ext cx="104775" cy="66675"/>
          </a:xfrm>
          <a:prstGeom prst="rect">
            <a:avLst/>
          </a:prstGeom>
          <a:gradFill rotWithShape="1">
            <a:gsLst>
              <a:gs pos="25000">
                <a:srgbClr val="BCA045">
                  <a:alpha val="100000"/>
                </a:srgbClr>
              </a:gs>
              <a:gs pos="25000">
                <a:srgbClr val="017864">
                  <a:alpha val="100000"/>
                </a:srgbClr>
              </a:gs>
            </a:gsLst>
            <a:lin ang="18900000" scaled="0"/>
          </a:gradFill>
          <a:ln/>
        </p:spPr>
        <p:txBody>
          <a:bodyPr/>
          <a:lstStyle/>
          <a:p>
            <a:endParaRPr lang="en-FR"/>
          </a:p>
        </p:txBody>
      </p:sp>
      <p:sp>
        <p:nvSpPr>
          <p:cNvPr id="25" name="Text 21"/>
          <p:cNvSpPr/>
          <p:nvPr/>
        </p:nvSpPr>
        <p:spPr>
          <a:xfrm>
            <a:off x="3461445" y="6646069"/>
            <a:ext cx="195486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3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788"/>
          </a:p>
        </p:txBody>
      </p:sp>
      <p:sp>
        <p:nvSpPr>
          <p:cNvPr id="26" name="Shape 22"/>
          <p:cNvSpPr/>
          <p:nvPr/>
        </p:nvSpPr>
        <p:spPr>
          <a:xfrm>
            <a:off x="3733130" y="6334125"/>
            <a:ext cx="324743" cy="523875"/>
          </a:xfrm>
          <a:prstGeom prst="rect">
            <a:avLst/>
          </a:prstGeom>
          <a:gradFill rotWithShape="1">
            <a:gsLst>
              <a:gs pos="25000">
                <a:srgbClr val="017864">
                  <a:alpha val="100000"/>
                </a:srgbClr>
              </a:gs>
              <a:gs pos="25000">
                <a:srgbClr val="013F34">
                  <a:alpha val="100000"/>
                </a:srgbClr>
              </a:gs>
            </a:gsLst>
            <a:lin ang="18900000" scaled="0"/>
          </a:gradFill>
          <a:ln/>
        </p:spPr>
        <p:txBody>
          <a:bodyPr/>
          <a:lstStyle/>
          <a:p>
            <a:endParaRPr lang="en-FR"/>
          </a:p>
        </p:txBody>
      </p:sp>
      <p:sp>
        <p:nvSpPr>
          <p:cNvPr id="27" name="Shape 23"/>
          <p:cNvSpPr/>
          <p:nvPr/>
        </p:nvSpPr>
        <p:spPr>
          <a:xfrm>
            <a:off x="4057873" y="6334125"/>
            <a:ext cx="8134127" cy="523875"/>
          </a:xfrm>
          <a:prstGeom prst="rect">
            <a:avLst/>
          </a:prstGeom>
          <a:solidFill>
            <a:srgbClr val="013F34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28" name="Text 24"/>
          <p:cNvSpPr/>
          <p:nvPr/>
        </p:nvSpPr>
        <p:spPr>
          <a:xfrm>
            <a:off x="7262515" y="6488906"/>
            <a:ext cx="80010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07143"/>
              </a:lnSpc>
              <a:buNone/>
            </a:pPr>
            <a:r>
              <a:rPr lang="en-US" sz="675" kern="0" spc="41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THE CONVERSATION</a:t>
            </a:r>
            <a:endParaRPr lang="en-US" sz="675"/>
          </a:p>
        </p:txBody>
      </p:sp>
      <p:sp>
        <p:nvSpPr>
          <p:cNvPr id="29" name="Text 25"/>
          <p:cNvSpPr/>
          <p:nvPr/>
        </p:nvSpPr>
        <p:spPr>
          <a:xfrm>
            <a:off x="8310265" y="6496050"/>
            <a:ext cx="187301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08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#FABCONEUROPE</a:t>
            </a:r>
            <a:endParaRPr lang="en-US" sz="1350"/>
          </a:p>
        </p:txBody>
      </p:sp>
      <p:sp>
        <p:nvSpPr>
          <p:cNvPr id="30" name="Text 26"/>
          <p:cNvSpPr/>
          <p:nvPr/>
        </p:nvSpPr>
        <p:spPr>
          <a:xfrm>
            <a:off x="10260657" y="6496050"/>
            <a:ext cx="189397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08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#SQLCONEUROPE</a:t>
            </a:r>
            <a:endParaRPr lang="en-US" sz="135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39820" y="247650"/>
            <a:ext cx="3121558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72">
                <a:solidFill>
                  <a:srgbClr val="4B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RECORD OR LIVESTREAM</a:t>
            </a:r>
            <a:endParaRPr lang="en-US" sz="12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838200" cy="6858000"/>
          </a:xfrm>
          <a:prstGeom prst="rect">
            <a:avLst/>
          </a:prstGeom>
          <a:gradFill rotWithShape="1">
            <a:gsLst>
              <a:gs pos="25000">
                <a:srgbClr val="017864">
                  <a:alpha val="100000"/>
                </a:srgbClr>
              </a:gs>
              <a:gs pos="25000">
                <a:srgbClr val="CFE9E1">
                  <a:alpha val="100000"/>
                </a:srgbClr>
              </a:gs>
            </a:gsLst>
            <a:lin ang="18900000" scaled="0"/>
          </a:gradFill>
          <a:ln/>
        </p:spPr>
        <p:txBody>
          <a:bodyPr/>
          <a:lstStyle/>
          <a:p>
            <a:endParaRPr lang="en-FR"/>
          </a:p>
        </p:txBody>
      </p:sp>
      <p:sp>
        <p:nvSpPr>
          <p:cNvPr id="4" name="Text 2"/>
          <p:cNvSpPr/>
          <p:nvPr/>
        </p:nvSpPr>
        <p:spPr>
          <a:xfrm>
            <a:off x="1752600" y="1617836"/>
            <a:ext cx="1047750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b="1" kern="0" spc="86">
                <a:solidFill>
                  <a:srgbClr val="017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REFRAME</a:t>
            </a:r>
            <a:endParaRPr lang="en-US" sz="1425"/>
          </a:p>
        </p:txBody>
      </p:sp>
      <p:sp>
        <p:nvSpPr>
          <p:cNvPr id="5" name="Text 3"/>
          <p:cNvSpPr/>
          <p:nvPr/>
        </p:nvSpPr>
        <p:spPr>
          <a:xfrm>
            <a:off x="1752600" y="2127424"/>
            <a:ext cx="9810750" cy="2324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348"/>
              </a:lnSpc>
              <a:buNone/>
            </a:pPr>
            <a:r>
              <a:rPr lang="en-US" sz="3000" b="1" kern="0" spc="-3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"Multi-agent" in production today usually means one orchestrating agent reasoning across multiple specialized data agents and knowledge sources — not multiple conversational agents talking to each other.</a:t>
            </a:r>
            <a:endParaRPr lang="en-US" sz="3000"/>
          </a:p>
        </p:txBody>
      </p:sp>
      <p:sp>
        <p:nvSpPr>
          <p:cNvPr id="6" name="Text 4"/>
          <p:cNvSpPr/>
          <p:nvPr/>
        </p:nvSpPr>
        <p:spPr>
          <a:xfrm>
            <a:off x="1752600" y="4718224"/>
            <a:ext cx="1047750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>
                <a:solidFill>
                  <a:srgbClr val="4B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centerpiece question is real evidence that this pattern works well right now.</a:t>
            </a:r>
            <a:endParaRPr lang="en-US" sz="2100"/>
          </a:p>
        </p:txBody>
      </p:sp>
      <p:sp>
        <p:nvSpPr>
          <p:cNvPr id="7" name="Shape 5"/>
          <p:cNvSpPr/>
          <p:nvPr/>
        </p:nvSpPr>
        <p:spPr>
          <a:xfrm>
            <a:off x="0" y="6334125"/>
            <a:ext cx="2975595" cy="523875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" y="6407497"/>
            <a:ext cx="391344" cy="377130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44" y="6422529"/>
            <a:ext cx="652537" cy="346993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975595" y="6334125"/>
            <a:ext cx="757535" cy="523875"/>
          </a:xfrm>
          <a:prstGeom prst="rect">
            <a:avLst/>
          </a:prstGeom>
          <a:solidFill>
            <a:srgbClr val="017864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1" name="Text 7"/>
          <p:cNvSpPr/>
          <p:nvPr/>
        </p:nvSpPr>
        <p:spPr>
          <a:xfrm>
            <a:off x="3127995" y="6386066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</a:t>
            </a:r>
            <a:endParaRPr lang="en-US" sz="788"/>
          </a:p>
        </p:txBody>
      </p:sp>
      <p:sp>
        <p:nvSpPr>
          <p:cNvPr id="12" name="Text 8"/>
          <p:cNvSpPr/>
          <p:nvPr/>
        </p:nvSpPr>
        <p:spPr>
          <a:xfrm>
            <a:off x="3127995" y="6526039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</a:t>
            </a:r>
            <a:endParaRPr lang="en-US" sz="788"/>
          </a:p>
        </p:txBody>
      </p:sp>
      <p:sp>
        <p:nvSpPr>
          <p:cNvPr id="13" name="Text 9"/>
          <p:cNvSpPr/>
          <p:nvPr/>
        </p:nvSpPr>
        <p:spPr>
          <a:xfrm>
            <a:off x="3127995" y="6666012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ONA</a:t>
            </a:r>
            <a:endParaRPr lang="en-US" sz="788"/>
          </a:p>
        </p:txBody>
      </p:sp>
      <p:sp>
        <p:nvSpPr>
          <p:cNvPr id="14" name="Text 10"/>
          <p:cNvSpPr/>
          <p:nvPr/>
        </p:nvSpPr>
        <p:spPr>
          <a:xfrm>
            <a:off x="3461445" y="6406083"/>
            <a:ext cx="195486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3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788"/>
          </a:p>
        </p:txBody>
      </p:sp>
      <p:sp>
        <p:nvSpPr>
          <p:cNvPr id="15" name="Shape 11"/>
          <p:cNvSpPr/>
          <p:nvPr/>
        </p:nvSpPr>
        <p:spPr>
          <a:xfrm>
            <a:off x="3461445" y="6562725"/>
            <a:ext cx="104775" cy="66675"/>
          </a:xfrm>
          <a:prstGeom prst="rect">
            <a:avLst/>
          </a:prstGeom>
          <a:gradFill rotWithShape="1">
            <a:gsLst>
              <a:gs pos="25000">
                <a:srgbClr val="BCA045">
                  <a:alpha val="100000"/>
                </a:srgbClr>
              </a:gs>
              <a:gs pos="25000">
                <a:srgbClr val="017864">
                  <a:alpha val="100000"/>
                </a:srgbClr>
              </a:gs>
            </a:gsLst>
            <a:lin ang="18900000" scaled="0"/>
          </a:gradFill>
          <a:ln/>
        </p:spPr>
        <p:txBody>
          <a:bodyPr/>
          <a:lstStyle/>
          <a:p>
            <a:endParaRPr lang="en-FR"/>
          </a:p>
        </p:txBody>
      </p:sp>
      <p:sp>
        <p:nvSpPr>
          <p:cNvPr id="16" name="Text 12"/>
          <p:cNvSpPr/>
          <p:nvPr/>
        </p:nvSpPr>
        <p:spPr>
          <a:xfrm>
            <a:off x="3461445" y="6646069"/>
            <a:ext cx="195486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3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788"/>
          </a:p>
        </p:txBody>
      </p:sp>
      <p:sp>
        <p:nvSpPr>
          <p:cNvPr id="17" name="Shape 13"/>
          <p:cNvSpPr/>
          <p:nvPr/>
        </p:nvSpPr>
        <p:spPr>
          <a:xfrm>
            <a:off x="3733130" y="6334125"/>
            <a:ext cx="324743" cy="523875"/>
          </a:xfrm>
          <a:prstGeom prst="rect">
            <a:avLst/>
          </a:prstGeom>
          <a:gradFill rotWithShape="1">
            <a:gsLst>
              <a:gs pos="25000">
                <a:srgbClr val="017864">
                  <a:alpha val="100000"/>
                </a:srgbClr>
              </a:gs>
              <a:gs pos="25000">
                <a:srgbClr val="013F34">
                  <a:alpha val="100000"/>
                </a:srgbClr>
              </a:gs>
            </a:gsLst>
            <a:lin ang="18900000" scaled="0"/>
          </a:gradFill>
          <a:ln/>
        </p:spPr>
        <p:txBody>
          <a:bodyPr/>
          <a:lstStyle/>
          <a:p>
            <a:endParaRPr lang="en-FR"/>
          </a:p>
        </p:txBody>
      </p:sp>
      <p:sp>
        <p:nvSpPr>
          <p:cNvPr id="18" name="Shape 14"/>
          <p:cNvSpPr/>
          <p:nvPr/>
        </p:nvSpPr>
        <p:spPr>
          <a:xfrm>
            <a:off x="4057873" y="6334125"/>
            <a:ext cx="8134127" cy="523875"/>
          </a:xfrm>
          <a:prstGeom prst="rect">
            <a:avLst/>
          </a:prstGeom>
          <a:solidFill>
            <a:srgbClr val="013F34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5"/>
          <p:cNvSpPr/>
          <p:nvPr/>
        </p:nvSpPr>
        <p:spPr>
          <a:xfrm>
            <a:off x="7262515" y="6488906"/>
            <a:ext cx="80010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07143"/>
              </a:lnSpc>
              <a:buNone/>
            </a:pPr>
            <a:r>
              <a:rPr lang="en-US" sz="675" kern="0" spc="41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THE CONVERSATION</a:t>
            </a:r>
            <a:endParaRPr lang="en-US" sz="675"/>
          </a:p>
        </p:txBody>
      </p:sp>
      <p:sp>
        <p:nvSpPr>
          <p:cNvPr id="20" name="Text 16"/>
          <p:cNvSpPr/>
          <p:nvPr/>
        </p:nvSpPr>
        <p:spPr>
          <a:xfrm>
            <a:off x="8310265" y="6496050"/>
            <a:ext cx="187301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08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#FABCONEUROPE</a:t>
            </a:r>
            <a:endParaRPr lang="en-US" sz="1350"/>
          </a:p>
        </p:txBody>
      </p:sp>
      <p:sp>
        <p:nvSpPr>
          <p:cNvPr id="21" name="Text 17"/>
          <p:cNvSpPr/>
          <p:nvPr/>
        </p:nvSpPr>
        <p:spPr>
          <a:xfrm>
            <a:off x="10260657" y="6496050"/>
            <a:ext cx="189397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08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#SQLCONEUROPE</a:t>
            </a:r>
            <a:endParaRPr lang="en-US" sz="135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39820" y="247650"/>
            <a:ext cx="3121558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72" dirty="0">
                <a:solidFill>
                  <a:srgbClr val="4B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RECORD OR LIVESTREAM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742950"/>
            <a:ext cx="1139952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b="1" kern="0" spc="86" dirty="0">
                <a:solidFill>
                  <a:srgbClr val="017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DEBRIEF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914400" y="1100138"/>
            <a:ext cx="11399520" cy="488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556"/>
              </a:lnSpc>
              <a:buNone/>
            </a:pPr>
            <a:r>
              <a:rPr lang="en-US" sz="3225" b="1" kern="0" spc="-32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gaps</a:t>
            </a:r>
            <a:endParaRPr lang="en-US" sz="3225" dirty="0"/>
          </a:p>
        </p:txBody>
      </p:sp>
      <p:sp>
        <p:nvSpPr>
          <p:cNvPr id="5" name="Text 3"/>
          <p:cNvSpPr/>
          <p:nvPr/>
        </p:nvSpPr>
        <p:spPr>
          <a:xfrm>
            <a:off x="914400" y="1817340"/>
            <a:ext cx="10674096" cy="10038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667"/>
              </a:lnSpc>
              <a:buNone/>
            </a:pPr>
            <a:r>
              <a:rPr lang="en-US" sz="195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batch_to_line </a:t>
            </a:r>
            <a:r>
              <a:rPr lang="en-US" sz="1950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</a:t>
            </a:r>
            <a:r>
              <a:rPr lang="en-US" sz="195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batch_to_recipe </a:t>
            </a:r>
            <a:r>
              <a:rPr lang="en-US" sz="1950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type-only — no instance data is bound. Their source, </a:t>
            </a:r>
            <a:r>
              <a:rPr lang="en-US" sz="195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silver_batch </a:t>
            </a:r>
            <a:r>
              <a:rPr lang="en-US" sz="1950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is a materialized view, and OneLake mirroring doesn't yet support materialized views over materialized views.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14400" y="2935486"/>
            <a:ext cx="11399520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667"/>
              </a:lnSpc>
              <a:buNone/>
            </a:pPr>
            <a:r>
              <a:rPr lang="en-US" sz="1950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Fabric Data Agent grounds Factory and Quality telemetry only.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14400" y="3409801"/>
            <a:ext cx="10674096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667"/>
              </a:lnSpc>
              <a:buNone/>
            </a:pPr>
            <a:r>
              <a:rPr lang="en-US" sz="1950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Fabric Operations Agent needs one manual portal step to connect its alert action. No REST or Terraform path exists for that specific piece.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14400" y="4206032"/>
            <a:ext cx="10674096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667"/>
              </a:lnSpc>
              <a:buNone/>
            </a:pPr>
            <a:r>
              <a:rPr lang="en-US" sz="1950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 IQ region availability and Fabric workspace access for anyone other than whoever ran </a:t>
            </a:r>
            <a:r>
              <a:rPr lang="en-US" sz="195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apply </a:t>
            </a:r>
            <a:r>
              <a:rPr lang="en-US" sz="1950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outside Terraform's reach.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14400" y="5002262"/>
            <a:ext cx="10363200" cy="1764804"/>
          </a:xfrm>
          <a:prstGeom prst="rect">
            <a:avLst/>
          </a:prstGeom>
          <a:solidFill>
            <a:srgbClr val="017864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0" name="Text 8"/>
          <p:cNvSpPr/>
          <p:nvPr/>
        </p:nvSpPr>
        <p:spPr>
          <a:xfrm>
            <a:off x="1143000" y="5173712"/>
            <a:ext cx="1089660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72" dirty="0">
                <a:solidFill>
                  <a:srgbClr val="7FD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DURING REHEARSAL · 28 AUG 2026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43000" y="5407075"/>
            <a:ext cx="10203180" cy="12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455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Batch-level material and supplier traceability. A new </a:t>
            </a: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batch_material_usage </a:t>
            </a: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junction table — same shape as the existing </a:t>
            </a: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order_line </a:t>
            </a: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— now answers "which suppliers fed this batch's materials", not just "who are our suppliers". Diagnosed as a real data gap, closed and redeployed before this talk.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0" y="6334125"/>
            <a:ext cx="2975595" cy="523875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" y="6407497"/>
            <a:ext cx="391344" cy="377130"/>
          </a:xfrm>
          <a:prstGeom prst="rect">
            <a:avLst/>
          </a:prstGeom>
        </p:spPr>
      </p:pic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44" y="6422529"/>
            <a:ext cx="652537" cy="346993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975595" y="6334125"/>
            <a:ext cx="757535" cy="523875"/>
          </a:xfrm>
          <a:prstGeom prst="rect">
            <a:avLst/>
          </a:prstGeom>
          <a:solidFill>
            <a:srgbClr val="017864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6" name="Text 12"/>
          <p:cNvSpPr/>
          <p:nvPr/>
        </p:nvSpPr>
        <p:spPr>
          <a:xfrm>
            <a:off x="3127995" y="6386066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</a:t>
            </a:r>
            <a:endParaRPr lang="en-US" sz="788" dirty="0"/>
          </a:p>
        </p:txBody>
      </p:sp>
      <p:sp>
        <p:nvSpPr>
          <p:cNvPr id="17" name="Text 13"/>
          <p:cNvSpPr/>
          <p:nvPr/>
        </p:nvSpPr>
        <p:spPr>
          <a:xfrm>
            <a:off x="3127995" y="6526039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</a:t>
            </a:r>
            <a:endParaRPr lang="en-US" sz="788" dirty="0"/>
          </a:p>
        </p:txBody>
      </p:sp>
      <p:sp>
        <p:nvSpPr>
          <p:cNvPr id="18" name="Text 14"/>
          <p:cNvSpPr/>
          <p:nvPr/>
        </p:nvSpPr>
        <p:spPr>
          <a:xfrm>
            <a:off x="3127995" y="6666012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ONA</a:t>
            </a:r>
            <a:endParaRPr lang="en-US" sz="788" dirty="0"/>
          </a:p>
        </p:txBody>
      </p:sp>
      <p:sp>
        <p:nvSpPr>
          <p:cNvPr id="19" name="Text 15"/>
          <p:cNvSpPr/>
          <p:nvPr/>
        </p:nvSpPr>
        <p:spPr>
          <a:xfrm>
            <a:off x="3461445" y="6406083"/>
            <a:ext cx="195486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3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788" dirty="0"/>
          </a:p>
        </p:txBody>
      </p:sp>
      <p:sp>
        <p:nvSpPr>
          <p:cNvPr id="20" name="Shape 16"/>
          <p:cNvSpPr/>
          <p:nvPr/>
        </p:nvSpPr>
        <p:spPr>
          <a:xfrm>
            <a:off x="3461445" y="6562725"/>
            <a:ext cx="104775" cy="66675"/>
          </a:xfrm>
          <a:prstGeom prst="rect">
            <a:avLst/>
          </a:prstGeom>
          <a:gradFill rotWithShape="1">
            <a:gsLst>
              <a:gs pos="25000">
                <a:srgbClr val="BCA045">
                  <a:alpha val="100000"/>
                </a:srgbClr>
              </a:gs>
              <a:gs pos="25000">
                <a:srgbClr val="017864">
                  <a:alpha val="100000"/>
                </a:srgbClr>
              </a:gs>
            </a:gsLst>
            <a:lin ang="18900000" scaled="0"/>
          </a:gradFill>
          <a:ln/>
        </p:spPr>
        <p:txBody>
          <a:bodyPr/>
          <a:lstStyle/>
          <a:p>
            <a:endParaRPr lang="en-FR"/>
          </a:p>
        </p:txBody>
      </p:sp>
      <p:sp>
        <p:nvSpPr>
          <p:cNvPr id="21" name="Text 17"/>
          <p:cNvSpPr/>
          <p:nvPr/>
        </p:nvSpPr>
        <p:spPr>
          <a:xfrm>
            <a:off x="3461445" y="6646069"/>
            <a:ext cx="195486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3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788" dirty="0"/>
          </a:p>
        </p:txBody>
      </p:sp>
      <p:sp>
        <p:nvSpPr>
          <p:cNvPr id="22" name="Shape 18"/>
          <p:cNvSpPr/>
          <p:nvPr/>
        </p:nvSpPr>
        <p:spPr>
          <a:xfrm>
            <a:off x="3733130" y="6334125"/>
            <a:ext cx="324743" cy="523875"/>
          </a:xfrm>
          <a:prstGeom prst="rect">
            <a:avLst/>
          </a:prstGeom>
          <a:gradFill rotWithShape="1">
            <a:gsLst>
              <a:gs pos="25000">
                <a:srgbClr val="017864">
                  <a:alpha val="100000"/>
                </a:srgbClr>
              </a:gs>
              <a:gs pos="25000">
                <a:srgbClr val="013F34">
                  <a:alpha val="100000"/>
                </a:srgbClr>
              </a:gs>
            </a:gsLst>
            <a:lin ang="18900000" scaled="0"/>
          </a:gradFill>
          <a:ln/>
        </p:spPr>
        <p:txBody>
          <a:bodyPr/>
          <a:lstStyle/>
          <a:p>
            <a:endParaRPr lang="en-FR"/>
          </a:p>
        </p:txBody>
      </p:sp>
      <p:sp>
        <p:nvSpPr>
          <p:cNvPr id="23" name="Shape 19"/>
          <p:cNvSpPr/>
          <p:nvPr/>
        </p:nvSpPr>
        <p:spPr>
          <a:xfrm>
            <a:off x="4057873" y="6334125"/>
            <a:ext cx="8134127" cy="523875"/>
          </a:xfrm>
          <a:prstGeom prst="rect">
            <a:avLst/>
          </a:prstGeom>
          <a:solidFill>
            <a:srgbClr val="013F34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24" name="Text 20"/>
          <p:cNvSpPr/>
          <p:nvPr/>
        </p:nvSpPr>
        <p:spPr>
          <a:xfrm>
            <a:off x="7262515" y="6488906"/>
            <a:ext cx="80010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07143"/>
              </a:lnSpc>
              <a:buNone/>
            </a:pPr>
            <a:r>
              <a:rPr lang="en-US" sz="675" kern="0" spc="41" dirty="0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THE CONVERSATION</a:t>
            </a:r>
            <a:endParaRPr lang="en-US" sz="675" dirty="0"/>
          </a:p>
        </p:txBody>
      </p:sp>
      <p:sp>
        <p:nvSpPr>
          <p:cNvPr id="25" name="Text 21"/>
          <p:cNvSpPr/>
          <p:nvPr/>
        </p:nvSpPr>
        <p:spPr>
          <a:xfrm>
            <a:off x="8310265" y="6496050"/>
            <a:ext cx="187301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0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#FABCONEUROPE</a:t>
            </a:r>
            <a:endParaRPr lang="en-US" sz="1350" dirty="0"/>
          </a:p>
        </p:txBody>
      </p:sp>
      <p:sp>
        <p:nvSpPr>
          <p:cNvPr id="26" name="Text 22"/>
          <p:cNvSpPr/>
          <p:nvPr/>
        </p:nvSpPr>
        <p:spPr>
          <a:xfrm>
            <a:off x="10260657" y="6496050"/>
            <a:ext cx="189397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0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#SQLCONEUROPE</a:t>
            </a:r>
            <a:endParaRPr lang="en-US" sz="13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16251">
                  <a:alpha val="100000"/>
                </a:srgbClr>
              </a:gs>
              <a:gs pos="55000">
                <a:srgbClr val="013F34">
                  <a:alpha val="100000"/>
                </a:srgbClr>
              </a:gs>
              <a:gs pos="100000">
                <a:srgbClr val="002820">
                  <a:alpha val="100000"/>
                </a:srgbClr>
              </a:gs>
            </a:gsLst>
            <a:lin ang="8100000" scaled="0"/>
          </a:gradFill>
          <a:ln/>
        </p:spPr>
        <p:txBody>
          <a:bodyPr/>
          <a:lstStyle/>
          <a:p>
            <a:endParaRPr lang="en-FR"/>
          </a:p>
        </p:txBody>
      </p:sp>
      <p:sp>
        <p:nvSpPr>
          <p:cNvPr id="3" name="Text 1"/>
          <p:cNvSpPr/>
          <p:nvPr/>
        </p:nvSpPr>
        <p:spPr>
          <a:xfrm>
            <a:off x="8439820" y="247650"/>
            <a:ext cx="3121558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72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RECORD OR LIVESTREAM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742950"/>
            <a:ext cx="1139952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b="1" kern="0" spc="86" dirty="0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DEBRIEF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914400" y="1100138"/>
            <a:ext cx="11399520" cy="488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556"/>
              </a:lnSpc>
              <a:buNone/>
            </a:pPr>
            <a:r>
              <a:rPr lang="en-US" sz="3225" b="1" kern="0" spc="-3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Verified, not asserted</a:t>
            </a:r>
            <a:endParaRPr lang="en-US" sz="3225" dirty="0"/>
          </a:p>
        </p:txBody>
      </p:sp>
      <p:sp>
        <p:nvSpPr>
          <p:cNvPr id="6" name="Shape 4"/>
          <p:cNvSpPr/>
          <p:nvPr/>
        </p:nvSpPr>
        <p:spPr>
          <a:xfrm>
            <a:off x="914400" y="1855440"/>
            <a:ext cx="3276600" cy="2077343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7" name="Text 5"/>
          <p:cNvSpPr/>
          <p:nvPr/>
        </p:nvSpPr>
        <p:spPr>
          <a:xfrm>
            <a:off x="1143000" y="2084040"/>
            <a:ext cx="310134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747"/>
              </a:lnSpc>
              <a:buNone/>
            </a:pPr>
            <a:r>
              <a:rPr lang="en-US" sz="5400" b="1" dirty="0">
                <a:solidFill>
                  <a:srgbClr val="7FD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143000" y="2846040"/>
            <a:ext cx="310134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3184178"/>
            <a:ext cx="3101340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1575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live, exact result recorded</a:t>
            </a:r>
            <a:endParaRPr lang="en-US" sz="1575" dirty="0"/>
          </a:p>
        </p:txBody>
      </p:sp>
      <p:sp>
        <p:nvSpPr>
          <p:cNvPr id="10" name="Shape 8"/>
          <p:cNvSpPr/>
          <p:nvPr/>
        </p:nvSpPr>
        <p:spPr>
          <a:xfrm>
            <a:off x="4457700" y="1855440"/>
            <a:ext cx="3276600" cy="2077343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1" name="Text 9"/>
          <p:cNvSpPr/>
          <p:nvPr/>
        </p:nvSpPr>
        <p:spPr>
          <a:xfrm>
            <a:off x="4686300" y="2084040"/>
            <a:ext cx="310134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747"/>
              </a:lnSpc>
              <a:buNone/>
            </a:pPr>
            <a:r>
              <a:rPr lang="en-US" sz="5400" b="1" dirty="0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4686300" y="2846040"/>
            <a:ext cx="310134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86300" y="3184178"/>
            <a:ext cx="3101340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1575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Plausible, not yet run live</a:t>
            </a:r>
            <a:endParaRPr lang="en-US" sz="1575" dirty="0"/>
          </a:p>
        </p:txBody>
      </p:sp>
      <p:sp>
        <p:nvSpPr>
          <p:cNvPr id="14" name="Shape 12"/>
          <p:cNvSpPr/>
          <p:nvPr/>
        </p:nvSpPr>
        <p:spPr>
          <a:xfrm>
            <a:off x="8001000" y="1855440"/>
            <a:ext cx="3276600" cy="2077343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5" name="Text 13"/>
          <p:cNvSpPr/>
          <p:nvPr/>
        </p:nvSpPr>
        <p:spPr>
          <a:xfrm>
            <a:off x="8229600" y="2084040"/>
            <a:ext cx="310134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747"/>
              </a:lnSpc>
              <a:buNone/>
            </a:pPr>
            <a:r>
              <a:rPr lang="en-US" sz="5400" b="1" dirty="0">
                <a:solidFill>
                  <a:srgbClr val="ED00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8229600" y="2846040"/>
            <a:ext cx="310134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to fail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0" y="3184178"/>
            <a:ext cx="2903982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1575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live and failed, reason diagnosed</a:t>
            </a:r>
            <a:endParaRPr lang="en-US" sz="1575" dirty="0"/>
          </a:p>
        </p:txBody>
      </p:sp>
      <p:sp>
        <p:nvSpPr>
          <p:cNvPr id="18" name="Text 16"/>
          <p:cNvSpPr/>
          <p:nvPr/>
        </p:nvSpPr>
        <p:spPr>
          <a:xfrm>
            <a:off x="914400" y="5186363"/>
            <a:ext cx="122106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395"/>
              </a:lnSpc>
              <a:buNone/>
            </a:pPr>
            <a:r>
              <a:rPr lang="en-US" sz="3900" b="1" dirty="0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900" dirty="0"/>
          </a:p>
        </p:txBody>
      </p:sp>
      <p:sp>
        <p:nvSpPr>
          <p:cNvPr id="19" name="Text 17"/>
          <p:cNvSpPr/>
          <p:nvPr/>
        </p:nvSpPr>
        <p:spPr>
          <a:xfrm>
            <a:off x="914400" y="5738813"/>
            <a:ext cx="122106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kern="0" spc="6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FACTORIES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287860" y="4972050"/>
            <a:ext cx="1798774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395"/>
              </a:lnSpc>
              <a:buNone/>
            </a:pPr>
            <a:r>
              <a:rPr lang="en-US" sz="3900" b="1" dirty="0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3900" dirty="0"/>
          </a:p>
        </p:txBody>
      </p:sp>
      <p:sp>
        <p:nvSpPr>
          <p:cNvPr id="21" name="Text 19"/>
          <p:cNvSpPr/>
          <p:nvPr/>
        </p:nvSpPr>
        <p:spPr>
          <a:xfrm>
            <a:off x="2287860" y="5524500"/>
            <a:ext cx="1711449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6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LINES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151709" y="4972050"/>
            <a:ext cx="1894381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395"/>
              </a:lnSpc>
              <a:buNone/>
            </a:pPr>
            <a:r>
              <a:rPr lang="en-US" sz="3900" b="1" dirty="0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3900" dirty="0"/>
          </a:p>
        </p:txBody>
      </p:sp>
      <p:sp>
        <p:nvSpPr>
          <p:cNvPr id="23" name="Text 21"/>
          <p:cNvSpPr/>
          <p:nvPr/>
        </p:nvSpPr>
        <p:spPr>
          <a:xfrm>
            <a:off x="4151709" y="5524500"/>
            <a:ext cx="179836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6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ONTOLOGY ENTITIES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102474" y="4972050"/>
            <a:ext cx="2148379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395"/>
              </a:lnSpc>
              <a:buNone/>
            </a:pPr>
            <a:r>
              <a:rPr lang="en-US" sz="3900" b="1" dirty="0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3900" dirty="0"/>
          </a:p>
        </p:txBody>
      </p:sp>
      <p:sp>
        <p:nvSpPr>
          <p:cNvPr id="25" name="Text 23"/>
          <p:cNvSpPr/>
          <p:nvPr/>
        </p:nvSpPr>
        <p:spPr>
          <a:xfrm>
            <a:off x="6102474" y="5524500"/>
            <a:ext cx="2029271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6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 RELATIONSHIPS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284146" y="4972050"/>
            <a:ext cx="1240631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395"/>
              </a:lnSpc>
              <a:buNone/>
            </a:pPr>
            <a:r>
              <a:rPr lang="en-US" sz="3900" b="1" dirty="0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900" dirty="0"/>
          </a:p>
        </p:txBody>
      </p:sp>
      <p:sp>
        <p:nvSpPr>
          <p:cNvPr id="27" name="Text 25"/>
          <p:cNvSpPr/>
          <p:nvPr/>
        </p:nvSpPr>
        <p:spPr>
          <a:xfrm>
            <a:off x="8284146" y="5524500"/>
            <a:ext cx="1240631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6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TOOLS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77177" y="4972050"/>
            <a:ext cx="1760466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395"/>
              </a:lnSpc>
              <a:buNone/>
            </a:pPr>
            <a:r>
              <a:rPr lang="en-US" sz="3900" b="1" dirty="0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900" dirty="0"/>
          </a:p>
        </p:txBody>
      </p:sp>
      <p:sp>
        <p:nvSpPr>
          <p:cNvPr id="29" name="Text 27"/>
          <p:cNvSpPr/>
          <p:nvPr/>
        </p:nvSpPr>
        <p:spPr>
          <a:xfrm>
            <a:off x="9677177" y="5524500"/>
            <a:ext cx="1676623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6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APPLY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0" y="6334125"/>
            <a:ext cx="2975595" cy="523875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" y="6407497"/>
            <a:ext cx="391344" cy="377130"/>
          </a:xfrm>
          <a:prstGeom prst="rect">
            <a:avLst/>
          </a:prstGeom>
        </p:spPr>
      </p:pic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44" y="6422529"/>
            <a:ext cx="652537" cy="346993"/>
          </a:xfrm>
          <a:prstGeom prst="rect">
            <a:avLst/>
          </a:prstGeom>
        </p:spPr>
      </p:pic>
      <p:sp>
        <p:nvSpPr>
          <p:cNvPr id="33" name="Shape 29"/>
          <p:cNvSpPr/>
          <p:nvPr/>
        </p:nvSpPr>
        <p:spPr>
          <a:xfrm>
            <a:off x="2975595" y="6334125"/>
            <a:ext cx="757535" cy="523875"/>
          </a:xfrm>
          <a:prstGeom prst="rect">
            <a:avLst/>
          </a:prstGeom>
          <a:solidFill>
            <a:srgbClr val="017864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34" name="Text 30"/>
          <p:cNvSpPr/>
          <p:nvPr/>
        </p:nvSpPr>
        <p:spPr>
          <a:xfrm>
            <a:off x="3127995" y="6386066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</a:t>
            </a:r>
            <a:endParaRPr lang="en-US" sz="788" dirty="0"/>
          </a:p>
        </p:txBody>
      </p:sp>
      <p:sp>
        <p:nvSpPr>
          <p:cNvPr id="35" name="Text 31"/>
          <p:cNvSpPr/>
          <p:nvPr/>
        </p:nvSpPr>
        <p:spPr>
          <a:xfrm>
            <a:off x="3127995" y="6526039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</a:t>
            </a:r>
            <a:endParaRPr lang="en-US" sz="788" dirty="0"/>
          </a:p>
        </p:txBody>
      </p:sp>
      <p:sp>
        <p:nvSpPr>
          <p:cNvPr id="36" name="Text 32"/>
          <p:cNvSpPr/>
          <p:nvPr/>
        </p:nvSpPr>
        <p:spPr>
          <a:xfrm>
            <a:off x="3127995" y="6666012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ONA</a:t>
            </a:r>
            <a:endParaRPr lang="en-US" sz="788" dirty="0"/>
          </a:p>
        </p:txBody>
      </p:sp>
      <p:sp>
        <p:nvSpPr>
          <p:cNvPr id="37" name="Text 33"/>
          <p:cNvSpPr/>
          <p:nvPr/>
        </p:nvSpPr>
        <p:spPr>
          <a:xfrm>
            <a:off x="3461445" y="6406083"/>
            <a:ext cx="195486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3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788" dirty="0"/>
          </a:p>
        </p:txBody>
      </p:sp>
      <p:sp>
        <p:nvSpPr>
          <p:cNvPr id="38" name="Shape 34"/>
          <p:cNvSpPr/>
          <p:nvPr/>
        </p:nvSpPr>
        <p:spPr>
          <a:xfrm>
            <a:off x="3461445" y="6562725"/>
            <a:ext cx="104775" cy="66675"/>
          </a:xfrm>
          <a:prstGeom prst="rect">
            <a:avLst/>
          </a:prstGeom>
          <a:gradFill rotWithShape="1">
            <a:gsLst>
              <a:gs pos="25000">
                <a:srgbClr val="BCA045">
                  <a:alpha val="100000"/>
                </a:srgbClr>
              </a:gs>
              <a:gs pos="25000">
                <a:srgbClr val="017864">
                  <a:alpha val="100000"/>
                </a:srgbClr>
              </a:gs>
            </a:gsLst>
            <a:lin ang="18900000" scaled="0"/>
          </a:gradFill>
          <a:ln/>
        </p:spPr>
        <p:txBody>
          <a:bodyPr/>
          <a:lstStyle/>
          <a:p>
            <a:endParaRPr lang="en-FR"/>
          </a:p>
        </p:txBody>
      </p:sp>
      <p:sp>
        <p:nvSpPr>
          <p:cNvPr id="39" name="Text 35"/>
          <p:cNvSpPr/>
          <p:nvPr/>
        </p:nvSpPr>
        <p:spPr>
          <a:xfrm>
            <a:off x="3461445" y="6646069"/>
            <a:ext cx="195486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3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788" dirty="0"/>
          </a:p>
        </p:txBody>
      </p:sp>
      <p:sp>
        <p:nvSpPr>
          <p:cNvPr id="40" name="Shape 36"/>
          <p:cNvSpPr/>
          <p:nvPr/>
        </p:nvSpPr>
        <p:spPr>
          <a:xfrm>
            <a:off x="3733130" y="6334125"/>
            <a:ext cx="324743" cy="523875"/>
          </a:xfrm>
          <a:prstGeom prst="rect">
            <a:avLst/>
          </a:prstGeom>
          <a:gradFill rotWithShape="1">
            <a:gsLst>
              <a:gs pos="25000">
                <a:srgbClr val="017864">
                  <a:alpha val="100000"/>
                </a:srgbClr>
              </a:gs>
              <a:gs pos="25000">
                <a:srgbClr val="013F34">
                  <a:alpha val="100000"/>
                </a:srgbClr>
              </a:gs>
            </a:gsLst>
            <a:lin ang="18900000" scaled="0"/>
          </a:gradFill>
          <a:ln/>
        </p:spPr>
        <p:txBody>
          <a:bodyPr/>
          <a:lstStyle/>
          <a:p>
            <a:endParaRPr lang="en-FR"/>
          </a:p>
        </p:txBody>
      </p:sp>
      <p:sp>
        <p:nvSpPr>
          <p:cNvPr id="41" name="Shape 37"/>
          <p:cNvSpPr/>
          <p:nvPr/>
        </p:nvSpPr>
        <p:spPr>
          <a:xfrm>
            <a:off x="4057873" y="6334125"/>
            <a:ext cx="8134127" cy="523875"/>
          </a:xfrm>
          <a:prstGeom prst="rect">
            <a:avLst/>
          </a:prstGeom>
          <a:solidFill>
            <a:srgbClr val="013F34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42" name="Text 38"/>
          <p:cNvSpPr/>
          <p:nvPr/>
        </p:nvSpPr>
        <p:spPr>
          <a:xfrm>
            <a:off x="7262515" y="6488906"/>
            <a:ext cx="80010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07143"/>
              </a:lnSpc>
              <a:buNone/>
            </a:pPr>
            <a:r>
              <a:rPr lang="en-US" sz="675" kern="0" spc="41" dirty="0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THE CONVERSATION</a:t>
            </a:r>
            <a:endParaRPr lang="en-US" sz="675" dirty="0"/>
          </a:p>
        </p:txBody>
      </p:sp>
      <p:sp>
        <p:nvSpPr>
          <p:cNvPr id="43" name="Text 39"/>
          <p:cNvSpPr/>
          <p:nvPr/>
        </p:nvSpPr>
        <p:spPr>
          <a:xfrm>
            <a:off x="8310265" y="6496050"/>
            <a:ext cx="187301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0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#FABCONEUROPE</a:t>
            </a:r>
            <a:endParaRPr lang="en-US" sz="1350" dirty="0"/>
          </a:p>
        </p:txBody>
      </p:sp>
      <p:sp>
        <p:nvSpPr>
          <p:cNvPr id="44" name="Text 40"/>
          <p:cNvSpPr/>
          <p:nvPr/>
        </p:nvSpPr>
        <p:spPr>
          <a:xfrm>
            <a:off x="10260657" y="6496050"/>
            <a:ext cx="189397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0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#SQLCONEUROPE</a:t>
            </a:r>
            <a:endParaRPr lang="en-US" sz="13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39820" y="247650"/>
            <a:ext cx="3121558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72">
                <a:solidFill>
                  <a:srgbClr val="4B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RECORD OR LIVESTREAM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914400" y="742950"/>
            <a:ext cx="1139952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b="1" kern="0" spc="86">
                <a:solidFill>
                  <a:srgbClr val="017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TAKEAWAYS</a:t>
            </a:r>
            <a:endParaRPr lang="en-US" sz="1425"/>
          </a:p>
        </p:txBody>
      </p:sp>
      <p:sp>
        <p:nvSpPr>
          <p:cNvPr id="4" name="Text 2"/>
          <p:cNvSpPr/>
          <p:nvPr/>
        </p:nvSpPr>
        <p:spPr>
          <a:xfrm>
            <a:off x="914400" y="1100138"/>
            <a:ext cx="11399520" cy="488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556"/>
              </a:lnSpc>
              <a:buNone/>
            </a:pPr>
            <a:r>
              <a:rPr lang="en-US" sz="3225" b="1" kern="0" spc="-32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things to take away</a:t>
            </a:r>
            <a:endParaRPr lang="en-US" sz="3225"/>
          </a:p>
        </p:txBody>
      </p:sp>
      <p:sp>
        <p:nvSpPr>
          <p:cNvPr id="5" name="Text 3"/>
          <p:cNvSpPr/>
          <p:nvPr/>
        </p:nvSpPr>
        <p:spPr>
          <a:xfrm>
            <a:off x="914400" y="2470026"/>
            <a:ext cx="4191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1428750" y="2493838"/>
            <a:ext cx="4571810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226"/>
              </a:lnSpc>
              <a:buNone/>
            </a:pPr>
            <a:r>
              <a:rPr lang="en-US" sz="2025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 can unify event-driven and non-event-driven datasets.</a:t>
            </a:r>
            <a:endParaRPr lang="en-US" sz="2025"/>
          </a:p>
        </p:txBody>
      </p:sp>
      <p:sp>
        <p:nvSpPr>
          <p:cNvPr id="7" name="Text 5"/>
          <p:cNvSpPr/>
          <p:nvPr/>
        </p:nvSpPr>
        <p:spPr>
          <a:xfrm>
            <a:off x="6324600" y="2470026"/>
            <a:ext cx="4191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6838950" y="2493838"/>
            <a:ext cx="4571810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226"/>
              </a:lnSpc>
              <a:buNone/>
            </a:pPr>
            <a:r>
              <a:rPr lang="en-US" sz="2025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Ontologies create a semantic layer that simplifies data access.</a:t>
            </a:r>
            <a:endParaRPr lang="en-US" sz="2025"/>
          </a:p>
        </p:txBody>
      </p:sp>
      <p:sp>
        <p:nvSpPr>
          <p:cNvPr id="9" name="Text 7"/>
          <p:cNvSpPr/>
          <p:nvPr/>
        </p:nvSpPr>
        <p:spPr>
          <a:xfrm>
            <a:off x="914400" y="3390974"/>
            <a:ext cx="4191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/>
          </a:p>
        </p:txBody>
      </p:sp>
      <p:sp>
        <p:nvSpPr>
          <p:cNvPr id="10" name="Text 8"/>
          <p:cNvSpPr/>
          <p:nvPr/>
        </p:nvSpPr>
        <p:spPr>
          <a:xfrm>
            <a:off x="1428750" y="3414787"/>
            <a:ext cx="4571810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226"/>
              </a:lnSpc>
              <a:buNone/>
            </a:pPr>
            <a:r>
              <a:rPr lang="en-US" sz="2025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can interact with enterprise data through natural language.</a:t>
            </a:r>
            <a:endParaRPr lang="en-US" sz="2025"/>
          </a:p>
        </p:txBody>
      </p:sp>
      <p:sp>
        <p:nvSpPr>
          <p:cNvPr id="11" name="Text 9"/>
          <p:cNvSpPr/>
          <p:nvPr/>
        </p:nvSpPr>
        <p:spPr>
          <a:xfrm>
            <a:off x="6324600" y="3390974"/>
            <a:ext cx="4191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/>
          </a:p>
        </p:txBody>
      </p:sp>
      <p:sp>
        <p:nvSpPr>
          <p:cNvPr id="12" name="Text 10"/>
          <p:cNvSpPr/>
          <p:nvPr/>
        </p:nvSpPr>
        <p:spPr>
          <a:xfrm>
            <a:off x="6838950" y="3414787"/>
            <a:ext cx="4571810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226"/>
              </a:lnSpc>
              <a:buNone/>
            </a:pPr>
            <a:r>
              <a:rPr lang="en-US" sz="2025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can access information without knowing schemas or tables.</a:t>
            </a:r>
            <a:endParaRPr lang="en-US" sz="2025"/>
          </a:p>
        </p:txBody>
      </p:sp>
      <p:sp>
        <p:nvSpPr>
          <p:cNvPr id="13" name="Text 11"/>
          <p:cNvSpPr/>
          <p:nvPr/>
        </p:nvSpPr>
        <p:spPr>
          <a:xfrm>
            <a:off x="914400" y="4311923"/>
            <a:ext cx="4191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1428750" y="4335735"/>
            <a:ext cx="4571810" cy="1040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226"/>
              </a:lnSpc>
              <a:buNone/>
            </a:pPr>
            <a:r>
              <a:rPr lang="en-US" sz="2025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Foundry and Fabric are complementary, not competing, technologies.</a:t>
            </a:r>
            <a:endParaRPr lang="en-US" sz="2025"/>
          </a:p>
        </p:txBody>
      </p:sp>
      <p:sp>
        <p:nvSpPr>
          <p:cNvPr id="15" name="Text 13"/>
          <p:cNvSpPr/>
          <p:nvPr/>
        </p:nvSpPr>
        <p:spPr>
          <a:xfrm>
            <a:off x="6324600" y="4311923"/>
            <a:ext cx="4191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400"/>
          </a:p>
        </p:txBody>
      </p:sp>
      <p:sp>
        <p:nvSpPr>
          <p:cNvPr id="16" name="Text 14"/>
          <p:cNvSpPr/>
          <p:nvPr/>
        </p:nvSpPr>
        <p:spPr>
          <a:xfrm>
            <a:off x="6838950" y="4335735"/>
            <a:ext cx="4571810" cy="1040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226"/>
              </a:lnSpc>
              <a:buNone/>
            </a:pPr>
            <a:r>
              <a:rPr lang="en-US" sz="2025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means collaboration between Foundry and Fabric — not agent sprawl.</a:t>
            </a:r>
            <a:endParaRPr lang="en-US" sz="2025"/>
          </a:p>
        </p:txBody>
      </p:sp>
      <p:sp>
        <p:nvSpPr>
          <p:cNvPr id="17" name="Shape 15"/>
          <p:cNvSpPr/>
          <p:nvPr/>
        </p:nvSpPr>
        <p:spPr>
          <a:xfrm>
            <a:off x="0" y="6334125"/>
            <a:ext cx="2975595" cy="523875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" y="6407497"/>
            <a:ext cx="391344" cy="377130"/>
          </a:xfrm>
          <a:prstGeom prst="rect">
            <a:avLst/>
          </a:prstGeom>
        </p:spPr>
      </p:pic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44" y="6422529"/>
            <a:ext cx="652537" cy="346993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2975595" y="6334125"/>
            <a:ext cx="757535" cy="523875"/>
          </a:xfrm>
          <a:prstGeom prst="rect">
            <a:avLst/>
          </a:prstGeom>
          <a:solidFill>
            <a:srgbClr val="017864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21" name="Text 17"/>
          <p:cNvSpPr/>
          <p:nvPr/>
        </p:nvSpPr>
        <p:spPr>
          <a:xfrm>
            <a:off x="3127995" y="6386066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</a:t>
            </a:r>
            <a:endParaRPr lang="en-US" sz="788"/>
          </a:p>
        </p:txBody>
      </p:sp>
      <p:sp>
        <p:nvSpPr>
          <p:cNvPr id="22" name="Text 18"/>
          <p:cNvSpPr/>
          <p:nvPr/>
        </p:nvSpPr>
        <p:spPr>
          <a:xfrm>
            <a:off x="3127995" y="6526039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</a:t>
            </a:r>
            <a:endParaRPr lang="en-US" sz="788"/>
          </a:p>
        </p:txBody>
      </p:sp>
      <p:sp>
        <p:nvSpPr>
          <p:cNvPr id="23" name="Text 19"/>
          <p:cNvSpPr/>
          <p:nvPr/>
        </p:nvSpPr>
        <p:spPr>
          <a:xfrm>
            <a:off x="3127995" y="6666012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ONA</a:t>
            </a:r>
            <a:endParaRPr lang="en-US" sz="788"/>
          </a:p>
        </p:txBody>
      </p:sp>
      <p:sp>
        <p:nvSpPr>
          <p:cNvPr id="24" name="Text 20"/>
          <p:cNvSpPr/>
          <p:nvPr/>
        </p:nvSpPr>
        <p:spPr>
          <a:xfrm>
            <a:off x="3461445" y="6406083"/>
            <a:ext cx="195486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3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788"/>
          </a:p>
        </p:txBody>
      </p:sp>
      <p:sp>
        <p:nvSpPr>
          <p:cNvPr id="25" name="Shape 21"/>
          <p:cNvSpPr/>
          <p:nvPr/>
        </p:nvSpPr>
        <p:spPr>
          <a:xfrm>
            <a:off x="3461445" y="6562725"/>
            <a:ext cx="104775" cy="66675"/>
          </a:xfrm>
          <a:prstGeom prst="rect">
            <a:avLst/>
          </a:prstGeom>
          <a:gradFill rotWithShape="1">
            <a:gsLst>
              <a:gs pos="25000">
                <a:srgbClr val="BCA045">
                  <a:alpha val="100000"/>
                </a:srgbClr>
              </a:gs>
              <a:gs pos="25000">
                <a:srgbClr val="017864">
                  <a:alpha val="100000"/>
                </a:srgbClr>
              </a:gs>
            </a:gsLst>
            <a:lin ang="18900000" scaled="0"/>
          </a:gradFill>
          <a:ln/>
        </p:spPr>
        <p:txBody>
          <a:bodyPr/>
          <a:lstStyle/>
          <a:p>
            <a:endParaRPr lang="en-FR"/>
          </a:p>
        </p:txBody>
      </p:sp>
      <p:sp>
        <p:nvSpPr>
          <p:cNvPr id="26" name="Text 22"/>
          <p:cNvSpPr/>
          <p:nvPr/>
        </p:nvSpPr>
        <p:spPr>
          <a:xfrm>
            <a:off x="3461445" y="6646069"/>
            <a:ext cx="195486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3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788"/>
          </a:p>
        </p:txBody>
      </p:sp>
      <p:sp>
        <p:nvSpPr>
          <p:cNvPr id="27" name="Shape 23"/>
          <p:cNvSpPr/>
          <p:nvPr/>
        </p:nvSpPr>
        <p:spPr>
          <a:xfrm>
            <a:off x="3733130" y="6334125"/>
            <a:ext cx="324743" cy="523875"/>
          </a:xfrm>
          <a:prstGeom prst="rect">
            <a:avLst/>
          </a:prstGeom>
          <a:gradFill rotWithShape="1">
            <a:gsLst>
              <a:gs pos="25000">
                <a:srgbClr val="017864">
                  <a:alpha val="100000"/>
                </a:srgbClr>
              </a:gs>
              <a:gs pos="25000">
                <a:srgbClr val="013F34">
                  <a:alpha val="100000"/>
                </a:srgbClr>
              </a:gs>
            </a:gsLst>
            <a:lin ang="18900000" scaled="0"/>
          </a:gradFill>
          <a:ln/>
        </p:spPr>
        <p:txBody>
          <a:bodyPr/>
          <a:lstStyle/>
          <a:p>
            <a:endParaRPr lang="en-FR"/>
          </a:p>
        </p:txBody>
      </p:sp>
      <p:sp>
        <p:nvSpPr>
          <p:cNvPr id="28" name="Shape 24"/>
          <p:cNvSpPr/>
          <p:nvPr/>
        </p:nvSpPr>
        <p:spPr>
          <a:xfrm>
            <a:off x="4057873" y="6334125"/>
            <a:ext cx="8134127" cy="523875"/>
          </a:xfrm>
          <a:prstGeom prst="rect">
            <a:avLst/>
          </a:prstGeom>
          <a:solidFill>
            <a:srgbClr val="013F34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29" name="Text 25"/>
          <p:cNvSpPr/>
          <p:nvPr/>
        </p:nvSpPr>
        <p:spPr>
          <a:xfrm>
            <a:off x="7262515" y="6488906"/>
            <a:ext cx="80010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07143"/>
              </a:lnSpc>
              <a:buNone/>
            </a:pPr>
            <a:r>
              <a:rPr lang="en-US" sz="675" kern="0" spc="41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THE CONVERSATION</a:t>
            </a:r>
            <a:endParaRPr lang="en-US" sz="675"/>
          </a:p>
        </p:txBody>
      </p:sp>
      <p:sp>
        <p:nvSpPr>
          <p:cNvPr id="30" name="Text 26"/>
          <p:cNvSpPr/>
          <p:nvPr/>
        </p:nvSpPr>
        <p:spPr>
          <a:xfrm>
            <a:off x="8310265" y="6496050"/>
            <a:ext cx="187301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08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#FABCONEUROPE</a:t>
            </a:r>
            <a:endParaRPr lang="en-US" sz="1350"/>
          </a:p>
        </p:txBody>
      </p:sp>
      <p:sp>
        <p:nvSpPr>
          <p:cNvPr id="31" name="Text 27"/>
          <p:cNvSpPr/>
          <p:nvPr/>
        </p:nvSpPr>
        <p:spPr>
          <a:xfrm>
            <a:off x="10260657" y="6496050"/>
            <a:ext cx="189397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08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#SQLCONEUROPE</a:t>
            </a:r>
            <a:endParaRPr lang="en-US" sz="135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16251">
                  <a:alpha val="100000"/>
                </a:srgbClr>
              </a:gs>
              <a:gs pos="55000">
                <a:srgbClr val="013F34">
                  <a:alpha val="100000"/>
                </a:srgbClr>
              </a:gs>
              <a:gs pos="100000">
                <a:srgbClr val="002820">
                  <a:alpha val="100000"/>
                </a:srgbClr>
              </a:gs>
            </a:gsLst>
            <a:lin ang="8100000" scaled="0"/>
          </a:gradFill>
          <a:ln/>
        </p:spPr>
        <p:txBody>
          <a:bodyPr/>
          <a:lstStyle/>
          <a:p>
            <a:endParaRPr lang="en-FR"/>
          </a:p>
        </p:txBody>
      </p:sp>
      <p:sp>
        <p:nvSpPr>
          <p:cNvPr id="3" name="Text 1"/>
          <p:cNvSpPr/>
          <p:nvPr/>
        </p:nvSpPr>
        <p:spPr>
          <a:xfrm>
            <a:off x="8439820" y="247650"/>
            <a:ext cx="3121558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72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RECORD OR LIVESTREAM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914400" y="742950"/>
            <a:ext cx="1139952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b="1" kern="0" spc="86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REPRODUCE IT</a:t>
            </a:r>
            <a:endParaRPr lang="en-US" sz="1425"/>
          </a:p>
        </p:txBody>
      </p:sp>
      <p:sp>
        <p:nvSpPr>
          <p:cNvPr id="5" name="Text 3"/>
          <p:cNvSpPr/>
          <p:nvPr/>
        </p:nvSpPr>
        <p:spPr>
          <a:xfrm>
            <a:off x="914400" y="1100138"/>
            <a:ext cx="11399520" cy="488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556"/>
              </a:lnSpc>
              <a:buNone/>
            </a:pPr>
            <a:r>
              <a:rPr lang="en-US" sz="3225" b="1" kern="0" spc="-3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terraform apply</a:t>
            </a:r>
            <a:endParaRPr lang="en-US" sz="3225"/>
          </a:p>
        </p:txBody>
      </p:sp>
      <p:sp>
        <p:nvSpPr>
          <p:cNvPr id="6" name="Text 4"/>
          <p:cNvSpPr/>
          <p:nvPr/>
        </p:nvSpPr>
        <p:spPr>
          <a:xfrm>
            <a:off x="914400" y="2259434"/>
            <a:ext cx="5866829" cy="25582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 capacity, workspace, Eventhouse, Ontology, SQL Database, Foundry IQ knowledge base, Foundry project, and the agent wired to all three tools — provisioned against any Azure subscription. No hardcoded subscription or tenant IDs anywhere in the Terraform.</a:t>
            </a:r>
            <a:endParaRPr lang="en-US" sz="2100"/>
          </a:p>
        </p:txBody>
      </p:sp>
      <p:sp>
        <p:nvSpPr>
          <p:cNvPr id="7" name="Text 5"/>
          <p:cNvSpPr/>
          <p:nvPr/>
        </p:nvSpPr>
        <p:spPr>
          <a:xfrm>
            <a:off x="914400" y="4970041"/>
            <a:ext cx="5866829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818"/>
              </a:lnSpc>
              <a:buNone/>
            </a:pPr>
            <a:r>
              <a:rPr lang="en-US" sz="180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things stay manual: Fabric IQ region availability, and workspace access for a second user.</a:t>
            </a:r>
            <a:endParaRPr lang="en-US" sz="1800"/>
          </a:p>
        </p:txBody>
      </p:sp>
      <p:sp>
        <p:nvSpPr>
          <p:cNvPr id="8" name="Shape 6"/>
          <p:cNvSpPr/>
          <p:nvPr/>
        </p:nvSpPr>
        <p:spPr>
          <a:xfrm>
            <a:off x="7067550" y="3118024"/>
            <a:ext cx="4210050" cy="1610618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9" name="Text 7"/>
          <p:cNvSpPr/>
          <p:nvPr/>
        </p:nvSpPr>
        <p:spPr>
          <a:xfrm>
            <a:off x="7334250" y="3422824"/>
            <a:ext cx="404431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b="1" kern="0" spc="86">
                <a:solidFill>
                  <a:srgbClr val="7FD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· MIT LICENSED</a:t>
            </a:r>
            <a:endParaRPr lang="en-US" sz="1425"/>
          </a:p>
        </p:txBody>
      </p:sp>
      <p:sp>
        <p:nvSpPr>
          <p:cNvPr id="10" name="Text 8"/>
          <p:cNvSpPr/>
          <p:nvPr/>
        </p:nvSpPr>
        <p:spPr>
          <a:xfrm>
            <a:off x="7334250" y="3780011"/>
            <a:ext cx="3786950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667"/>
              </a:lnSpc>
              <a:buNone/>
            </a:pPr>
            <a:r>
              <a:rPr lang="en-US" sz="1950" b="1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github.com/chriscrcodes/fabcon26-chocolate-factory</a:t>
            </a:r>
            <a:endParaRPr lang="en-US" sz="1950"/>
          </a:p>
        </p:txBody>
      </p:sp>
      <p:sp>
        <p:nvSpPr>
          <p:cNvPr id="11" name="Shape 9"/>
          <p:cNvSpPr/>
          <p:nvPr/>
        </p:nvSpPr>
        <p:spPr>
          <a:xfrm>
            <a:off x="0" y="6334125"/>
            <a:ext cx="2975595" cy="523875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" y="6407497"/>
            <a:ext cx="391344" cy="377130"/>
          </a:xfrm>
          <a:prstGeom prst="rect">
            <a:avLst/>
          </a:prstGeom>
        </p:spPr>
      </p:pic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44" y="6422529"/>
            <a:ext cx="652537" cy="346993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2975595" y="6334125"/>
            <a:ext cx="757535" cy="523875"/>
          </a:xfrm>
          <a:prstGeom prst="rect">
            <a:avLst/>
          </a:prstGeom>
          <a:solidFill>
            <a:srgbClr val="017864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5" name="Text 11"/>
          <p:cNvSpPr/>
          <p:nvPr/>
        </p:nvSpPr>
        <p:spPr>
          <a:xfrm>
            <a:off x="3127995" y="6386066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</a:t>
            </a:r>
            <a:endParaRPr lang="en-US" sz="788"/>
          </a:p>
        </p:txBody>
      </p:sp>
      <p:sp>
        <p:nvSpPr>
          <p:cNvPr id="16" name="Text 12"/>
          <p:cNvSpPr/>
          <p:nvPr/>
        </p:nvSpPr>
        <p:spPr>
          <a:xfrm>
            <a:off x="3127995" y="6526039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</a:t>
            </a:r>
            <a:endParaRPr lang="en-US" sz="788"/>
          </a:p>
        </p:txBody>
      </p:sp>
      <p:sp>
        <p:nvSpPr>
          <p:cNvPr id="17" name="Text 13"/>
          <p:cNvSpPr/>
          <p:nvPr/>
        </p:nvSpPr>
        <p:spPr>
          <a:xfrm>
            <a:off x="3127995" y="6666012"/>
            <a:ext cx="352499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14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ONA</a:t>
            </a:r>
            <a:endParaRPr lang="en-US" sz="788"/>
          </a:p>
        </p:txBody>
      </p:sp>
      <p:sp>
        <p:nvSpPr>
          <p:cNvPr id="18" name="Text 14"/>
          <p:cNvSpPr/>
          <p:nvPr/>
        </p:nvSpPr>
        <p:spPr>
          <a:xfrm>
            <a:off x="3461445" y="6406083"/>
            <a:ext cx="195486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3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788"/>
          </a:p>
        </p:txBody>
      </p:sp>
      <p:sp>
        <p:nvSpPr>
          <p:cNvPr id="19" name="Shape 15"/>
          <p:cNvSpPr/>
          <p:nvPr/>
        </p:nvSpPr>
        <p:spPr>
          <a:xfrm>
            <a:off x="3461445" y="6562725"/>
            <a:ext cx="104775" cy="66675"/>
          </a:xfrm>
          <a:prstGeom prst="rect">
            <a:avLst/>
          </a:prstGeom>
          <a:gradFill rotWithShape="1">
            <a:gsLst>
              <a:gs pos="25000">
                <a:srgbClr val="BCA045">
                  <a:alpha val="100000"/>
                </a:srgbClr>
              </a:gs>
              <a:gs pos="25000">
                <a:srgbClr val="017864">
                  <a:alpha val="100000"/>
                </a:srgbClr>
              </a:gs>
            </a:gsLst>
            <a:lin ang="18900000" scaled="0"/>
          </a:gradFill>
          <a:ln/>
        </p:spPr>
        <p:txBody>
          <a:bodyPr/>
          <a:lstStyle/>
          <a:p>
            <a:endParaRPr lang="en-FR"/>
          </a:p>
        </p:txBody>
      </p:sp>
      <p:sp>
        <p:nvSpPr>
          <p:cNvPr id="20" name="Text 16"/>
          <p:cNvSpPr/>
          <p:nvPr/>
        </p:nvSpPr>
        <p:spPr>
          <a:xfrm>
            <a:off x="3461445" y="6646069"/>
            <a:ext cx="195486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788" b="1" kern="0" spc="3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788"/>
          </a:p>
        </p:txBody>
      </p:sp>
      <p:sp>
        <p:nvSpPr>
          <p:cNvPr id="21" name="Shape 17"/>
          <p:cNvSpPr/>
          <p:nvPr/>
        </p:nvSpPr>
        <p:spPr>
          <a:xfrm>
            <a:off x="3733130" y="6334125"/>
            <a:ext cx="324743" cy="523875"/>
          </a:xfrm>
          <a:prstGeom prst="rect">
            <a:avLst/>
          </a:prstGeom>
          <a:gradFill rotWithShape="1">
            <a:gsLst>
              <a:gs pos="25000">
                <a:srgbClr val="017864">
                  <a:alpha val="100000"/>
                </a:srgbClr>
              </a:gs>
              <a:gs pos="25000">
                <a:srgbClr val="013F34">
                  <a:alpha val="100000"/>
                </a:srgbClr>
              </a:gs>
            </a:gsLst>
            <a:lin ang="18900000" scaled="0"/>
          </a:gradFill>
          <a:ln/>
        </p:spPr>
        <p:txBody>
          <a:bodyPr/>
          <a:lstStyle/>
          <a:p>
            <a:endParaRPr lang="en-FR"/>
          </a:p>
        </p:txBody>
      </p:sp>
      <p:sp>
        <p:nvSpPr>
          <p:cNvPr id="22" name="Shape 18"/>
          <p:cNvSpPr/>
          <p:nvPr/>
        </p:nvSpPr>
        <p:spPr>
          <a:xfrm>
            <a:off x="4057873" y="6334125"/>
            <a:ext cx="8134127" cy="523875"/>
          </a:xfrm>
          <a:prstGeom prst="rect">
            <a:avLst/>
          </a:prstGeom>
          <a:solidFill>
            <a:srgbClr val="013F34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23" name="Text 19"/>
          <p:cNvSpPr/>
          <p:nvPr/>
        </p:nvSpPr>
        <p:spPr>
          <a:xfrm>
            <a:off x="7262515" y="6488906"/>
            <a:ext cx="80010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07143"/>
              </a:lnSpc>
              <a:buNone/>
            </a:pPr>
            <a:r>
              <a:rPr lang="en-US" sz="675" kern="0" spc="41">
                <a:solidFill>
                  <a:srgbClr val="BCA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THE CONVERSATION</a:t>
            </a:r>
            <a:endParaRPr lang="en-US" sz="675"/>
          </a:p>
        </p:txBody>
      </p:sp>
      <p:sp>
        <p:nvSpPr>
          <p:cNvPr id="24" name="Text 20"/>
          <p:cNvSpPr/>
          <p:nvPr/>
        </p:nvSpPr>
        <p:spPr>
          <a:xfrm>
            <a:off x="8310265" y="6496050"/>
            <a:ext cx="187301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08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#FABCONEUROPE</a:t>
            </a:r>
            <a:endParaRPr lang="en-US" sz="1350"/>
          </a:p>
        </p:txBody>
      </p:sp>
      <p:sp>
        <p:nvSpPr>
          <p:cNvPr id="25" name="Text 21"/>
          <p:cNvSpPr/>
          <p:nvPr/>
        </p:nvSpPr>
        <p:spPr>
          <a:xfrm>
            <a:off x="10260657" y="6496050"/>
            <a:ext cx="189397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08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#SQLCONEUROPE</a:t>
            </a:r>
            <a:endParaRPr lang="en-US" sz="135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13F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F34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af3cd2ba-39fc-428b-a333-80f7eb18b18d}" enabled="1" method="Standard" siteId="{e8b88f3d-222b-4ce5-b9d1-46b0ff9466a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3979</Words>
  <Application>Microsoft Macintosh PowerPoint</Application>
  <PresentationFormat>Widescreen</PresentationFormat>
  <Paragraphs>660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Christophe CREMON</cp:lastModifiedBy>
  <cp:revision>2</cp:revision>
  <dcterms:created xsi:type="dcterms:W3CDTF">2026-08-27T13:23:36Z</dcterms:created>
  <dcterms:modified xsi:type="dcterms:W3CDTF">2026-08-28T15:32:36Z</dcterms:modified>
</cp:coreProperties>
</file>